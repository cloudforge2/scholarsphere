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8" r:id="rId12"/>
    <p:sldId id="266" r:id="rId13"/>
  </p:sldIdLst>
  <p:sldSz cx="14630400" cy="8229600"/>
  <p:notesSz cx="8229600" cy="14630400"/>
  <p:embeddedFontLst>
    <p:embeddedFont>
      <p:font typeface="Lato" panose="020F0502020204030203" pitchFamily="34" charset="0"/>
      <p:regular r:id="rId15"/>
      <p:bold r:id="rId16"/>
      <p:italic r:id="rId17"/>
      <p:boldItalic r:id="rId18"/>
    </p:embeddedFont>
    <p:embeddedFont>
      <p:font typeface="Lato Bold" panose="020F0502020204030203" pitchFamily="34" charset="0"/>
      <p:bold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92DFCCC-1F26-CF11-FDBF-913C7E9877D2}" v="77" dt="2025-09-13T05:50:30.594"/>
    <p1510:client id="{197FABC0-4977-8818-0238-E9CF051CEC9B}" v="19" dt="2025-09-13T05:46:04.435"/>
    <p1510:client id="{332442CC-D42E-6A4D-EF52-3C2E717814D5}" v="191" dt="2025-09-12T18:07:29.431"/>
    <p1510:client id="{7AB14508-FD5D-8785-FD29-FCF241585B78}" v="5" dt="2025-09-12T17:45:28.913"/>
    <p1510:client id="{F7982F7B-306D-9952-CD05-BD4DC846C3B5}" v="351" dt="2025-09-13T07:06:46.52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565525" cy="7334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660900" y="0"/>
            <a:ext cx="3567113" cy="7334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282F8E-E901-4353-BB1F-FD822372C0D8}" type="datetimeFigureOut">
              <a:t>9/14/2025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273050" y="1828800"/>
            <a:ext cx="8775700" cy="49371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822325" y="7040563"/>
            <a:ext cx="6584950" cy="57610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3896975"/>
            <a:ext cx="3565525" cy="7334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660900" y="13896975"/>
            <a:ext cx="3567113" cy="7334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C8420AF-DE14-41EE-8702-A2E3635CF64F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3278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DD6C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FECE6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DD6C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FECE6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DD6C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FECE6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DD6C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FECE6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DD6C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FECE6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DD6C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FECE6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DD6C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FECE6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DD6C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FECE6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DD6C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FECE6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DD6C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FECE6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DDD6C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FECE6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644491" y="2469832"/>
            <a:ext cx="11341298" cy="14176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1150"/>
              </a:lnSpc>
              <a:buNone/>
            </a:pPr>
            <a:r>
              <a:rPr lang="en-US" sz="8900" b="1">
                <a:solidFill>
                  <a:srgbClr val="282824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ScholarSphere</a:t>
            </a:r>
            <a:endParaRPr lang="en-US" sz="8900"/>
          </a:p>
        </p:txBody>
      </p:sp>
      <p:sp>
        <p:nvSpPr>
          <p:cNvPr id="3" name="Text 1"/>
          <p:cNvSpPr/>
          <p:nvPr/>
        </p:nvSpPr>
        <p:spPr>
          <a:xfrm>
            <a:off x="1133951" y="4596289"/>
            <a:ext cx="1270265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2000">
                <a:solidFill>
                  <a:srgbClr val="4A4A45"/>
                </a:solidFill>
                <a:latin typeface="Lato"/>
                <a:ea typeface="Lato"/>
                <a:cs typeface="Lato"/>
              </a:rPr>
              <a:t>A graphical exploration and AI summarization for researchers</a:t>
            </a:r>
            <a:endParaRPr lang="en-US" sz="2000">
              <a:latin typeface="Lato"/>
              <a:ea typeface="Lato"/>
              <a:cs typeface="Lato"/>
            </a:endParaRPr>
          </a:p>
        </p:txBody>
      </p:sp>
      <p:sp>
        <p:nvSpPr>
          <p:cNvPr id="4" name="Shape 2"/>
          <p:cNvSpPr/>
          <p:nvPr/>
        </p:nvSpPr>
        <p:spPr>
          <a:xfrm>
            <a:off x="793790" y="4341138"/>
            <a:ext cx="30480" cy="873204"/>
          </a:xfrm>
          <a:prstGeom prst="rect">
            <a:avLst/>
          </a:prstGeom>
          <a:solidFill>
            <a:srgbClr val="282824"/>
          </a:solidFill>
          <a:ln/>
        </p:spPr>
      </p:sp>
      <p:sp>
        <p:nvSpPr>
          <p:cNvPr id="5" name="Text 3"/>
          <p:cNvSpPr/>
          <p:nvPr/>
        </p:nvSpPr>
        <p:spPr>
          <a:xfrm>
            <a:off x="793790" y="5469493"/>
            <a:ext cx="13042821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250"/>
              </a:lnSpc>
              <a:buNone/>
            </a:pPr>
            <a:r>
              <a:rPr lang="en-US" sz="1600">
                <a:solidFill>
                  <a:srgbClr val="4A4A45"/>
                </a:solidFill>
                <a:latin typeface="Lato"/>
                <a:ea typeface="Lato"/>
                <a:cs typeface="Lato"/>
              </a:rPr>
              <a:t>Members: Annu, Kunal, Paul, Ikshita</a:t>
            </a:r>
            <a:endParaRPr lang="en-US" sz="1600">
              <a:latin typeface="Lato"/>
              <a:ea typeface="Lato"/>
              <a:cs typeface="Lat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368046" y="668655"/>
            <a:ext cx="5894308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550"/>
              </a:lnSpc>
              <a:buNone/>
            </a:pPr>
            <a:r>
              <a:rPr lang="en-US" sz="4450" b="1">
                <a:solidFill>
                  <a:srgbClr val="282824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Presentation Overview</a:t>
            </a:r>
            <a:endParaRPr lang="en-US" sz="4450"/>
          </a:p>
        </p:txBody>
      </p:sp>
      <p:sp>
        <p:nvSpPr>
          <p:cNvPr id="3" name="Text 1"/>
          <p:cNvSpPr/>
          <p:nvPr/>
        </p:nvSpPr>
        <p:spPr>
          <a:xfrm>
            <a:off x="793790" y="1831062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endParaRPr lang="en-US" sz="175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2449116"/>
            <a:ext cx="226814" cy="28348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93790" y="2804160"/>
            <a:ext cx="6407944" cy="30480"/>
          </a:xfrm>
          <a:prstGeom prst="rect">
            <a:avLst/>
          </a:prstGeom>
          <a:solidFill>
            <a:srgbClr val="282824"/>
          </a:solidFill>
          <a:ln/>
        </p:spPr>
      </p:sp>
      <p:sp>
        <p:nvSpPr>
          <p:cNvPr id="6" name="Text 3"/>
          <p:cNvSpPr/>
          <p:nvPr/>
        </p:nvSpPr>
        <p:spPr>
          <a:xfrm>
            <a:off x="1163441" y="240777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>
                <a:solidFill>
                  <a:srgbClr val="4A4A4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Problem Statement</a:t>
            </a:r>
            <a:endParaRPr lang="en-US" sz="2200"/>
          </a:p>
        </p:txBody>
      </p:sp>
      <p:sp>
        <p:nvSpPr>
          <p:cNvPr id="7" name="Text 4"/>
          <p:cNvSpPr/>
          <p:nvPr/>
        </p:nvSpPr>
        <p:spPr>
          <a:xfrm>
            <a:off x="793790" y="2988988"/>
            <a:ext cx="6407944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>
                <a:solidFill>
                  <a:srgbClr val="4A4A45"/>
                </a:solidFill>
                <a:latin typeface="Lato"/>
                <a:ea typeface="Lato"/>
                <a:cs typeface="Lato"/>
              </a:rPr>
              <a:t>Identifying the core challenges faced by researchers.</a:t>
            </a:r>
            <a:endParaRPr lang="en-US">
              <a:latin typeface="Lato"/>
              <a:ea typeface="Lato"/>
              <a:cs typeface="Lato"/>
            </a:endParaRPr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8548" y="2449116"/>
            <a:ext cx="226814" cy="28348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7428548" y="2804160"/>
            <a:ext cx="6408063" cy="30480"/>
          </a:xfrm>
          <a:prstGeom prst="rect">
            <a:avLst/>
          </a:prstGeom>
          <a:solidFill>
            <a:srgbClr val="282824"/>
          </a:solidFill>
          <a:ln/>
        </p:spPr>
      </p:sp>
      <p:sp>
        <p:nvSpPr>
          <p:cNvPr id="10" name="Text 6"/>
          <p:cNvSpPr/>
          <p:nvPr/>
        </p:nvSpPr>
        <p:spPr>
          <a:xfrm>
            <a:off x="7791714" y="2407779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>
                <a:solidFill>
                  <a:srgbClr val="4A4A4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Proposition</a:t>
            </a:r>
            <a:endParaRPr lang="en-US" sz="2200"/>
          </a:p>
        </p:txBody>
      </p:sp>
      <p:sp>
        <p:nvSpPr>
          <p:cNvPr id="11" name="Text 7"/>
          <p:cNvSpPr/>
          <p:nvPr/>
        </p:nvSpPr>
        <p:spPr>
          <a:xfrm>
            <a:off x="7428548" y="2988988"/>
            <a:ext cx="6408063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>
                <a:solidFill>
                  <a:srgbClr val="4A4A45"/>
                </a:solidFill>
                <a:latin typeface="Lato"/>
                <a:ea typeface="Lato"/>
                <a:cs typeface="Lato"/>
              </a:rPr>
              <a:t>Our  solution to address these challenges.</a:t>
            </a:r>
            <a:endParaRPr lang="en-US">
              <a:latin typeface="Lato"/>
              <a:ea typeface="Lato"/>
              <a:cs typeface="Lato"/>
            </a:endParaRPr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790" y="4228624"/>
            <a:ext cx="226814" cy="283488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793790" y="4583668"/>
            <a:ext cx="6407944" cy="30480"/>
          </a:xfrm>
          <a:prstGeom prst="rect">
            <a:avLst/>
          </a:prstGeom>
          <a:solidFill>
            <a:srgbClr val="282824"/>
          </a:solidFill>
          <a:ln/>
        </p:spPr>
      </p:sp>
      <p:sp>
        <p:nvSpPr>
          <p:cNvPr id="14" name="Text 9"/>
          <p:cNvSpPr/>
          <p:nvPr/>
        </p:nvSpPr>
        <p:spPr>
          <a:xfrm>
            <a:off x="1163441" y="4193772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>
                <a:solidFill>
                  <a:srgbClr val="4A4A4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Key Features</a:t>
            </a:r>
            <a:endParaRPr lang="en-US" sz="2200"/>
          </a:p>
        </p:txBody>
      </p:sp>
      <p:sp>
        <p:nvSpPr>
          <p:cNvPr id="15" name="Text 10"/>
          <p:cNvSpPr/>
          <p:nvPr/>
        </p:nvSpPr>
        <p:spPr>
          <a:xfrm>
            <a:off x="793790" y="4742556"/>
            <a:ext cx="6407944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850"/>
              </a:lnSpc>
            </a:pPr>
            <a:r>
              <a:rPr lang="en-US">
                <a:solidFill>
                  <a:srgbClr val="4A4A45"/>
                </a:solidFill>
                <a:latin typeface="Lato"/>
                <a:ea typeface="Lato"/>
                <a:cs typeface="Lato"/>
              </a:rPr>
              <a:t>Highlighting the functionalities of </a:t>
            </a:r>
            <a:r>
              <a:rPr lang="en-US" err="1">
                <a:solidFill>
                  <a:srgbClr val="4A4A45"/>
                </a:solidFill>
                <a:latin typeface="Lato"/>
                <a:ea typeface="Lato"/>
                <a:cs typeface="Lato"/>
              </a:rPr>
              <a:t>ScholarSphere</a:t>
            </a:r>
            <a:r>
              <a:rPr lang="en-US">
                <a:solidFill>
                  <a:srgbClr val="4A4A45"/>
                </a:solidFill>
                <a:latin typeface="Lato"/>
                <a:ea typeface="Lato"/>
                <a:cs typeface="Lato"/>
              </a:rPr>
              <a:t>.</a:t>
            </a:r>
            <a:endParaRPr lang="en-US">
              <a:latin typeface="Lato"/>
              <a:ea typeface="Lato"/>
              <a:cs typeface="Lato"/>
            </a:endParaRPr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28548" y="4228624"/>
            <a:ext cx="226814" cy="283488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7428548" y="4583668"/>
            <a:ext cx="6408063" cy="30480"/>
          </a:xfrm>
          <a:prstGeom prst="rect">
            <a:avLst/>
          </a:prstGeom>
          <a:solidFill>
            <a:srgbClr val="282824"/>
          </a:solidFill>
          <a:ln/>
        </p:spPr>
      </p:sp>
      <p:sp>
        <p:nvSpPr>
          <p:cNvPr id="18" name="Text 12"/>
          <p:cNvSpPr/>
          <p:nvPr/>
        </p:nvSpPr>
        <p:spPr>
          <a:xfrm>
            <a:off x="7791714" y="4193772"/>
            <a:ext cx="292286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>
                <a:solidFill>
                  <a:srgbClr val="4A4A4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Architecture Overview</a:t>
            </a:r>
            <a:endParaRPr lang="en-US" sz="2200"/>
          </a:p>
        </p:txBody>
      </p:sp>
      <p:sp>
        <p:nvSpPr>
          <p:cNvPr id="19" name="Text 13"/>
          <p:cNvSpPr/>
          <p:nvPr/>
        </p:nvSpPr>
        <p:spPr>
          <a:xfrm>
            <a:off x="7428548" y="4742556"/>
            <a:ext cx="6408063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>
                <a:solidFill>
                  <a:srgbClr val="4A4A45"/>
                </a:solidFill>
                <a:latin typeface="Lato"/>
                <a:ea typeface="Lato"/>
                <a:cs typeface="Lato"/>
              </a:rPr>
              <a:t>Understanding the system's underlying structure.</a:t>
            </a:r>
            <a:endParaRPr lang="en-US">
              <a:latin typeface="Lato"/>
              <a:ea typeface="Lato"/>
              <a:cs typeface="Lato"/>
            </a:endParaRPr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3790" y="6008132"/>
            <a:ext cx="226814" cy="283488"/>
          </a:xfrm>
          <a:prstGeom prst="rect">
            <a:avLst/>
          </a:prstGeom>
        </p:spPr>
      </p:pic>
      <p:sp>
        <p:nvSpPr>
          <p:cNvPr id="21" name="Shape 14"/>
          <p:cNvSpPr/>
          <p:nvPr/>
        </p:nvSpPr>
        <p:spPr>
          <a:xfrm>
            <a:off x="793790" y="6363176"/>
            <a:ext cx="6407944" cy="30480"/>
          </a:xfrm>
          <a:prstGeom prst="rect">
            <a:avLst/>
          </a:prstGeom>
          <a:solidFill>
            <a:srgbClr val="282824"/>
          </a:solidFill>
          <a:ln/>
        </p:spPr>
      </p:sp>
      <p:sp>
        <p:nvSpPr>
          <p:cNvPr id="22" name="Text 15"/>
          <p:cNvSpPr/>
          <p:nvPr/>
        </p:nvSpPr>
        <p:spPr>
          <a:xfrm>
            <a:off x="1163441" y="5973280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4A4A45"/>
                </a:solidFill>
                <a:latin typeface="Lato Bold"/>
                <a:ea typeface="Lato Bold"/>
                <a:cs typeface="Lato Bold"/>
              </a:rPr>
              <a:t>Workflow</a:t>
            </a:r>
          </a:p>
        </p:txBody>
      </p:sp>
      <p:sp>
        <p:nvSpPr>
          <p:cNvPr id="23" name="Text 16"/>
          <p:cNvSpPr/>
          <p:nvPr/>
        </p:nvSpPr>
        <p:spPr>
          <a:xfrm>
            <a:off x="793790" y="6548004"/>
            <a:ext cx="6407944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850"/>
              </a:lnSpc>
            </a:pPr>
            <a:r>
              <a:rPr lang="en-US" dirty="0">
                <a:solidFill>
                  <a:srgbClr val="4A4A45"/>
                </a:solidFill>
                <a:latin typeface="Lato"/>
                <a:ea typeface="Lato"/>
                <a:cs typeface="Lato"/>
              </a:rPr>
              <a:t>How </a:t>
            </a:r>
            <a:r>
              <a:rPr lang="en-US" dirty="0" err="1">
                <a:solidFill>
                  <a:srgbClr val="4A4A45"/>
                </a:solidFill>
                <a:latin typeface="Lato"/>
                <a:ea typeface="Lato"/>
                <a:cs typeface="Lato"/>
              </a:rPr>
              <a:t>ScholarSphere</a:t>
            </a:r>
            <a:r>
              <a:rPr lang="en-US" dirty="0">
                <a:solidFill>
                  <a:srgbClr val="4A4A45"/>
                </a:solidFill>
                <a:latin typeface="Lato"/>
                <a:ea typeface="Lato"/>
                <a:cs typeface="Lato"/>
              </a:rPr>
              <a:t> will work.</a:t>
            </a:r>
            <a:endParaRPr lang="en-US" dirty="0">
              <a:latin typeface="Lato"/>
              <a:ea typeface="Lato"/>
              <a:cs typeface="Lato"/>
            </a:endParaRPr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28548" y="6008132"/>
            <a:ext cx="226814" cy="283488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7428548" y="6363176"/>
            <a:ext cx="6408063" cy="30480"/>
          </a:xfrm>
          <a:prstGeom prst="rect">
            <a:avLst/>
          </a:prstGeom>
          <a:solidFill>
            <a:srgbClr val="282824"/>
          </a:solidFill>
          <a:ln/>
        </p:spPr>
      </p:sp>
      <p:sp>
        <p:nvSpPr>
          <p:cNvPr id="26" name="Text 18"/>
          <p:cNvSpPr/>
          <p:nvPr/>
        </p:nvSpPr>
        <p:spPr>
          <a:xfrm>
            <a:off x="7791714" y="5973280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>
                <a:solidFill>
                  <a:srgbClr val="4A4A4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Technology Stack</a:t>
            </a:r>
            <a:endParaRPr lang="en-US" sz="2200"/>
          </a:p>
        </p:txBody>
      </p:sp>
      <p:sp>
        <p:nvSpPr>
          <p:cNvPr id="27" name="Text 19"/>
          <p:cNvSpPr/>
          <p:nvPr/>
        </p:nvSpPr>
        <p:spPr>
          <a:xfrm>
            <a:off x="7428548" y="6548004"/>
            <a:ext cx="6408063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850"/>
              </a:lnSpc>
            </a:pPr>
            <a:r>
              <a:rPr lang="en-US">
                <a:solidFill>
                  <a:srgbClr val="4A4A45"/>
                </a:solidFill>
                <a:latin typeface="Lato"/>
                <a:ea typeface="Lato"/>
                <a:cs typeface="Lato"/>
              </a:rPr>
              <a:t>The tools and frameworks to be used.</a:t>
            </a:r>
            <a:endParaRPr lang="en-US"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07023" y="2177653"/>
            <a:ext cx="7016234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550"/>
              </a:lnSpc>
              <a:buNone/>
            </a:pPr>
            <a:r>
              <a:rPr lang="en-US" sz="4450" b="1">
                <a:solidFill>
                  <a:srgbClr val="282824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 Key Challenges in Research</a:t>
            </a:r>
            <a:endParaRPr lang="en-US" sz="4450"/>
          </a:p>
        </p:txBody>
      </p:sp>
      <p:sp>
        <p:nvSpPr>
          <p:cNvPr id="3" name="Text 1"/>
          <p:cNvSpPr/>
          <p:nvPr/>
        </p:nvSpPr>
        <p:spPr>
          <a:xfrm>
            <a:off x="793790" y="3340060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endParaRPr lang="en-US" sz="1750"/>
          </a:p>
        </p:txBody>
      </p:sp>
      <p:sp>
        <p:nvSpPr>
          <p:cNvPr id="4" name="Shape 2"/>
          <p:cNvSpPr/>
          <p:nvPr/>
        </p:nvSpPr>
        <p:spPr>
          <a:xfrm>
            <a:off x="793790" y="3958114"/>
            <a:ext cx="4196358" cy="2093714"/>
          </a:xfrm>
          <a:prstGeom prst="roundRect">
            <a:avLst>
              <a:gd name="adj" fmla="val 6988"/>
            </a:avLst>
          </a:prstGeom>
          <a:solidFill>
            <a:srgbClr val="EFECE6"/>
          </a:solidFill>
          <a:ln w="30480">
            <a:solidFill>
              <a:srgbClr val="CBC5B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3310" y="3958114"/>
            <a:ext cx="121920" cy="2093714"/>
          </a:xfrm>
          <a:prstGeom prst="roundRect">
            <a:avLst>
              <a:gd name="adj" fmla="val 27907"/>
            </a:avLst>
          </a:prstGeom>
          <a:solidFill>
            <a:srgbClr val="282824"/>
          </a:solidFill>
          <a:ln/>
        </p:spPr>
      </p:sp>
      <p:sp>
        <p:nvSpPr>
          <p:cNvPr id="6" name="Text 4"/>
          <p:cNvSpPr/>
          <p:nvPr/>
        </p:nvSpPr>
        <p:spPr>
          <a:xfrm>
            <a:off x="1142524" y="4215408"/>
            <a:ext cx="3395067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>
                <a:solidFill>
                  <a:srgbClr val="4A4A4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Explore Publication Trends</a:t>
            </a:r>
            <a:endParaRPr lang="en-US" sz="2200"/>
          </a:p>
        </p:txBody>
      </p:sp>
      <p:sp>
        <p:nvSpPr>
          <p:cNvPr id="7" name="Text 5"/>
          <p:cNvSpPr/>
          <p:nvPr/>
        </p:nvSpPr>
        <p:spPr>
          <a:xfrm>
            <a:off x="1142524" y="4705826"/>
            <a:ext cx="359033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Difficulty understanding who worked with whom and in what years.</a:t>
            </a:r>
            <a:endParaRPr lang="en-US" sz="1750"/>
          </a:p>
        </p:txBody>
      </p:sp>
      <p:sp>
        <p:nvSpPr>
          <p:cNvPr id="8" name="Shape 6"/>
          <p:cNvSpPr/>
          <p:nvPr/>
        </p:nvSpPr>
        <p:spPr>
          <a:xfrm>
            <a:off x="5216962" y="3958114"/>
            <a:ext cx="4196358" cy="2093714"/>
          </a:xfrm>
          <a:prstGeom prst="roundRect">
            <a:avLst>
              <a:gd name="adj" fmla="val 6988"/>
            </a:avLst>
          </a:prstGeom>
          <a:solidFill>
            <a:srgbClr val="EFECE6"/>
          </a:solidFill>
          <a:ln w="30480">
            <a:solidFill>
              <a:srgbClr val="CBC5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186482" y="3958114"/>
            <a:ext cx="121920" cy="2093714"/>
          </a:xfrm>
          <a:prstGeom prst="roundRect">
            <a:avLst>
              <a:gd name="adj" fmla="val 27907"/>
            </a:avLst>
          </a:prstGeom>
          <a:solidFill>
            <a:srgbClr val="282824"/>
          </a:solidFill>
          <a:ln/>
        </p:spPr>
      </p:sp>
      <p:sp>
        <p:nvSpPr>
          <p:cNvPr id="10" name="Text 8"/>
          <p:cNvSpPr/>
          <p:nvPr/>
        </p:nvSpPr>
        <p:spPr>
          <a:xfrm>
            <a:off x="5565696" y="4215408"/>
            <a:ext cx="3011091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>
                <a:solidFill>
                  <a:srgbClr val="4A4A45"/>
                </a:solidFill>
                <a:latin typeface="Lato Bold"/>
                <a:ea typeface="Lato Bold"/>
                <a:cs typeface="Lato Bold"/>
              </a:rPr>
              <a:t>Assess Paper quickly</a:t>
            </a:r>
            <a:endParaRPr lang="en-US" sz="2200"/>
          </a:p>
        </p:txBody>
      </p:sp>
      <p:sp>
        <p:nvSpPr>
          <p:cNvPr id="11" name="Text 9"/>
          <p:cNvSpPr/>
          <p:nvPr/>
        </p:nvSpPr>
        <p:spPr>
          <a:xfrm>
            <a:off x="5565696" y="4705826"/>
            <a:ext cx="359033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Need to read papers fully to determine relevance without quick summarization.</a:t>
            </a:r>
            <a:endParaRPr lang="en-US" sz="1750"/>
          </a:p>
        </p:txBody>
      </p:sp>
      <p:sp>
        <p:nvSpPr>
          <p:cNvPr id="12" name="Shape 10"/>
          <p:cNvSpPr/>
          <p:nvPr/>
        </p:nvSpPr>
        <p:spPr>
          <a:xfrm>
            <a:off x="9640133" y="3958114"/>
            <a:ext cx="4196358" cy="2093714"/>
          </a:xfrm>
          <a:prstGeom prst="roundRect">
            <a:avLst>
              <a:gd name="adj" fmla="val 6988"/>
            </a:avLst>
          </a:prstGeom>
          <a:solidFill>
            <a:srgbClr val="EFECE6"/>
          </a:solidFill>
          <a:ln w="30480">
            <a:solidFill>
              <a:srgbClr val="CBC5B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09653" y="3958114"/>
            <a:ext cx="121920" cy="2093714"/>
          </a:xfrm>
          <a:prstGeom prst="roundRect">
            <a:avLst>
              <a:gd name="adj" fmla="val 27907"/>
            </a:avLst>
          </a:prstGeom>
          <a:solidFill>
            <a:srgbClr val="282824"/>
          </a:solidFill>
          <a:ln/>
        </p:spPr>
      </p:sp>
      <p:sp>
        <p:nvSpPr>
          <p:cNvPr id="14" name="Text 12"/>
          <p:cNvSpPr/>
          <p:nvPr/>
        </p:nvSpPr>
        <p:spPr>
          <a:xfrm>
            <a:off x="9988868" y="4215408"/>
            <a:ext cx="3013591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>
                <a:solidFill>
                  <a:srgbClr val="4A4A4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Explore Faculty Profiles</a:t>
            </a:r>
            <a:endParaRPr lang="en-US" sz="2200"/>
          </a:p>
        </p:txBody>
      </p:sp>
      <p:sp>
        <p:nvSpPr>
          <p:cNvPr id="15" name="Text 13"/>
          <p:cNvSpPr/>
          <p:nvPr/>
        </p:nvSpPr>
        <p:spPr>
          <a:xfrm>
            <a:off x="9988868" y="4705826"/>
            <a:ext cx="3590330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Difficulty accessing comprehensive faculty profile information.</a:t>
            </a:r>
            <a:endParaRPr lang="en-US" sz="175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316956" y="2208133"/>
            <a:ext cx="9996368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550"/>
              </a:lnSpc>
              <a:buNone/>
            </a:pPr>
            <a:r>
              <a:rPr lang="en-US" sz="4450" b="1">
                <a:solidFill>
                  <a:srgbClr val="282824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ScholarSphere: Our Innovative Solution</a:t>
            </a:r>
            <a:endParaRPr lang="en-US" sz="4450"/>
          </a:p>
        </p:txBody>
      </p:sp>
      <p:sp>
        <p:nvSpPr>
          <p:cNvPr id="3" name="Text 1"/>
          <p:cNvSpPr/>
          <p:nvPr/>
        </p:nvSpPr>
        <p:spPr>
          <a:xfrm>
            <a:off x="793790" y="3370540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endParaRPr lang="en-US" sz="1750"/>
          </a:p>
        </p:txBody>
      </p:sp>
      <p:sp>
        <p:nvSpPr>
          <p:cNvPr id="4" name="Shape 2"/>
          <p:cNvSpPr/>
          <p:nvPr/>
        </p:nvSpPr>
        <p:spPr>
          <a:xfrm>
            <a:off x="793790" y="3988594"/>
            <a:ext cx="4196358" cy="2032754"/>
          </a:xfrm>
          <a:prstGeom prst="roundRect">
            <a:avLst>
              <a:gd name="adj" fmla="val 26781"/>
            </a:avLst>
          </a:prstGeom>
          <a:solidFill>
            <a:srgbClr val="E5DFD2"/>
          </a:solidFill>
          <a:ln/>
        </p:spPr>
      </p:sp>
      <p:sp>
        <p:nvSpPr>
          <p:cNvPr id="5" name="Text 3"/>
          <p:cNvSpPr/>
          <p:nvPr/>
        </p:nvSpPr>
        <p:spPr>
          <a:xfrm>
            <a:off x="1020604" y="4215408"/>
            <a:ext cx="296608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>
                <a:solidFill>
                  <a:srgbClr val="4A4A4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Aggregated Knowledge</a:t>
            </a:r>
            <a:endParaRPr lang="en-US" sz="2200"/>
          </a:p>
        </p:txBody>
      </p:sp>
      <p:sp>
        <p:nvSpPr>
          <p:cNvPr id="6" name="Text 4"/>
          <p:cNvSpPr/>
          <p:nvPr/>
        </p:nvSpPr>
        <p:spPr>
          <a:xfrm>
            <a:off x="1020604" y="4705826"/>
            <a:ext cx="374273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Unifies faculty publication data from sources like DBLP, ORCID, Google Scholar, etc.</a:t>
            </a:r>
            <a:endParaRPr lang="en-US" sz="1750"/>
          </a:p>
        </p:txBody>
      </p:sp>
      <p:sp>
        <p:nvSpPr>
          <p:cNvPr id="7" name="Shape 5"/>
          <p:cNvSpPr/>
          <p:nvPr/>
        </p:nvSpPr>
        <p:spPr>
          <a:xfrm>
            <a:off x="5216962" y="3988594"/>
            <a:ext cx="4196358" cy="2032754"/>
          </a:xfrm>
          <a:prstGeom prst="roundRect">
            <a:avLst>
              <a:gd name="adj" fmla="val 26781"/>
            </a:avLst>
          </a:prstGeom>
          <a:solidFill>
            <a:srgbClr val="E5DFD2"/>
          </a:solidFill>
          <a:ln/>
        </p:spPr>
      </p:sp>
      <p:sp>
        <p:nvSpPr>
          <p:cNvPr id="8" name="Text 6"/>
          <p:cNvSpPr/>
          <p:nvPr/>
        </p:nvSpPr>
        <p:spPr>
          <a:xfrm>
            <a:off x="5443776" y="4215408"/>
            <a:ext cx="3100388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>
                <a:solidFill>
                  <a:srgbClr val="4A4A4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Interactive Visualization</a:t>
            </a:r>
            <a:endParaRPr lang="en-US" sz="2200"/>
          </a:p>
        </p:txBody>
      </p:sp>
      <p:sp>
        <p:nvSpPr>
          <p:cNvPr id="9" name="Text 7"/>
          <p:cNvSpPr/>
          <p:nvPr/>
        </p:nvSpPr>
        <p:spPr>
          <a:xfrm>
            <a:off x="5443776" y="4705826"/>
            <a:ext cx="374273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Builds a knowledge graph to visually map the relationships between faculty and their work.</a:t>
            </a:r>
            <a:endParaRPr lang="en-US" sz="1750"/>
          </a:p>
        </p:txBody>
      </p:sp>
      <p:sp>
        <p:nvSpPr>
          <p:cNvPr id="10" name="Shape 8"/>
          <p:cNvSpPr/>
          <p:nvPr/>
        </p:nvSpPr>
        <p:spPr>
          <a:xfrm>
            <a:off x="9640133" y="3988594"/>
            <a:ext cx="4196358" cy="2032754"/>
          </a:xfrm>
          <a:prstGeom prst="roundRect">
            <a:avLst>
              <a:gd name="adj" fmla="val 26781"/>
            </a:avLst>
          </a:prstGeom>
          <a:solidFill>
            <a:srgbClr val="E5DFD2"/>
          </a:solidFill>
          <a:ln/>
        </p:spPr>
      </p:sp>
      <p:sp>
        <p:nvSpPr>
          <p:cNvPr id="11" name="Text 9"/>
          <p:cNvSpPr/>
          <p:nvPr/>
        </p:nvSpPr>
        <p:spPr>
          <a:xfrm>
            <a:off x="9866948" y="4215408"/>
            <a:ext cx="299144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>
                <a:solidFill>
                  <a:srgbClr val="4A4A45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AI-Powered Summaries</a:t>
            </a:r>
            <a:endParaRPr lang="en-US" sz="2200"/>
          </a:p>
        </p:txBody>
      </p:sp>
      <p:sp>
        <p:nvSpPr>
          <p:cNvPr id="12" name="Text 10"/>
          <p:cNvSpPr/>
          <p:nvPr/>
        </p:nvSpPr>
        <p:spPr>
          <a:xfrm>
            <a:off x="9866948" y="4705826"/>
            <a:ext cx="374273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>
                <a:solidFill>
                  <a:srgbClr val="4A4A4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Delivers instant, AI-generated summaries of research papers and faculty profiles.</a:t>
            </a:r>
            <a:endParaRPr lang="en-US" sz="175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760351" y="460296"/>
            <a:ext cx="7109698" cy="5230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100"/>
              </a:lnSpc>
              <a:buNone/>
            </a:pPr>
            <a:r>
              <a:rPr lang="en-US" sz="3250" b="1">
                <a:solidFill>
                  <a:srgbClr val="282824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Key Features: Visualizing Connections</a:t>
            </a:r>
            <a:endParaRPr lang="en-US" sz="325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907" y="1318141"/>
            <a:ext cx="12806243" cy="621470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85907" y="7608851"/>
            <a:ext cx="8324710" cy="1643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050"/>
              </a:lnSpc>
            </a:pPr>
            <a:r>
              <a:rPr lang="en-US" sz="1600" b="1">
                <a:solidFill>
                  <a:srgbClr val="282824"/>
                </a:solidFill>
                <a:latin typeface="Lato Bold"/>
                <a:ea typeface="Lato Bold"/>
                <a:cs typeface="Lato Bold"/>
              </a:rPr>
              <a:t>Model of Graph: </a:t>
            </a:r>
            <a:r>
              <a:rPr lang="en-US" sz="1600">
                <a:solidFill>
                  <a:srgbClr val="4A4A45"/>
                </a:solidFill>
                <a:latin typeface="Lato"/>
                <a:ea typeface="Lato"/>
                <a:cs typeface="Lato"/>
              </a:rPr>
              <a:t>The interactive graph allows users to explore connections by clicking on nodes.</a:t>
            </a:r>
            <a:endParaRPr lang="en-US" sz="1600">
              <a:solidFill>
                <a:srgbClr val="282824"/>
              </a:solidFill>
              <a:latin typeface="Lato"/>
              <a:ea typeface="Lato"/>
              <a:cs typeface="Lato"/>
            </a:endParaRPr>
          </a:p>
          <a:p>
            <a:pPr marL="0" indent="0" algn="l">
              <a:lnSpc>
                <a:spcPts val="2050"/>
              </a:lnSpc>
              <a:buNone/>
            </a:pPr>
            <a:endParaRPr lang="en-US" sz="1600" b="1">
              <a:solidFill>
                <a:srgbClr val="282824"/>
              </a:solidFill>
              <a:latin typeface="Lato Bold"/>
              <a:ea typeface="Lato Bold"/>
              <a:cs typeface="Lato Bold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02856" y="485775"/>
            <a:ext cx="7024687" cy="5520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300"/>
              </a:lnSpc>
              <a:buNone/>
            </a:pPr>
            <a:r>
              <a:rPr lang="en-US" sz="3450" b="1">
                <a:solidFill>
                  <a:srgbClr val="282824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Key Features: Paper Summarization</a:t>
            </a:r>
            <a:endParaRPr lang="en-US" sz="3450"/>
          </a:p>
        </p:txBody>
      </p:sp>
      <p:sp>
        <p:nvSpPr>
          <p:cNvPr id="3" name="Text 1"/>
          <p:cNvSpPr/>
          <p:nvPr/>
        </p:nvSpPr>
        <p:spPr>
          <a:xfrm>
            <a:off x="618292" y="1461730"/>
            <a:ext cx="6481405" cy="2826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endParaRPr lang="en-US" sz="1350"/>
          </a:p>
        </p:txBody>
      </p:sp>
      <p:sp>
        <p:nvSpPr>
          <p:cNvPr id="4" name="Text 2"/>
          <p:cNvSpPr/>
          <p:nvPr/>
        </p:nvSpPr>
        <p:spPr>
          <a:xfrm>
            <a:off x="618292" y="1903333"/>
            <a:ext cx="6481405" cy="2826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endParaRPr lang="en-US" sz="1350"/>
          </a:p>
        </p:txBody>
      </p:sp>
      <p:sp>
        <p:nvSpPr>
          <p:cNvPr id="5" name="Text 3"/>
          <p:cNvSpPr/>
          <p:nvPr/>
        </p:nvSpPr>
        <p:spPr>
          <a:xfrm>
            <a:off x="618292" y="2344936"/>
            <a:ext cx="6481405" cy="2826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endParaRPr lang="en-US" sz="1350"/>
          </a:p>
        </p:txBody>
      </p:sp>
      <p:sp>
        <p:nvSpPr>
          <p:cNvPr id="6" name="Text 4"/>
          <p:cNvSpPr/>
          <p:nvPr/>
        </p:nvSpPr>
        <p:spPr>
          <a:xfrm>
            <a:off x="618292" y="2786539"/>
            <a:ext cx="6481405" cy="5653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2000">
                <a:solidFill>
                  <a:srgbClr val="4A4A45"/>
                </a:solidFill>
                <a:latin typeface="Lato"/>
                <a:ea typeface="Lato"/>
                <a:cs typeface="Lato"/>
              </a:rPr>
              <a:t>When a user clicks on a paper node, ScholarSphere provides a concise summary and metadata :</a:t>
            </a:r>
            <a:endParaRPr lang="en-US" sz="1350"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7" name="Text 5"/>
          <p:cNvSpPr/>
          <p:nvPr/>
        </p:nvSpPr>
        <p:spPr>
          <a:xfrm>
            <a:off x="883206" y="3550563"/>
            <a:ext cx="6216491" cy="2826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endParaRPr lang="en-US" sz="1350"/>
          </a:p>
        </p:txBody>
      </p:sp>
      <p:sp>
        <p:nvSpPr>
          <p:cNvPr id="8" name="Text 6"/>
          <p:cNvSpPr/>
          <p:nvPr/>
        </p:nvSpPr>
        <p:spPr>
          <a:xfrm>
            <a:off x="883206" y="3693851"/>
            <a:ext cx="6216491" cy="2826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200"/>
              </a:lnSpc>
              <a:buSzPct val="100000"/>
              <a:buChar char="•"/>
            </a:pPr>
            <a:r>
              <a:rPr lang="en-US">
                <a:solidFill>
                  <a:srgbClr val="4A4A45"/>
                </a:solidFill>
                <a:latin typeface="Lato"/>
                <a:ea typeface="Lato"/>
                <a:cs typeface="Lato"/>
              </a:rPr>
              <a:t>Paper title</a:t>
            </a:r>
            <a:endParaRPr lang="en-US">
              <a:latin typeface="Lato"/>
              <a:ea typeface="Lato"/>
              <a:cs typeface="Lato"/>
            </a:endParaRPr>
          </a:p>
        </p:txBody>
      </p:sp>
      <p:sp>
        <p:nvSpPr>
          <p:cNvPr id="9" name="Text 7"/>
          <p:cNvSpPr/>
          <p:nvPr/>
        </p:nvSpPr>
        <p:spPr>
          <a:xfrm>
            <a:off x="883206" y="4116119"/>
            <a:ext cx="6216491" cy="2826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200"/>
              </a:lnSpc>
              <a:buSzPct val="100000"/>
              <a:buChar char="•"/>
            </a:pPr>
            <a:r>
              <a:rPr lang="en-US">
                <a:solidFill>
                  <a:srgbClr val="4A4A45"/>
                </a:solidFill>
                <a:latin typeface="Lato"/>
                <a:ea typeface="Lato"/>
                <a:cs typeface="Lato"/>
              </a:rPr>
              <a:t>Authors</a:t>
            </a:r>
            <a:endParaRPr lang="en-US">
              <a:latin typeface="Lato"/>
              <a:ea typeface="Lato"/>
              <a:cs typeface="Lato"/>
            </a:endParaRPr>
          </a:p>
        </p:txBody>
      </p:sp>
      <p:sp>
        <p:nvSpPr>
          <p:cNvPr id="10" name="Text 8"/>
          <p:cNvSpPr/>
          <p:nvPr/>
        </p:nvSpPr>
        <p:spPr>
          <a:xfrm>
            <a:off x="883206" y="4518933"/>
            <a:ext cx="6216491" cy="2826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200"/>
              </a:lnSpc>
              <a:buSzPct val="100000"/>
              <a:buChar char="•"/>
            </a:pPr>
            <a:r>
              <a:rPr lang="en-US">
                <a:solidFill>
                  <a:srgbClr val="4A4A45"/>
                </a:solidFill>
                <a:latin typeface="Lato"/>
                <a:ea typeface="Lato"/>
                <a:cs typeface="Lato"/>
              </a:rPr>
              <a:t>Publication Date</a:t>
            </a:r>
            <a:endParaRPr lang="en-US">
              <a:latin typeface="Lato"/>
              <a:ea typeface="Lato"/>
              <a:cs typeface="Lato"/>
            </a:endParaRPr>
          </a:p>
        </p:txBody>
      </p:sp>
      <p:sp>
        <p:nvSpPr>
          <p:cNvPr id="11" name="Text 9"/>
          <p:cNvSpPr/>
          <p:nvPr/>
        </p:nvSpPr>
        <p:spPr>
          <a:xfrm>
            <a:off x="883206" y="4954173"/>
            <a:ext cx="6216491" cy="2826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200"/>
              </a:lnSpc>
              <a:buSzPct val="100000"/>
              <a:buChar char="•"/>
            </a:pPr>
            <a:r>
              <a:rPr lang="en-US">
                <a:solidFill>
                  <a:srgbClr val="4A4A45"/>
                </a:solidFill>
                <a:latin typeface="Lato"/>
                <a:ea typeface="Lato"/>
                <a:cs typeface="Lato"/>
              </a:rPr>
              <a:t>Conference</a:t>
            </a:r>
            <a:endParaRPr lang="en-US">
              <a:latin typeface="Lato"/>
              <a:ea typeface="Lato"/>
              <a:cs typeface="Lato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18292" y="3550563"/>
            <a:ext cx="22860" cy="1757601"/>
          </a:xfrm>
          <a:prstGeom prst="rect">
            <a:avLst/>
          </a:prstGeom>
          <a:solidFill>
            <a:srgbClr val="282824"/>
          </a:solidFill>
          <a:ln/>
        </p:spPr>
      </p:sp>
      <p:sp>
        <p:nvSpPr>
          <p:cNvPr id="13" name="Text 11"/>
          <p:cNvSpPr/>
          <p:nvPr/>
        </p:nvSpPr>
        <p:spPr>
          <a:xfrm>
            <a:off x="618292" y="5506879"/>
            <a:ext cx="6481405" cy="2826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endParaRPr lang="en-US" sz="1350"/>
          </a:p>
        </p:txBody>
      </p:sp>
      <p:pic>
        <p:nvPicPr>
          <p:cNvPr id="15" name="Picture 14" descr="A screenshot of a phone&#10;&#10;AI-generated content may be incorrect.">
            <a:extLst>
              <a:ext uri="{FF2B5EF4-FFF2-40B4-BE49-F238E27FC236}">
                <a16:creationId xmlns:a16="http://schemas.microsoft.com/office/drawing/2014/main" id="{1C7BB531-9492-E664-9FB1-B845C76990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6532" y="1037615"/>
            <a:ext cx="4141659" cy="704282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679263" y="516612"/>
            <a:ext cx="9271754" cy="5866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600"/>
              </a:lnSpc>
              <a:buNone/>
            </a:pPr>
            <a:r>
              <a:rPr lang="en-US" sz="3650" b="1">
                <a:solidFill>
                  <a:srgbClr val="282824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Key Features: Faculty profile Summarization</a:t>
            </a:r>
            <a:endParaRPr lang="en-US" sz="3650"/>
          </a:p>
        </p:txBody>
      </p:sp>
      <p:sp>
        <p:nvSpPr>
          <p:cNvPr id="3" name="Text 1"/>
          <p:cNvSpPr/>
          <p:nvPr/>
        </p:nvSpPr>
        <p:spPr>
          <a:xfrm>
            <a:off x="650502" y="2756436"/>
            <a:ext cx="6429256" cy="600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2000">
                <a:solidFill>
                  <a:srgbClr val="4A4A45"/>
                </a:solidFill>
                <a:latin typeface="Lato"/>
                <a:ea typeface="Lato"/>
                <a:cs typeface="Lato"/>
              </a:rPr>
              <a:t>When a user clicks on a faculty node, ScholarSphere provides a concise summary and metadata:</a:t>
            </a:r>
            <a:endParaRPr lang="en-US" sz="2000">
              <a:latin typeface="Lato"/>
              <a:ea typeface="Lato"/>
              <a:cs typeface="Lato"/>
            </a:endParaRPr>
          </a:p>
        </p:txBody>
      </p:sp>
      <p:sp>
        <p:nvSpPr>
          <p:cNvPr id="4" name="Text 2"/>
          <p:cNvSpPr/>
          <p:nvPr/>
        </p:nvSpPr>
        <p:spPr>
          <a:xfrm>
            <a:off x="938451" y="3808273"/>
            <a:ext cx="6147792" cy="3003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285750" indent="-285750" algn="l">
              <a:lnSpc>
                <a:spcPts val="2350"/>
              </a:lnSpc>
              <a:buFont typeface="Arial"/>
              <a:buChar char="•"/>
            </a:pPr>
            <a:r>
              <a:rPr lang="en-US">
                <a:solidFill>
                  <a:srgbClr val="4A4A45"/>
                </a:solidFill>
                <a:latin typeface="Lato"/>
                <a:ea typeface="Lato"/>
                <a:cs typeface="Lato"/>
              </a:rPr>
              <a:t>Name of faculty</a:t>
            </a:r>
            <a:endParaRPr lang="en-US" sz="1450"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5" name="Text 3"/>
          <p:cNvSpPr/>
          <p:nvPr/>
        </p:nvSpPr>
        <p:spPr>
          <a:xfrm>
            <a:off x="938451" y="4167251"/>
            <a:ext cx="6147792" cy="3003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285750" indent="-285750" algn="l">
              <a:lnSpc>
                <a:spcPts val="2350"/>
              </a:lnSpc>
              <a:buFont typeface="Arial"/>
              <a:buChar char="•"/>
            </a:pPr>
            <a:r>
              <a:rPr lang="en-US">
                <a:solidFill>
                  <a:srgbClr val="4A4A45"/>
                </a:solidFill>
                <a:latin typeface="Lato"/>
                <a:ea typeface="Lato"/>
                <a:cs typeface="Lato"/>
              </a:rPr>
              <a:t>Department</a:t>
            </a:r>
            <a:endParaRPr lang="en-US">
              <a:latin typeface="Lato"/>
              <a:ea typeface="Lato"/>
              <a:cs typeface="Lato"/>
            </a:endParaRPr>
          </a:p>
        </p:txBody>
      </p:sp>
      <p:sp>
        <p:nvSpPr>
          <p:cNvPr id="6" name="Text 4"/>
          <p:cNvSpPr/>
          <p:nvPr/>
        </p:nvSpPr>
        <p:spPr>
          <a:xfrm>
            <a:off x="938451" y="4565140"/>
            <a:ext cx="6147792" cy="3003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285750" indent="-285750" algn="l">
              <a:lnSpc>
                <a:spcPts val="2350"/>
              </a:lnSpc>
              <a:buFont typeface="Arial"/>
              <a:buChar char="•"/>
            </a:pPr>
            <a:r>
              <a:rPr lang="en-US">
                <a:solidFill>
                  <a:srgbClr val="4A4A45"/>
                </a:solidFill>
                <a:latin typeface="Lato"/>
                <a:ea typeface="Lato"/>
                <a:cs typeface="Lato"/>
              </a:rPr>
              <a:t>Research areas</a:t>
            </a:r>
            <a:endParaRPr lang="en-US">
              <a:latin typeface="Lato"/>
              <a:ea typeface="Lato"/>
              <a:cs typeface="Lat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50502" y="3808273"/>
            <a:ext cx="22860" cy="1238845"/>
          </a:xfrm>
          <a:prstGeom prst="rect">
            <a:avLst/>
          </a:prstGeom>
          <a:solidFill>
            <a:srgbClr val="282824"/>
          </a:solidFill>
          <a:ln/>
        </p:spPr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C1269FD-91C9-2B35-4CF3-A92D9684AE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0206" y="1212714"/>
            <a:ext cx="4160253" cy="70039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95280" y="486966"/>
            <a:ext cx="4439722" cy="551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300"/>
              </a:lnSpc>
              <a:buNone/>
            </a:pPr>
            <a:r>
              <a:rPr lang="en-US" sz="4450" b="1">
                <a:solidFill>
                  <a:srgbClr val="282824"/>
                </a:solidFill>
                <a:latin typeface="Lato Bold"/>
                <a:ea typeface="Lato Bold"/>
                <a:cs typeface="Lato Bold"/>
              </a:rPr>
              <a:t>Architecture overview</a:t>
            </a:r>
            <a:endParaRPr lang="en-US" sz="4450">
              <a:latin typeface="Calibri"/>
              <a:ea typeface="Calibri"/>
              <a:cs typeface="Calibri"/>
            </a:endParaRPr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458" y="1391126"/>
            <a:ext cx="882134" cy="105858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75924" y="1567458"/>
            <a:ext cx="3966815" cy="2432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2000" b="1">
                <a:solidFill>
                  <a:srgbClr val="4A4A45"/>
                </a:solidFill>
                <a:latin typeface="Lato Bold"/>
                <a:ea typeface="Lato Bold"/>
                <a:cs typeface="Lato Bold"/>
              </a:rPr>
              <a:t>Data Acquisition from sources</a:t>
            </a:r>
            <a:endParaRPr lang="en-US" sz="2000">
              <a:latin typeface="Lato Bold"/>
              <a:ea typeface="Lato Bold"/>
              <a:cs typeface="Lato Bold"/>
            </a:endParaRPr>
          </a:p>
        </p:txBody>
      </p:sp>
      <p:sp>
        <p:nvSpPr>
          <p:cNvPr id="5" name="Text 2"/>
          <p:cNvSpPr/>
          <p:nvPr/>
        </p:nvSpPr>
        <p:spPr>
          <a:xfrm>
            <a:off x="1675924" y="1948934"/>
            <a:ext cx="12337018" cy="2822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>
                <a:solidFill>
                  <a:srgbClr val="4A4A45"/>
                </a:solidFill>
                <a:latin typeface="Lato"/>
                <a:ea typeface="Lato"/>
                <a:cs typeface="Lato"/>
              </a:rPr>
              <a:t>DBLP, ORCID, Google Scholar, etc.</a:t>
            </a:r>
            <a:endParaRPr lang="en-US">
              <a:latin typeface="Lato"/>
              <a:ea typeface="Lato"/>
              <a:cs typeface="Lato"/>
            </a:endParaRPr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458" y="2449711"/>
            <a:ext cx="882134" cy="1058585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675924" y="2626043"/>
            <a:ext cx="2205514" cy="275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2000" b="1">
                <a:solidFill>
                  <a:srgbClr val="4A4A45"/>
                </a:solidFill>
                <a:latin typeface="Lato Bold"/>
                <a:ea typeface="Lato Bold"/>
                <a:cs typeface="Lato Bold"/>
              </a:rPr>
              <a:t>Scraper Service</a:t>
            </a:r>
            <a:endParaRPr lang="en-US" sz="2000">
              <a:latin typeface="Lato Bold"/>
              <a:ea typeface="Lato Bold"/>
              <a:cs typeface="Lato Bold"/>
            </a:endParaRPr>
          </a:p>
        </p:txBody>
      </p:sp>
      <p:sp>
        <p:nvSpPr>
          <p:cNvPr id="8" name="Text 4"/>
          <p:cNvSpPr/>
          <p:nvPr/>
        </p:nvSpPr>
        <p:spPr>
          <a:xfrm>
            <a:off x="1675924" y="3007519"/>
            <a:ext cx="12337018" cy="2822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>
                <a:solidFill>
                  <a:srgbClr val="4A4A45"/>
                </a:solidFill>
                <a:latin typeface="Lato"/>
                <a:ea typeface="Lato"/>
                <a:cs typeface="Lato"/>
              </a:rPr>
              <a:t>Periodic data collection and cleaning.</a:t>
            </a:r>
            <a:endParaRPr lang="en-US">
              <a:latin typeface="Lato"/>
              <a:ea typeface="Lato"/>
              <a:cs typeface="Lato"/>
            </a:endParaRPr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458" y="3508296"/>
            <a:ext cx="882134" cy="105858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675924" y="3684627"/>
            <a:ext cx="2205514" cy="275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2000" b="1">
                <a:solidFill>
                  <a:srgbClr val="4A4A45"/>
                </a:solidFill>
                <a:latin typeface="Lato Bold"/>
                <a:ea typeface="Lato Bold"/>
                <a:cs typeface="Lato Bold"/>
              </a:rPr>
              <a:t>Database Layer</a:t>
            </a:r>
            <a:endParaRPr lang="en-US" sz="2000">
              <a:latin typeface="Lato Bold"/>
              <a:ea typeface="Lato Bold"/>
              <a:cs typeface="Lato Bold"/>
            </a:endParaRPr>
          </a:p>
        </p:txBody>
      </p:sp>
      <p:sp>
        <p:nvSpPr>
          <p:cNvPr id="11" name="Text 6"/>
          <p:cNvSpPr/>
          <p:nvPr/>
        </p:nvSpPr>
        <p:spPr>
          <a:xfrm>
            <a:off x="1675924" y="4066103"/>
            <a:ext cx="12337018" cy="2822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>
                <a:solidFill>
                  <a:srgbClr val="4A4A45"/>
                </a:solidFill>
                <a:latin typeface="Lato"/>
                <a:ea typeface="Lato"/>
                <a:cs typeface="Lato"/>
              </a:rPr>
              <a:t>Neo4j Graph DB, PostgreSQL</a:t>
            </a:r>
            <a:endParaRPr lang="en-US">
              <a:latin typeface="Lato"/>
              <a:ea typeface="Lato"/>
              <a:cs typeface="Lato"/>
            </a:endParaRPr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7458" y="4566880"/>
            <a:ext cx="882134" cy="1058585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675924" y="4743212"/>
            <a:ext cx="4426274" cy="810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2000" b="1">
                <a:solidFill>
                  <a:srgbClr val="4A4A45"/>
                </a:solidFill>
                <a:latin typeface="Lato Bold"/>
                <a:ea typeface="Lato Bold"/>
                <a:cs typeface="Lato Bold"/>
              </a:rPr>
              <a:t>Graph Service &amp; Summarization API</a:t>
            </a:r>
            <a:endParaRPr lang="en-US" sz="2000">
              <a:latin typeface="Lato Bold"/>
              <a:ea typeface="Lato Bold"/>
              <a:cs typeface="Lato Bold"/>
            </a:endParaRPr>
          </a:p>
        </p:txBody>
      </p:sp>
      <p:sp>
        <p:nvSpPr>
          <p:cNvPr id="14" name="Text 8"/>
          <p:cNvSpPr/>
          <p:nvPr/>
        </p:nvSpPr>
        <p:spPr>
          <a:xfrm>
            <a:off x="1675924" y="5124688"/>
            <a:ext cx="12337018" cy="2822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>
                <a:solidFill>
                  <a:srgbClr val="4A4A45"/>
                </a:solidFill>
                <a:latin typeface="Lato"/>
                <a:ea typeface="Lato"/>
                <a:cs typeface="Lato"/>
              </a:rPr>
              <a:t>REST endpoints, LLM integration</a:t>
            </a:r>
            <a:endParaRPr lang="en-US">
              <a:latin typeface="Lato"/>
              <a:ea typeface="Lato"/>
              <a:cs typeface="Lato"/>
            </a:endParaRPr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7458" y="5625465"/>
            <a:ext cx="882134" cy="1058585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675924" y="5801797"/>
            <a:ext cx="2205514" cy="275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2000" b="1">
                <a:solidFill>
                  <a:srgbClr val="4A4A45"/>
                </a:solidFill>
                <a:latin typeface="Lato Bold"/>
                <a:ea typeface="Lato Bold"/>
                <a:cs typeface="Lato Bold"/>
              </a:rPr>
              <a:t>Frontend</a:t>
            </a:r>
            <a:endParaRPr lang="en-US" sz="2000">
              <a:latin typeface="Lato Bold"/>
              <a:ea typeface="Lato Bold"/>
              <a:cs typeface="Lato Bold"/>
            </a:endParaRPr>
          </a:p>
        </p:txBody>
      </p:sp>
      <p:sp>
        <p:nvSpPr>
          <p:cNvPr id="17" name="Text 10"/>
          <p:cNvSpPr/>
          <p:nvPr/>
        </p:nvSpPr>
        <p:spPr>
          <a:xfrm>
            <a:off x="1675924" y="6183273"/>
            <a:ext cx="12337018" cy="2822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>
                <a:solidFill>
                  <a:srgbClr val="4A4A45"/>
                </a:solidFill>
                <a:latin typeface="Lato"/>
                <a:ea typeface="Lato"/>
                <a:cs typeface="Lato"/>
              </a:rPr>
              <a:t>Thymeleaf / React + Cytoscape.js</a:t>
            </a:r>
            <a:endParaRPr lang="en-US">
              <a:latin typeface="Lato"/>
              <a:ea typeface="Lato"/>
              <a:cs typeface="Lato"/>
            </a:endParaRPr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7458" y="6684050"/>
            <a:ext cx="882134" cy="1058585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675924" y="6860381"/>
            <a:ext cx="2205514" cy="2756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2000" b="1">
                <a:solidFill>
                  <a:srgbClr val="4A4A45"/>
                </a:solidFill>
                <a:latin typeface="Lato Bold"/>
                <a:ea typeface="Lato Bold"/>
                <a:cs typeface="Lato Bold"/>
              </a:rPr>
              <a:t>User Interaction</a:t>
            </a:r>
            <a:endParaRPr lang="en-US" sz="2000">
              <a:latin typeface="Lato Bold"/>
              <a:ea typeface="Lato Bold"/>
              <a:cs typeface="Lato Bold"/>
            </a:endParaRPr>
          </a:p>
        </p:txBody>
      </p:sp>
      <p:sp>
        <p:nvSpPr>
          <p:cNvPr id="20" name="Text 12"/>
          <p:cNvSpPr/>
          <p:nvPr/>
        </p:nvSpPr>
        <p:spPr>
          <a:xfrm>
            <a:off x="1675924" y="7241858"/>
            <a:ext cx="12337018" cy="2822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>
                <a:solidFill>
                  <a:srgbClr val="4A4A45"/>
                </a:solidFill>
                <a:latin typeface="Lato"/>
                <a:ea typeface="Lato"/>
                <a:cs typeface="Lato"/>
              </a:rPr>
              <a:t>Visualization, search, and exploration</a:t>
            </a:r>
            <a:endParaRPr lang="en-US">
              <a:latin typeface="Lato"/>
              <a:ea typeface="Lato"/>
              <a:cs typeface="Lato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54322" y="497324"/>
            <a:ext cx="4521756" cy="5651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450"/>
              </a:lnSpc>
              <a:buNone/>
            </a:pPr>
            <a:endParaRPr lang="en-US" sz="4450" b="1">
              <a:solidFill>
                <a:srgbClr val="282824"/>
              </a:solidFill>
              <a:latin typeface="Lato Bold"/>
              <a:ea typeface="Lato Bold"/>
              <a:cs typeface="Lato Bold"/>
            </a:endParaRPr>
          </a:p>
        </p:txBody>
      </p:sp>
      <p:sp>
        <p:nvSpPr>
          <p:cNvPr id="3" name="Text 1"/>
          <p:cNvSpPr/>
          <p:nvPr/>
        </p:nvSpPr>
        <p:spPr>
          <a:xfrm>
            <a:off x="632936" y="1424226"/>
            <a:ext cx="13364528" cy="289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endParaRPr lang="en-US" sz="1400"/>
          </a:p>
        </p:txBody>
      </p:sp>
      <p:sp>
        <p:nvSpPr>
          <p:cNvPr id="6" name="Text 3"/>
          <p:cNvSpPr/>
          <p:nvPr/>
        </p:nvSpPr>
        <p:spPr>
          <a:xfrm>
            <a:off x="813792" y="3056241"/>
            <a:ext cx="6230064" cy="289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ts val="2250"/>
              </a:lnSpc>
              <a:buSzPct val="100000"/>
            </a:pPr>
            <a:endParaRPr lang="en-US">
              <a:solidFill>
                <a:srgbClr val="4A4A45"/>
              </a:solidFill>
              <a:latin typeface="Lato"/>
              <a:ea typeface="Lato"/>
              <a:cs typeface="Lato"/>
            </a:endParaRPr>
          </a:p>
        </p:txBody>
      </p:sp>
      <p:sp>
        <p:nvSpPr>
          <p:cNvPr id="7" name="Text 4"/>
          <p:cNvSpPr/>
          <p:nvPr/>
        </p:nvSpPr>
        <p:spPr>
          <a:xfrm>
            <a:off x="813792" y="3687645"/>
            <a:ext cx="6230064" cy="289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ts val="2250"/>
              </a:lnSpc>
              <a:buSzPct val="100000"/>
            </a:pPr>
            <a:endParaRPr lang="en-US">
              <a:solidFill>
                <a:srgbClr val="4A4A45"/>
              </a:solidFill>
              <a:latin typeface="Lato"/>
              <a:ea typeface="Lato"/>
              <a:cs typeface="Lato"/>
            </a:endParaRPr>
          </a:p>
        </p:txBody>
      </p:sp>
      <p:sp>
        <p:nvSpPr>
          <p:cNvPr id="10" name="Text 6"/>
          <p:cNvSpPr/>
          <p:nvPr/>
        </p:nvSpPr>
        <p:spPr>
          <a:xfrm>
            <a:off x="6045723" y="2906190"/>
            <a:ext cx="6230183" cy="289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250"/>
              </a:lnSpc>
              <a:buSzPct val="100000"/>
              <a:buChar char="•"/>
            </a:pPr>
            <a:endParaRPr lang="en-US">
              <a:solidFill>
                <a:srgbClr val="4A4A45"/>
              </a:solidFill>
              <a:latin typeface="Lato"/>
              <a:ea typeface="Lato"/>
              <a:cs typeface="Lato"/>
            </a:endParaRPr>
          </a:p>
        </p:txBody>
      </p:sp>
      <p:sp>
        <p:nvSpPr>
          <p:cNvPr id="11" name="Text 7"/>
          <p:cNvSpPr/>
          <p:nvPr/>
        </p:nvSpPr>
        <p:spPr>
          <a:xfrm>
            <a:off x="7586424" y="3546122"/>
            <a:ext cx="6230183" cy="289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250"/>
              </a:lnSpc>
              <a:buSzPct val="100000"/>
              <a:buChar char="•"/>
            </a:pPr>
            <a:endParaRPr lang="en-US">
              <a:solidFill>
                <a:srgbClr val="4A4A45"/>
              </a:solidFill>
              <a:latin typeface="Lato"/>
              <a:ea typeface="Lato"/>
              <a:cs typeface="Lato"/>
            </a:endParaRPr>
          </a:p>
        </p:txBody>
      </p:sp>
      <p:sp>
        <p:nvSpPr>
          <p:cNvPr id="13" name="Text 8"/>
          <p:cNvSpPr/>
          <p:nvPr/>
        </p:nvSpPr>
        <p:spPr>
          <a:xfrm>
            <a:off x="813792" y="5028527"/>
            <a:ext cx="3464111" cy="276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endParaRPr lang="en-US" sz="2000" b="1">
              <a:solidFill>
                <a:srgbClr val="4A4A45"/>
              </a:solidFill>
              <a:latin typeface="Lato Bold"/>
              <a:ea typeface="Lato Bold"/>
              <a:cs typeface="Lato Bold"/>
            </a:endParaRPr>
          </a:p>
        </p:txBody>
      </p:sp>
      <p:sp>
        <p:nvSpPr>
          <p:cNvPr id="14" name="Text 9"/>
          <p:cNvSpPr/>
          <p:nvPr/>
        </p:nvSpPr>
        <p:spPr>
          <a:xfrm>
            <a:off x="813792" y="5490864"/>
            <a:ext cx="6230064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250"/>
              </a:lnSpc>
              <a:buSzPct val="100000"/>
              <a:buChar char="•"/>
            </a:pPr>
            <a:endParaRPr lang="en-US">
              <a:solidFill>
                <a:srgbClr val="4A4A45"/>
              </a:solidFill>
              <a:latin typeface="Lato"/>
              <a:ea typeface="Lato"/>
              <a:cs typeface="Lato"/>
            </a:endParaRPr>
          </a:p>
        </p:txBody>
      </p:sp>
      <p:sp>
        <p:nvSpPr>
          <p:cNvPr id="15" name="Text 10"/>
          <p:cNvSpPr/>
          <p:nvPr/>
        </p:nvSpPr>
        <p:spPr>
          <a:xfrm>
            <a:off x="813792" y="6230006"/>
            <a:ext cx="6230064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250"/>
              </a:lnSpc>
              <a:buSzPct val="100000"/>
              <a:buChar char="•"/>
            </a:pPr>
            <a:endParaRPr lang="en-US">
              <a:solidFill>
                <a:srgbClr val="4A4A45"/>
              </a:solidFill>
              <a:latin typeface="Lato"/>
              <a:ea typeface="Lato"/>
              <a:cs typeface="Lato"/>
            </a:endParaRPr>
          </a:p>
        </p:txBody>
      </p:sp>
      <p:sp>
        <p:nvSpPr>
          <p:cNvPr id="16" name="Text 11"/>
          <p:cNvSpPr/>
          <p:nvPr/>
        </p:nvSpPr>
        <p:spPr>
          <a:xfrm>
            <a:off x="813792" y="6975634"/>
            <a:ext cx="6230064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>
              <a:lnSpc>
                <a:spcPts val="2250"/>
              </a:lnSpc>
              <a:buSzPct val="100000"/>
            </a:pPr>
            <a:endParaRPr lang="en-US">
              <a:solidFill>
                <a:srgbClr val="4A4A45"/>
              </a:solidFill>
              <a:latin typeface="Lato"/>
              <a:ea typeface="Lato"/>
              <a:cs typeface="Lato"/>
            </a:endParaRPr>
          </a:p>
        </p:txBody>
      </p:sp>
      <p:sp>
        <p:nvSpPr>
          <p:cNvPr id="18" name="Text 12"/>
          <p:cNvSpPr/>
          <p:nvPr/>
        </p:nvSpPr>
        <p:spPr>
          <a:xfrm>
            <a:off x="7586424" y="5029676"/>
            <a:ext cx="3146852" cy="2565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endParaRPr lang="en-US" sz="2000" b="1">
              <a:solidFill>
                <a:srgbClr val="4A4A45"/>
              </a:solidFill>
              <a:latin typeface="Lato Bold"/>
              <a:ea typeface="Lato Bold"/>
              <a:cs typeface="Lato Bold"/>
            </a:endParaRPr>
          </a:p>
        </p:txBody>
      </p:sp>
      <p:sp>
        <p:nvSpPr>
          <p:cNvPr id="20" name="Text 14"/>
          <p:cNvSpPr/>
          <p:nvPr/>
        </p:nvSpPr>
        <p:spPr>
          <a:xfrm>
            <a:off x="7586424" y="5773222"/>
            <a:ext cx="6230183" cy="2893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>
              <a:lnSpc>
                <a:spcPts val="2250"/>
              </a:lnSpc>
              <a:buSzPct val="100000"/>
            </a:pPr>
            <a:endParaRPr lang="en-US">
              <a:solidFill>
                <a:srgbClr val="4A4A45"/>
              </a:solidFill>
              <a:latin typeface="Lato"/>
              <a:ea typeface="Lato"/>
              <a:cs typeface="Lato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D88821D8-AB89-450A-A613-D6FF4BE3A5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978" y="15398"/>
            <a:ext cx="14632355" cy="821133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89701" y="735989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550"/>
              </a:lnSpc>
              <a:buNone/>
            </a:pPr>
            <a:r>
              <a:rPr lang="en-US" sz="4450" b="1">
                <a:solidFill>
                  <a:srgbClr val="282824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Technology Stack</a:t>
            </a:r>
            <a:endParaRPr lang="en-US" sz="445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2209681"/>
            <a:ext cx="680442" cy="68044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36854" y="2369458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400">
                <a:solidFill>
                  <a:srgbClr val="4A4A45"/>
                </a:solidFill>
                <a:latin typeface="Lato Bold"/>
                <a:ea typeface="Lato Bold"/>
                <a:cs typeface="Lato Bold"/>
              </a:rPr>
              <a:t>Backend</a:t>
            </a:r>
            <a:endParaRPr lang="en-US" sz="2400">
              <a:latin typeface="Lato Bold"/>
              <a:ea typeface="Lato Bold"/>
              <a:cs typeface="Lato Bold"/>
            </a:endParaRPr>
          </a:p>
        </p:txBody>
      </p:sp>
      <p:sp>
        <p:nvSpPr>
          <p:cNvPr id="5" name="Text 2"/>
          <p:cNvSpPr/>
          <p:nvPr/>
        </p:nvSpPr>
        <p:spPr>
          <a:xfrm>
            <a:off x="793790" y="2989578"/>
            <a:ext cx="6379607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>
                <a:solidFill>
                  <a:srgbClr val="4A4A45"/>
                </a:solidFill>
                <a:latin typeface="Lato"/>
                <a:ea typeface="Lato"/>
                <a:cs typeface="Lato"/>
              </a:rPr>
              <a:t>Spring Boot (REST API and services)</a:t>
            </a:r>
            <a:endParaRPr lang="en-US">
              <a:latin typeface="Lato"/>
              <a:ea typeface="Lato"/>
              <a:cs typeface="Lato"/>
            </a:endParaRPr>
          </a:p>
        </p:txBody>
      </p:sp>
      <p:sp>
        <p:nvSpPr>
          <p:cNvPr id="6" name="Text 3"/>
          <p:cNvSpPr/>
          <p:nvPr/>
        </p:nvSpPr>
        <p:spPr>
          <a:xfrm>
            <a:off x="793790" y="3483658"/>
            <a:ext cx="6379607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>
                <a:solidFill>
                  <a:srgbClr val="4A4A45"/>
                </a:solidFill>
                <a:latin typeface="Lato"/>
                <a:ea typeface="Lato"/>
                <a:cs typeface="Lato"/>
              </a:rPr>
              <a:t>Open Source LLM (AI powered summarization)</a:t>
            </a:r>
            <a:endParaRPr lang="en-US">
              <a:latin typeface="Lato"/>
              <a:ea typeface="Lato"/>
              <a:cs typeface="Lato"/>
            </a:endParaRPr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6884" y="2209681"/>
            <a:ext cx="680442" cy="68044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261037" y="2369458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400" b="1">
                <a:solidFill>
                  <a:srgbClr val="4A4A45"/>
                </a:solidFill>
                <a:latin typeface="Lato Bold"/>
                <a:ea typeface="Lato Bold"/>
                <a:cs typeface="Lato Bold"/>
              </a:rPr>
              <a:t>Database</a:t>
            </a:r>
            <a:endParaRPr lang="en-US" sz="2400">
              <a:latin typeface="Lato Bold"/>
              <a:ea typeface="Lato Bold"/>
              <a:cs typeface="Lato Bold"/>
            </a:endParaRPr>
          </a:p>
        </p:txBody>
      </p:sp>
      <p:sp>
        <p:nvSpPr>
          <p:cNvPr id="9" name="Text 5"/>
          <p:cNvSpPr/>
          <p:nvPr/>
        </p:nvSpPr>
        <p:spPr>
          <a:xfrm>
            <a:off x="7456884" y="2989578"/>
            <a:ext cx="637972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>
                <a:solidFill>
                  <a:srgbClr val="4A4A45"/>
                </a:solidFill>
                <a:latin typeface="Lato"/>
                <a:ea typeface="Lato"/>
                <a:cs typeface="Lato"/>
              </a:rPr>
              <a:t>Neo4j (Graph database)</a:t>
            </a:r>
            <a:endParaRPr lang="en-US">
              <a:latin typeface="Lato"/>
              <a:ea typeface="Lato"/>
              <a:cs typeface="Lato"/>
            </a:endParaRPr>
          </a:p>
        </p:txBody>
      </p:sp>
      <p:sp>
        <p:nvSpPr>
          <p:cNvPr id="10" name="Text 6"/>
          <p:cNvSpPr/>
          <p:nvPr/>
        </p:nvSpPr>
        <p:spPr>
          <a:xfrm>
            <a:off x="7456884" y="3483658"/>
            <a:ext cx="637972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>
                <a:solidFill>
                  <a:srgbClr val="4A4A45"/>
                </a:solidFill>
                <a:latin typeface="Lato"/>
                <a:ea typeface="Lato"/>
                <a:cs typeface="Lato"/>
              </a:rPr>
              <a:t>PostgresSQL (Summary storage)</a:t>
            </a:r>
            <a:endParaRPr lang="en-US">
              <a:latin typeface="Lato"/>
              <a:ea typeface="Lato"/>
              <a:cs typeface="Lato"/>
            </a:endParaRPr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3790" y="4922758"/>
            <a:ext cx="680442" cy="68044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636854" y="5089020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400" b="1">
                <a:solidFill>
                  <a:srgbClr val="4A4A45"/>
                </a:solidFill>
                <a:latin typeface="Lato Bold"/>
                <a:ea typeface="Lato Bold"/>
                <a:cs typeface="Lato Bold"/>
              </a:rPr>
              <a:t>Frontend</a:t>
            </a:r>
            <a:endParaRPr lang="en-US" sz="2400">
              <a:latin typeface="Lato Bold"/>
              <a:ea typeface="Lato Bold"/>
              <a:cs typeface="Lato Bold"/>
            </a:endParaRPr>
          </a:p>
        </p:txBody>
      </p:sp>
      <p:sp>
        <p:nvSpPr>
          <p:cNvPr id="13" name="Text 8"/>
          <p:cNvSpPr/>
          <p:nvPr/>
        </p:nvSpPr>
        <p:spPr>
          <a:xfrm>
            <a:off x="793790" y="5799933"/>
            <a:ext cx="6379607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>
                <a:solidFill>
                  <a:srgbClr val="4A4A45"/>
                </a:solidFill>
                <a:latin typeface="Lato"/>
                <a:ea typeface="Lato"/>
                <a:cs typeface="Lato"/>
              </a:rPr>
              <a:t>React.js/Thymeleaf (UI framework)</a:t>
            </a:r>
            <a:endParaRPr lang="en-US">
              <a:latin typeface="Lato"/>
              <a:ea typeface="Lato"/>
              <a:cs typeface="Lato"/>
            </a:endParaRPr>
          </a:p>
        </p:txBody>
      </p:sp>
      <p:sp>
        <p:nvSpPr>
          <p:cNvPr id="14" name="Text 9"/>
          <p:cNvSpPr/>
          <p:nvPr/>
        </p:nvSpPr>
        <p:spPr>
          <a:xfrm>
            <a:off x="793790" y="6203220"/>
            <a:ext cx="6379607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>
                <a:solidFill>
                  <a:srgbClr val="4A4A45"/>
                </a:solidFill>
                <a:latin typeface="Lato"/>
                <a:ea typeface="Lato"/>
                <a:cs typeface="Lato"/>
              </a:rPr>
              <a:t>Cytoscape.js (Graph visualization)</a:t>
            </a:r>
            <a:endParaRPr lang="en-US">
              <a:latin typeface="Lato"/>
              <a:ea typeface="Lato"/>
              <a:cs typeface="Lato"/>
            </a:endParaRPr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56884" y="4922758"/>
            <a:ext cx="680442" cy="680442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261037" y="5089020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400" b="1">
                <a:solidFill>
                  <a:srgbClr val="4A4A45"/>
                </a:solidFill>
                <a:latin typeface="Lato Bold"/>
                <a:ea typeface="Lato Bold"/>
                <a:cs typeface="Lato Bold"/>
              </a:rPr>
              <a:t>Deployment</a:t>
            </a:r>
            <a:endParaRPr lang="en-US" sz="2400">
              <a:latin typeface="Lato Bold"/>
              <a:ea typeface="Lato Bold"/>
              <a:cs typeface="Lato Bold"/>
            </a:endParaRPr>
          </a:p>
        </p:txBody>
      </p:sp>
      <p:sp>
        <p:nvSpPr>
          <p:cNvPr id="17" name="Text 11"/>
          <p:cNvSpPr/>
          <p:nvPr/>
        </p:nvSpPr>
        <p:spPr>
          <a:xfrm>
            <a:off x="7456884" y="5799933"/>
            <a:ext cx="637972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>
                <a:solidFill>
                  <a:srgbClr val="4A4A45"/>
                </a:solidFill>
                <a:latin typeface="Lato"/>
                <a:ea typeface="Lato"/>
                <a:cs typeface="Lato"/>
              </a:rPr>
              <a:t>Docker (Containerization)</a:t>
            </a:r>
            <a:endParaRPr lang="en-US">
              <a:latin typeface="Lato"/>
              <a:ea typeface="Lato"/>
              <a:cs typeface="Lato"/>
            </a:endParaRPr>
          </a:p>
        </p:txBody>
      </p:sp>
      <p:sp>
        <p:nvSpPr>
          <p:cNvPr id="18" name="Text 12"/>
          <p:cNvSpPr/>
          <p:nvPr/>
        </p:nvSpPr>
        <p:spPr>
          <a:xfrm>
            <a:off x="7456884" y="6203220"/>
            <a:ext cx="637972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>
                <a:solidFill>
                  <a:srgbClr val="4A4A45"/>
                </a:solidFill>
                <a:latin typeface="Lato"/>
                <a:ea typeface="Lato"/>
                <a:cs typeface="Lato"/>
              </a:rPr>
              <a:t>AWS EC2(Cloud hosting)</a:t>
            </a:r>
            <a:endParaRPr lang="en-US">
              <a:latin typeface="Lato"/>
              <a:ea typeface="Lato"/>
              <a:cs typeface="Lato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087993D-2484-5B3F-AD86-553D0F7705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93907776"/>
              </p:ext>
            </p:extLst>
          </p:nvPr>
        </p:nvGraphicFramePr>
        <p:xfrm>
          <a:off x="42203" y="534572"/>
          <a:ext cx="14630399" cy="818864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7033845">
                  <a:extLst>
                    <a:ext uri="{9D8B030D-6E8A-4147-A177-3AD203B41FA5}">
                      <a16:colId xmlns:a16="http://schemas.microsoft.com/office/drawing/2014/main" val="1195708630"/>
                    </a:ext>
                  </a:extLst>
                </a:gridCol>
                <a:gridCol w="7596554">
                  <a:extLst>
                    <a:ext uri="{9D8B030D-6E8A-4147-A177-3AD203B41FA5}">
                      <a16:colId xmlns:a16="http://schemas.microsoft.com/office/drawing/2014/main" val="4177386102"/>
                    </a:ext>
                  </a:extLst>
                </a:gridCol>
              </a:tblGrid>
              <a:tr h="3380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b="1" dirty="0"/>
                        <a:t>Week Ending</a:t>
                      </a:r>
                      <a:endParaRPr lang="en-US" sz="28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800" b="1" dirty="0"/>
                        <a:t>Goals / Milestones</a:t>
                      </a:r>
                      <a:endParaRPr lang="en-US" sz="28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7298398"/>
                  </a:ext>
                </a:extLst>
              </a:tr>
              <a:tr h="9425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/>
                        <a:t>Fri 12 Sep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/>
                        <a:t>Project Proposal Presentation</a:t>
                      </a:r>
                      <a:r>
                        <a:rPr lang="en-US" b="1" dirty="0"/>
                        <a:t>:</a:t>
                      </a:r>
                      <a:endParaRPr lang="en-US" dirty="0"/>
                    </a:p>
                    <a:p>
                      <a:pPr>
                        <a:buNone/>
                      </a:pPr>
                      <a:r>
                        <a:rPr lang="en-US" dirty="0"/>
                        <a:t>Finalize scope, Architecture, PRD, and Tech stack.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1864908"/>
                  </a:ext>
                </a:extLst>
              </a:tr>
              <a:tr h="5883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/>
                        <a:t>Fri 19 Sep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/>
                        <a:t>Scraper service </a:t>
                      </a:r>
                    </a:p>
                    <a:p>
                      <a:pPr lvl="0">
                        <a:buNone/>
                      </a:pPr>
                      <a:r>
                        <a:rPr lang="en-US" dirty="0"/>
                        <a:t>Web Scraper development complete, basic dataset for faculty loaded.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7762241"/>
                  </a:ext>
                </a:extLst>
              </a:tr>
              <a:tr h="5883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/>
                        <a:t>Fri 26 Sep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/>
                        <a:t>Database service + Backend</a:t>
                      </a:r>
                    </a:p>
                    <a:p>
                      <a:pPr lvl="0">
                        <a:buNone/>
                      </a:pPr>
                      <a:r>
                        <a:rPr lang="en-US" dirty="0"/>
                        <a:t>Neo4j schema designed; Backend APIs for graph retrieval implemented, Implementation of AI summarization task.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0214272"/>
                  </a:ext>
                </a:extLst>
              </a:tr>
              <a:tr h="5883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/>
                        <a:t>Fri 3 Oct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/>
                        <a:t>Frontend Integration</a:t>
                      </a:r>
                      <a:r>
                        <a:rPr lang="en-US" sz="2000" dirty="0"/>
                        <a:t> </a:t>
                      </a:r>
                      <a:endParaRPr lang="en-US" sz="2000"/>
                    </a:p>
                    <a:p>
                      <a:pPr lvl="0">
                        <a:buNone/>
                      </a:pPr>
                      <a:r>
                        <a:rPr lang="en-US" dirty="0"/>
                        <a:t>React/</a:t>
                      </a:r>
                      <a:r>
                        <a:rPr lang="en-US" dirty="0" err="1"/>
                        <a:t>Thymeleaf</a:t>
                      </a:r>
                      <a:r>
                        <a:rPr lang="en-US" dirty="0"/>
                        <a:t> UI+ Cytoscape.js graph integration; filters applied, Implementation of AI summarization complete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0005954"/>
                  </a:ext>
                </a:extLst>
              </a:tr>
              <a:tr h="108914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/>
                        <a:t>Fri 10 Oct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/>
                        <a:t>Midterm Review: ~ 67% feature completion. </a:t>
                      </a:r>
                      <a:endParaRPr lang="en-US" sz="2000" b="1"/>
                    </a:p>
                    <a:p>
                      <a:pPr lvl="0">
                        <a:buNone/>
                      </a:pPr>
                      <a:r>
                        <a:rPr lang="en-US" dirty="0"/>
                        <a:t>Graph functional with filters and basic metadata display and AI summarization service integrated; paper and faculty summaries functional.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69156768"/>
                  </a:ext>
                </a:extLst>
              </a:tr>
              <a:tr h="5883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/>
                        <a:t>Fri 17 Oct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err="1"/>
                        <a:t>Updation</a:t>
                      </a:r>
                      <a:r>
                        <a:rPr lang="en-US" sz="2000" b="1" dirty="0"/>
                        <a:t> of features</a:t>
                      </a:r>
                      <a:r>
                        <a:rPr lang="en-US" sz="2000" dirty="0"/>
                        <a:t> </a:t>
                      </a:r>
                      <a:endParaRPr lang="en-US" sz="2000"/>
                    </a:p>
                    <a:p>
                      <a:pPr lvl="0">
                        <a:buNone/>
                      </a:pPr>
                      <a:r>
                        <a:rPr lang="en-US" dirty="0"/>
                        <a:t>Based on the midterm review and complete pending tasks.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78989087"/>
                  </a:ext>
                </a:extLst>
              </a:tr>
              <a:tr h="3380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/>
                        <a:t>Fri 24 Oct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/>
                        <a:t>Testing of features</a:t>
                      </a:r>
                      <a:r>
                        <a:rPr lang="en-US" dirty="0"/>
                        <a:t>: Unit testing, UI polish.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2852997"/>
                  </a:ext>
                </a:extLst>
              </a:tr>
              <a:tr h="3380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/>
                        <a:t>Fri 31 Oct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1" dirty="0"/>
                        <a:t>Testing of features</a:t>
                      </a:r>
                      <a:r>
                        <a:rPr lang="en-US" sz="2000" dirty="0"/>
                        <a:t>:</a:t>
                      </a:r>
                      <a:r>
                        <a:rPr lang="en-US" dirty="0"/>
                        <a:t> Functional testing.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24841689"/>
                  </a:ext>
                </a:extLst>
              </a:tr>
              <a:tr h="13395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/>
                        <a:t>Fri 7 Nov</a:t>
                      </a:r>
                    </a:p>
                    <a:p>
                      <a:pPr>
                        <a:buNone/>
                      </a:pPr>
                      <a:endParaRPr lang="en-US" sz="2000" dirty="0"/>
                    </a:p>
                    <a:p>
                      <a:pPr>
                        <a:buNone/>
                      </a:pPr>
                      <a:endParaRPr lang="en-US" sz="2000" dirty="0"/>
                    </a:p>
                    <a:p>
                      <a:pPr>
                        <a:buNone/>
                      </a:pPr>
                      <a:endParaRPr lang="en-US" sz="2000" dirty="0"/>
                    </a:p>
                    <a:p>
                      <a:pPr>
                        <a:buNone/>
                      </a:pPr>
                      <a:endParaRPr lang="en-US" sz="20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­</a:t>
                      </a:r>
                      <a:r>
                        <a:rPr lang="en-US" sz="2000" b="1" dirty="0"/>
                        <a:t>Final Submission: Deployment</a:t>
                      </a:r>
                      <a:r>
                        <a:rPr lang="en-US" dirty="0"/>
                        <a:t> verified on AWS.</a:t>
                      </a:r>
                    </a:p>
                    <a:p>
                      <a:pPr>
                        <a:buNone/>
                      </a:pPr>
                      <a:endParaRPr lang="en-US" dirty="0"/>
                    </a:p>
                    <a:p>
                      <a:pPr>
                        <a:buNone/>
                      </a:pP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55521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291673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643307"/>
            <a:ext cx="13042821" cy="2126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6700"/>
              </a:lnSpc>
              <a:buNone/>
            </a:pPr>
            <a:r>
              <a:rPr lang="en-US" sz="13350" b="1">
                <a:solidFill>
                  <a:srgbClr val="282824"/>
                </a:solidFill>
                <a:latin typeface="Lato Bold" pitchFamily="34" charset="0"/>
                <a:ea typeface="Lato Bold" pitchFamily="34" charset="-122"/>
                <a:cs typeface="Lato Bold" pitchFamily="34" charset="-120"/>
              </a:rPr>
              <a:t>Thank You!</a:t>
            </a:r>
            <a:endParaRPr lang="en-US" sz="13350"/>
          </a:p>
        </p:txBody>
      </p:sp>
      <p:sp>
        <p:nvSpPr>
          <p:cNvPr id="3" name="Text 1"/>
          <p:cNvSpPr/>
          <p:nvPr/>
        </p:nvSpPr>
        <p:spPr>
          <a:xfrm>
            <a:off x="793790" y="5223391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endParaRPr lang="en-US" sz="175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Custom</PresentationFormat>
  <Slides>12</Slides>
  <Notes>11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3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revision>75</cp:revision>
  <dcterms:created xsi:type="dcterms:W3CDTF">2025-09-12T14:34:32Z</dcterms:created>
  <dcterms:modified xsi:type="dcterms:W3CDTF">2025-09-14T08:24:43Z</dcterms:modified>
</cp:coreProperties>
</file>