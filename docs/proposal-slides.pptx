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1" r:id="rId12"/>
    <p:sldId id="268" r:id="rId13"/>
    <p:sldId id="266" r:id="rId14"/>
  </p:sldIdLst>
  <p:sldSz cx="14630400" cy="8229600"/>
  <p:notesSz cx="8229600" cy="14630400"/>
  <p:embeddedFontLst>
    <p:embeddedFont>
      <p:font typeface="Lato" panose="020F0502020204030204" pitchFamily="34" charset="0"/>
      <p:regular r:id="rId16"/>
      <p:bold r:id="rId17"/>
      <p:italic r:id="rId18"/>
      <p:boldItalic r:id="rId19"/>
    </p:embeddedFont>
    <p:embeddedFont>
      <p:font typeface="Lato Bold" panose="020B0604020202020204" charset="0"/>
      <p:bold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2DFCCC-1F26-CF11-FDBF-913C7E9877D2}" v="77" dt="2025-09-13T05:50:30.594"/>
    <p1510:client id="{17E5A336-AC23-EED9-E647-B85570C28992}" v="347" dt="2025-09-14T08:55:21.041"/>
    <p1510:client id="{197FABC0-4977-8818-0238-E9CF051CEC9B}" v="19" dt="2025-09-13T05:46:04.435"/>
    <p1510:client id="{23A501CF-147C-3B17-A5CE-08F6CAB64092}" v="1" dt="2025-09-14T08:57:36.158"/>
    <p1510:client id="{332442CC-D42E-6A4D-EF52-3C2E717814D5}" v="191" dt="2025-09-12T18:07:29.431"/>
    <p1510:client id="{3418BCF3-5069-CDF7-84F2-B72017700D01}" v="84" dt="2025-09-14T09:57:41.754"/>
    <p1510:client id="{7AB14508-FD5D-8785-FD29-FCF241585B78}" v="5" dt="2025-09-12T17:45:28.913"/>
    <p1510:client id="{F7982F7B-306D-9952-CD05-BD4DC846C3B5}" v="351" dt="2025-09-13T07:06:46.5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83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282F8E-E901-4353-BB1F-FD822372C0D8}" type="datetimeFigureOut">
              <a:t>9/14/2025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8420AF-DE14-41EE-8702-A2E3635CF64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32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4491" y="2469832"/>
            <a:ext cx="11341298" cy="1417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1150"/>
              </a:lnSpc>
              <a:buNone/>
            </a:pPr>
            <a:r>
              <a:rPr lang="en-US" sz="890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ScholarSphere</a:t>
            </a:r>
            <a:endParaRPr lang="en-US" sz="8900"/>
          </a:p>
        </p:txBody>
      </p:sp>
      <p:sp>
        <p:nvSpPr>
          <p:cNvPr id="3" name="Text 1"/>
          <p:cNvSpPr/>
          <p:nvPr/>
        </p:nvSpPr>
        <p:spPr>
          <a:xfrm>
            <a:off x="1133951" y="4596289"/>
            <a:ext cx="1270265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>
                <a:solidFill>
                  <a:srgbClr val="4A4A45"/>
                </a:solidFill>
                <a:latin typeface="Lato"/>
                <a:ea typeface="Lato"/>
                <a:cs typeface="Lato"/>
              </a:rPr>
              <a:t>A graphical exploration and AI summarization for researchers</a:t>
            </a:r>
            <a:endParaRPr lang="en-US" sz="2000">
              <a:latin typeface="Lato"/>
              <a:ea typeface="Lato"/>
              <a:cs typeface="Lato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93790" y="4341138"/>
            <a:ext cx="30480" cy="873204"/>
          </a:xfrm>
          <a:prstGeom prst="rect">
            <a:avLst/>
          </a:prstGeom>
          <a:solidFill>
            <a:srgbClr val="2828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93790" y="5469493"/>
            <a:ext cx="1304282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600">
                <a:solidFill>
                  <a:srgbClr val="4A4A45"/>
                </a:solidFill>
                <a:latin typeface="Lato"/>
                <a:ea typeface="Lato"/>
                <a:cs typeface="Lato"/>
              </a:rPr>
              <a:t>Members: Annu, Kunal, Paul, Ikshita</a:t>
            </a:r>
            <a:endParaRPr lang="en-US" sz="1600">
              <a:latin typeface="Lato"/>
              <a:ea typeface="Lato"/>
              <a:cs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68046" y="668655"/>
            <a:ext cx="589430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Presentation Overview</a:t>
            </a:r>
            <a:endParaRPr lang="en-US" sz="4450"/>
          </a:p>
        </p:txBody>
      </p:sp>
      <p:sp>
        <p:nvSpPr>
          <p:cNvPr id="3" name="Text 1"/>
          <p:cNvSpPr/>
          <p:nvPr/>
        </p:nvSpPr>
        <p:spPr>
          <a:xfrm>
            <a:off x="793790" y="183106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449116"/>
            <a:ext cx="226814" cy="2834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3790" y="2804160"/>
            <a:ext cx="6407944" cy="30480"/>
          </a:xfrm>
          <a:prstGeom prst="rect">
            <a:avLst/>
          </a:prstGeom>
          <a:solidFill>
            <a:srgbClr val="2828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1163441" y="24077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Problem Statement</a:t>
            </a:r>
            <a:endParaRPr lang="en-US" sz="2200"/>
          </a:p>
        </p:txBody>
      </p:sp>
      <p:sp>
        <p:nvSpPr>
          <p:cNvPr id="7" name="Text 4"/>
          <p:cNvSpPr/>
          <p:nvPr/>
        </p:nvSpPr>
        <p:spPr>
          <a:xfrm>
            <a:off x="793790" y="2988988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Identifying the core challenges faced by researchers.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8548" y="2449116"/>
            <a:ext cx="226814" cy="28348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428548" y="2804160"/>
            <a:ext cx="6408063" cy="30480"/>
          </a:xfrm>
          <a:prstGeom prst="rect">
            <a:avLst/>
          </a:prstGeom>
          <a:solidFill>
            <a:srgbClr val="2828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6"/>
          <p:cNvSpPr/>
          <p:nvPr/>
        </p:nvSpPr>
        <p:spPr>
          <a:xfrm>
            <a:off x="7791714" y="24077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Proposition</a:t>
            </a:r>
            <a:endParaRPr lang="en-US" sz="2200"/>
          </a:p>
        </p:txBody>
      </p:sp>
      <p:sp>
        <p:nvSpPr>
          <p:cNvPr id="11" name="Text 7"/>
          <p:cNvSpPr/>
          <p:nvPr/>
        </p:nvSpPr>
        <p:spPr>
          <a:xfrm>
            <a:off x="7428548" y="2988988"/>
            <a:ext cx="640806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Our  solution to address these challenges.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228624"/>
            <a:ext cx="226814" cy="283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3790" y="4583668"/>
            <a:ext cx="6407944" cy="30480"/>
          </a:xfrm>
          <a:prstGeom prst="rect">
            <a:avLst/>
          </a:prstGeom>
          <a:solidFill>
            <a:srgbClr val="2828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9"/>
          <p:cNvSpPr/>
          <p:nvPr/>
        </p:nvSpPr>
        <p:spPr>
          <a:xfrm>
            <a:off x="1163441" y="419377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Key Features</a:t>
            </a:r>
            <a:endParaRPr lang="en-US" sz="2200"/>
          </a:p>
        </p:txBody>
      </p:sp>
      <p:sp>
        <p:nvSpPr>
          <p:cNvPr id="15" name="Text 10"/>
          <p:cNvSpPr/>
          <p:nvPr/>
        </p:nvSpPr>
        <p:spPr>
          <a:xfrm>
            <a:off x="793790" y="4742556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Highlighting the functionalities of </a:t>
            </a:r>
            <a:r>
              <a:rPr lang="en-US" err="1">
                <a:solidFill>
                  <a:srgbClr val="4A4A45"/>
                </a:solidFill>
                <a:latin typeface="Lato"/>
                <a:ea typeface="Lato"/>
                <a:cs typeface="Lato"/>
              </a:rPr>
              <a:t>ScholarSphere</a:t>
            </a: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8548" y="4228624"/>
            <a:ext cx="226814" cy="28348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7428548" y="4583668"/>
            <a:ext cx="6408063" cy="30480"/>
          </a:xfrm>
          <a:prstGeom prst="rect">
            <a:avLst/>
          </a:prstGeom>
          <a:solidFill>
            <a:srgbClr val="2828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/>
          <p:nvPr/>
        </p:nvSpPr>
        <p:spPr>
          <a:xfrm>
            <a:off x="7791714" y="4193772"/>
            <a:ext cx="292286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Architecture Overview</a:t>
            </a:r>
            <a:endParaRPr lang="en-US" sz="2200"/>
          </a:p>
        </p:txBody>
      </p:sp>
      <p:sp>
        <p:nvSpPr>
          <p:cNvPr id="19" name="Text 13"/>
          <p:cNvSpPr/>
          <p:nvPr/>
        </p:nvSpPr>
        <p:spPr>
          <a:xfrm>
            <a:off x="7428548" y="4742556"/>
            <a:ext cx="640806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Understanding the system's underlying structure.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790" y="6008132"/>
            <a:ext cx="226814" cy="283488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793790" y="6363176"/>
            <a:ext cx="6407944" cy="30480"/>
          </a:xfrm>
          <a:prstGeom prst="rect">
            <a:avLst/>
          </a:prstGeom>
          <a:solidFill>
            <a:srgbClr val="2828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15"/>
          <p:cNvSpPr/>
          <p:nvPr/>
        </p:nvSpPr>
        <p:spPr>
          <a:xfrm>
            <a:off x="1163441" y="597328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Workflow</a:t>
            </a:r>
          </a:p>
        </p:txBody>
      </p:sp>
      <p:sp>
        <p:nvSpPr>
          <p:cNvPr id="23" name="Text 16"/>
          <p:cNvSpPr/>
          <p:nvPr/>
        </p:nvSpPr>
        <p:spPr>
          <a:xfrm>
            <a:off x="793790" y="6548004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How </a:t>
            </a:r>
            <a:r>
              <a:rPr lang="en-US" err="1">
                <a:solidFill>
                  <a:srgbClr val="4A4A45"/>
                </a:solidFill>
                <a:latin typeface="Lato"/>
                <a:ea typeface="Lato"/>
                <a:cs typeface="Lato"/>
              </a:rPr>
              <a:t>ScholarSphere</a:t>
            </a: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 will work.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8548" y="6008132"/>
            <a:ext cx="226814" cy="28348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7428548" y="6363176"/>
            <a:ext cx="6408063" cy="30480"/>
          </a:xfrm>
          <a:prstGeom prst="rect">
            <a:avLst/>
          </a:prstGeom>
          <a:solidFill>
            <a:srgbClr val="2828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8"/>
          <p:cNvSpPr/>
          <p:nvPr/>
        </p:nvSpPr>
        <p:spPr>
          <a:xfrm>
            <a:off x="7791714" y="597328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Technology Stack</a:t>
            </a:r>
            <a:endParaRPr lang="en-US" sz="2200"/>
          </a:p>
        </p:txBody>
      </p:sp>
      <p:sp>
        <p:nvSpPr>
          <p:cNvPr id="27" name="Text 19"/>
          <p:cNvSpPr/>
          <p:nvPr/>
        </p:nvSpPr>
        <p:spPr>
          <a:xfrm>
            <a:off x="7428548" y="6548004"/>
            <a:ext cx="640806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The tools and frameworks to be used.</a:t>
            </a:r>
            <a:endParaRPr lang="en-US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7023" y="2177653"/>
            <a:ext cx="701623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 Key Challenges in Research</a:t>
            </a:r>
            <a:endParaRPr lang="en-US" sz="4450"/>
          </a:p>
        </p:txBody>
      </p:sp>
      <p:sp>
        <p:nvSpPr>
          <p:cNvPr id="3" name="Text 1"/>
          <p:cNvSpPr/>
          <p:nvPr/>
        </p:nvSpPr>
        <p:spPr>
          <a:xfrm>
            <a:off x="793790" y="334006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/>
          </a:p>
        </p:txBody>
      </p:sp>
      <p:sp>
        <p:nvSpPr>
          <p:cNvPr id="4" name="Shape 2"/>
          <p:cNvSpPr/>
          <p:nvPr/>
        </p:nvSpPr>
        <p:spPr>
          <a:xfrm>
            <a:off x="793790" y="3958114"/>
            <a:ext cx="4196358" cy="2093714"/>
          </a:xfrm>
          <a:prstGeom prst="roundRect">
            <a:avLst>
              <a:gd name="adj" fmla="val 6988"/>
            </a:avLst>
          </a:prstGeom>
          <a:solidFill>
            <a:srgbClr val="EFECE6"/>
          </a:solidFill>
          <a:ln w="30480">
            <a:solidFill>
              <a:srgbClr val="CBC5B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63310" y="3958114"/>
            <a:ext cx="121920" cy="2093714"/>
          </a:xfrm>
          <a:prstGeom prst="roundRect">
            <a:avLst>
              <a:gd name="adj" fmla="val 27907"/>
            </a:avLst>
          </a:prstGeom>
          <a:solidFill>
            <a:srgbClr val="2828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142524" y="4215408"/>
            <a:ext cx="339506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Explore Publication Trends</a:t>
            </a:r>
            <a:endParaRPr lang="en-US" sz="2200"/>
          </a:p>
        </p:txBody>
      </p:sp>
      <p:sp>
        <p:nvSpPr>
          <p:cNvPr id="7" name="Text 5"/>
          <p:cNvSpPr/>
          <p:nvPr/>
        </p:nvSpPr>
        <p:spPr>
          <a:xfrm>
            <a:off x="1142524" y="4705826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Difficulty understanding who worked with whom and in what years.</a:t>
            </a:r>
            <a:endParaRPr lang="en-US" sz="1750"/>
          </a:p>
        </p:txBody>
      </p:sp>
      <p:sp>
        <p:nvSpPr>
          <p:cNvPr id="8" name="Shape 6"/>
          <p:cNvSpPr/>
          <p:nvPr/>
        </p:nvSpPr>
        <p:spPr>
          <a:xfrm>
            <a:off x="5216962" y="3958114"/>
            <a:ext cx="4196358" cy="2093714"/>
          </a:xfrm>
          <a:prstGeom prst="roundRect">
            <a:avLst>
              <a:gd name="adj" fmla="val 6988"/>
            </a:avLst>
          </a:prstGeom>
          <a:solidFill>
            <a:srgbClr val="EFECE6"/>
          </a:solidFill>
          <a:ln w="30480">
            <a:solidFill>
              <a:srgbClr val="CBC5B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5186482" y="3958114"/>
            <a:ext cx="121920" cy="2093714"/>
          </a:xfrm>
          <a:prstGeom prst="roundRect">
            <a:avLst>
              <a:gd name="adj" fmla="val 27907"/>
            </a:avLst>
          </a:prstGeom>
          <a:solidFill>
            <a:srgbClr val="2828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565696" y="4215408"/>
            <a:ext cx="301109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Assess Paper quickly</a:t>
            </a:r>
            <a:endParaRPr lang="en-US" sz="2200"/>
          </a:p>
        </p:txBody>
      </p:sp>
      <p:sp>
        <p:nvSpPr>
          <p:cNvPr id="11" name="Text 9"/>
          <p:cNvSpPr/>
          <p:nvPr/>
        </p:nvSpPr>
        <p:spPr>
          <a:xfrm>
            <a:off x="5565696" y="4705826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Need to read papers fully to determine relevance without quick summarization.</a:t>
            </a:r>
            <a:endParaRPr lang="en-US" sz="1750"/>
          </a:p>
        </p:txBody>
      </p:sp>
      <p:sp>
        <p:nvSpPr>
          <p:cNvPr id="12" name="Shape 10"/>
          <p:cNvSpPr/>
          <p:nvPr/>
        </p:nvSpPr>
        <p:spPr>
          <a:xfrm>
            <a:off x="9640133" y="3958114"/>
            <a:ext cx="4196358" cy="2093714"/>
          </a:xfrm>
          <a:prstGeom prst="roundRect">
            <a:avLst>
              <a:gd name="adj" fmla="val 6988"/>
            </a:avLst>
          </a:prstGeom>
          <a:solidFill>
            <a:srgbClr val="EFECE6"/>
          </a:solidFill>
          <a:ln w="30480">
            <a:solidFill>
              <a:srgbClr val="CBC5B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9609653" y="3958114"/>
            <a:ext cx="121920" cy="2093714"/>
          </a:xfrm>
          <a:prstGeom prst="roundRect">
            <a:avLst>
              <a:gd name="adj" fmla="val 27907"/>
            </a:avLst>
          </a:prstGeom>
          <a:solidFill>
            <a:srgbClr val="2828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9988868" y="4215408"/>
            <a:ext cx="301359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Explore Faculty Profiles</a:t>
            </a:r>
            <a:endParaRPr lang="en-US" sz="2200"/>
          </a:p>
        </p:txBody>
      </p:sp>
      <p:sp>
        <p:nvSpPr>
          <p:cNvPr id="15" name="Text 13"/>
          <p:cNvSpPr/>
          <p:nvPr/>
        </p:nvSpPr>
        <p:spPr>
          <a:xfrm>
            <a:off x="9988868" y="4705826"/>
            <a:ext cx="35903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Difficulty accessing comprehensive faculty profile information.</a:t>
            </a:r>
            <a:endParaRPr lang="en-US" sz="17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6956" y="2208133"/>
            <a:ext cx="9996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ScholarSphere: Our Innovative Solution</a:t>
            </a:r>
            <a:endParaRPr lang="en-US" sz="4450"/>
          </a:p>
        </p:txBody>
      </p:sp>
      <p:sp>
        <p:nvSpPr>
          <p:cNvPr id="3" name="Text 1"/>
          <p:cNvSpPr/>
          <p:nvPr/>
        </p:nvSpPr>
        <p:spPr>
          <a:xfrm>
            <a:off x="793790" y="337054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/>
          </a:p>
        </p:txBody>
      </p:sp>
      <p:sp>
        <p:nvSpPr>
          <p:cNvPr id="4" name="Shape 2"/>
          <p:cNvSpPr/>
          <p:nvPr/>
        </p:nvSpPr>
        <p:spPr>
          <a:xfrm>
            <a:off x="793790" y="3988594"/>
            <a:ext cx="4196358" cy="2032754"/>
          </a:xfrm>
          <a:prstGeom prst="roundRect">
            <a:avLst>
              <a:gd name="adj" fmla="val 26781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020604" y="4215408"/>
            <a:ext cx="296608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Aggregated Knowledge</a:t>
            </a:r>
            <a:endParaRPr lang="en-US" sz="2200"/>
          </a:p>
        </p:txBody>
      </p:sp>
      <p:sp>
        <p:nvSpPr>
          <p:cNvPr id="6" name="Text 4"/>
          <p:cNvSpPr/>
          <p:nvPr/>
        </p:nvSpPr>
        <p:spPr>
          <a:xfrm>
            <a:off x="1020604" y="470582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Unifies faculty publication data from sources like DBLP, ORCID, Google Scholar, etc.</a:t>
            </a:r>
            <a:endParaRPr lang="en-US" sz="1750"/>
          </a:p>
        </p:txBody>
      </p:sp>
      <p:sp>
        <p:nvSpPr>
          <p:cNvPr id="7" name="Shape 5"/>
          <p:cNvSpPr/>
          <p:nvPr/>
        </p:nvSpPr>
        <p:spPr>
          <a:xfrm>
            <a:off x="5216962" y="3988594"/>
            <a:ext cx="4196358" cy="2032754"/>
          </a:xfrm>
          <a:prstGeom prst="roundRect">
            <a:avLst>
              <a:gd name="adj" fmla="val 26781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443776" y="4215408"/>
            <a:ext cx="310038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Interactive Visualization</a:t>
            </a:r>
            <a:endParaRPr lang="en-US" sz="2200"/>
          </a:p>
        </p:txBody>
      </p:sp>
      <p:sp>
        <p:nvSpPr>
          <p:cNvPr id="9" name="Text 7"/>
          <p:cNvSpPr/>
          <p:nvPr/>
        </p:nvSpPr>
        <p:spPr>
          <a:xfrm>
            <a:off x="5443776" y="470582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Builds a knowledge graph to visually map the relationships between faculty and their work.</a:t>
            </a:r>
            <a:endParaRPr lang="en-US" sz="1750"/>
          </a:p>
        </p:txBody>
      </p:sp>
      <p:sp>
        <p:nvSpPr>
          <p:cNvPr id="10" name="Shape 8"/>
          <p:cNvSpPr/>
          <p:nvPr/>
        </p:nvSpPr>
        <p:spPr>
          <a:xfrm>
            <a:off x="9640133" y="3988594"/>
            <a:ext cx="4196358" cy="2032754"/>
          </a:xfrm>
          <a:prstGeom prst="roundRect">
            <a:avLst>
              <a:gd name="adj" fmla="val 26781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9866948" y="4215408"/>
            <a:ext cx="299144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AI-Powered Summaries</a:t>
            </a:r>
            <a:endParaRPr lang="en-US" sz="2200"/>
          </a:p>
        </p:txBody>
      </p:sp>
      <p:sp>
        <p:nvSpPr>
          <p:cNvPr id="12" name="Text 10"/>
          <p:cNvSpPr/>
          <p:nvPr/>
        </p:nvSpPr>
        <p:spPr>
          <a:xfrm>
            <a:off x="9866948" y="470582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Delivers instant, AI-generated summaries of research papers and faculty profiles.</a:t>
            </a:r>
            <a:endParaRPr lang="en-US" sz="17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60351" y="460296"/>
            <a:ext cx="7109698" cy="523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100"/>
              </a:lnSpc>
              <a:buNone/>
            </a:pPr>
            <a:r>
              <a:rPr lang="en-US" sz="32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Key Features: Visualizing Connections</a:t>
            </a:r>
            <a:endParaRPr lang="en-US" sz="325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07" y="1318141"/>
            <a:ext cx="12806243" cy="62147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85907" y="7608851"/>
            <a:ext cx="8324710" cy="164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50"/>
              </a:lnSpc>
            </a:pPr>
            <a:r>
              <a:rPr lang="en-US" sz="1600" b="1">
                <a:solidFill>
                  <a:srgbClr val="282824"/>
                </a:solidFill>
                <a:latin typeface="Lato Bold"/>
                <a:ea typeface="Lato Bold"/>
                <a:cs typeface="Lato Bold"/>
              </a:rPr>
              <a:t>Model of Graph: </a:t>
            </a:r>
            <a:r>
              <a:rPr lang="en-US" sz="1600">
                <a:solidFill>
                  <a:srgbClr val="4A4A45"/>
                </a:solidFill>
                <a:latin typeface="Lato"/>
                <a:ea typeface="Lato"/>
                <a:cs typeface="Lato"/>
              </a:rPr>
              <a:t>The interactive graph allows users to explore connections by clicking on nodes.</a:t>
            </a:r>
            <a:endParaRPr lang="en-US" sz="1600">
              <a:solidFill>
                <a:srgbClr val="282824"/>
              </a:solidFill>
              <a:latin typeface="Lato"/>
              <a:ea typeface="Lato"/>
              <a:cs typeface="Lato"/>
            </a:endParaRPr>
          </a:p>
          <a:p>
            <a:pPr marL="0" indent="0" algn="l">
              <a:lnSpc>
                <a:spcPts val="2050"/>
              </a:lnSpc>
              <a:buNone/>
            </a:pPr>
            <a:endParaRPr lang="en-US" sz="1600" b="1">
              <a:solidFill>
                <a:srgbClr val="282824"/>
              </a:solidFill>
              <a:latin typeface="Lato Bold"/>
              <a:ea typeface="Lato Bold"/>
              <a:cs typeface="Lato 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0484" y="760095"/>
            <a:ext cx="7024687" cy="552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2800" b="1">
                <a:solidFill>
                  <a:srgbClr val="282824"/>
                </a:solidFill>
                <a:latin typeface="Lato Bold"/>
                <a:ea typeface="Lato Bold"/>
                <a:cs typeface="Lato Bold"/>
              </a:rPr>
              <a:t>Key Features: Paper Summarization</a:t>
            </a:r>
            <a:endParaRPr lang="en-US" sz="2800">
              <a:latin typeface="Calibri"/>
              <a:ea typeface="Calibri"/>
              <a:cs typeface="Calibri"/>
            </a:endParaRPr>
          </a:p>
        </p:txBody>
      </p:sp>
      <p:sp>
        <p:nvSpPr>
          <p:cNvPr id="3" name="Text 1"/>
          <p:cNvSpPr/>
          <p:nvPr/>
        </p:nvSpPr>
        <p:spPr>
          <a:xfrm>
            <a:off x="618292" y="1461730"/>
            <a:ext cx="6481405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1350"/>
          </a:p>
        </p:txBody>
      </p:sp>
      <p:sp>
        <p:nvSpPr>
          <p:cNvPr id="4" name="Text 2"/>
          <p:cNvSpPr/>
          <p:nvPr/>
        </p:nvSpPr>
        <p:spPr>
          <a:xfrm>
            <a:off x="618292" y="1903333"/>
            <a:ext cx="6481405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1350"/>
          </a:p>
        </p:txBody>
      </p:sp>
      <p:sp>
        <p:nvSpPr>
          <p:cNvPr id="5" name="Text 3"/>
          <p:cNvSpPr/>
          <p:nvPr/>
        </p:nvSpPr>
        <p:spPr>
          <a:xfrm>
            <a:off x="618292" y="2344936"/>
            <a:ext cx="6481405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1350"/>
          </a:p>
        </p:txBody>
      </p:sp>
      <p:sp>
        <p:nvSpPr>
          <p:cNvPr id="6" name="Text 4"/>
          <p:cNvSpPr/>
          <p:nvPr/>
        </p:nvSpPr>
        <p:spPr>
          <a:xfrm>
            <a:off x="618292" y="2786539"/>
            <a:ext cx="6481405" cy="565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000">
                <a:solidFill>
                  <a:srgbClr val="4A4A45"/>
                </a:solidFill>
                <a:latin typeface="Lato"/>
                <a:ea typeface="Lato"/>
                <a:cs typeface="Lato"/>
              </a:rPr>
              <a:t>When a user clicks on a paper node, ScholarSphere provides a concise summary and metadata :</a:t>
            </a:r>
            <a:endParaRPr lang="en-US" sz="1350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883206" y="3550563"/>
            <a:ext cx="6216491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1350"/>
          </a:p>
        </p:txBody>
      </p:sp>
      <p:sp>
        <p:nvSpPr>
          <p:cNvPr id="8" name="Text 6"/>
          <p:cNvSpPr/>
          <p:nvPr/>
        </p:nvSpPr>
        <p:spPr>
          <a:xfrm>
            <a:off x="883206" y="3693851"/>
            <a:ext cx="6216491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Paper title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9" name="Text 7"/>
          <p:cNvSpPr/>
          <p:nvPr/>
        </p:nvSpPr>
        <p:spPr>
          <a:xfrm>
            <a:off x="883206" y="4116119"/>
            <a:ext cx="6216491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Authors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83206" y="4518933"/>
            <a:ext cx="6216491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Publication Date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83206" y="4954173"/>
            <a:ext cx="6216491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Conference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18292" y="3550563"/>
            <a:ext cx="22860" cy="1757601"/>
          </a:xfrm>
          <a:prstGeom prst="rect">
            <a:avLst/>
          </a:prstGeom>
          <a:solidFill>
            <a:srgbClr val="2828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18292" y="5506879"/>
            <a:ext cx="6481405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1350"/>
          </a:p>
        </p:txBody>
      </p:sp>
      <p:pic>
        <p:nvPicPr>
          <p:cNvPr id="15" name="Picture 14" descr="A screenshot of a phone&#10;&#10;AI-generated content may be incorrect.">
            <a:extLst>
              <a:ext uri="{FF2B5EF4-FFF2-40B4-BE49-F238E27FC236}">
                <a16:creationId xmlns:a16="http://schemas.microsoft.com/office/drawing/2014/main" id="{1C7BB531-9492-E664-9FB1-B845C7699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9040" y="736401"/>
            <a:ext cx="4141659" cy="70428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" y="790932"/>
            <a:ext cx="7297726" cy="586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600"/>
              </a:lnSpc>
              <a:buNone/>
            </a:pPr>
            <a:r>
              <a:rPr lang="en-US" sz="2400" b="1">
                <a:solidFill>
                  <a:srgbClr val="282824"/>
                </a:solidFill>
                <a:latin typeface="Lato Bold"/>
                <a:ea typeface="Lato Bold"/>
                <a:cs typeface="Lato Bold"/>
              </a:rPr>
              <a:t>Key Features: Faculty profile Summarization</a:t>
            </a:r>
            <a:endParaRPr lang="en-US" sz="2400">
              <a:latin typeface="Lato Bold"/>
              <a:ea typeface="Lato Bold"/>
              <a:cs typeface="Lato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650502" y="2756436"/>
            <a:ext cx="6429256" cy="600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000">
                <a:solidFill>
                  <a:srgbClr val="4A4A45"/>
                </a:solidFill>
                <a:latin typeface="Lato"/>
                <a:ea typeface="Lato"/>
                <a:cs typeface="Lato"/>
              </a:rPr>
              <a:t>When a user clicks on a faculty node, ScholarSphere provides a concise summary and metadata:</a:t>
            </a:r>
            <a:endParaRPr lang="en-US" sz="2000">
              <a:latin typeface="Lato"/>
              <a:ea typeface="Lato"/>
              <a:cs typeface="Lato"/>
            </a:endParaRPr>
          </a:p>
        </p:txBody>
      </p:sp>
      <p:sp>
        <p:nvSpPr>
          <p:cNvPr id="4" name="Text 2"/>
          <p:cNvSpPr/>
          <p:nvPr/>
        </p:nvSpPr>
        <p:spPr>
          <a:xfrm>
            <a:off x="938451" y="3808273"/>
            <a:ext cx="61477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350"/>
              </a:lnSpc>
              <a:buFont typeface="Arial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Name of faculty</a:t>
            </a:r>
            <a:endParaRPr lang="en-US" sz="1450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938451" y="4167251"/>
            <a:ext cx="61477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350"/>
              </a:lnSpc>
              <a:buFont typeface="Arial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Department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6" name="Text 4"/>
          <p:cNvSpPr/>
          <p:nvPr/>
        </p:nvSpPr>
        <p:spPr>
          <a:xfrm>
            <a:off x="938451" y="4565140"/>
            <a:ext cx="61477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350"/>
              </a:lnSpc>
              <a:buFont typeface="Arial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Research areas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50502" y="3808273"/>
            <a:ext cx="22860" cy="1238845"/>
          </a:xfrm>
          <a:prstGeom prst="rect">
            <a:avLst/>
          </a:prstGeom>
          <a:solidFill>
            <a:srgbClr val="282824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1269FD-91C9-2B35-4CF3-A92D9684A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6578" y="664074"/>
            <a:ext cx="4160253" cy="70039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95280" y="486966"/>
            <a:ext cx="4439722" cy="55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4450" b="1">
                <a:solidFill>
                  <a:srgbClr val="282824"/>
                </a:solidFill>
                <a:latin typeface="Lato Bold"/>
                <a:ea typeface="Lato Bold"/>
                <a:cs typeface="Lato Bold"/>
              </a:rPr>
              <a:t>Architecture overview</a:t>
            </a:r>
            <a:endParaRPr lang="en-US" sz="4450">
              <a:latin typeface="Calibri"/>
              <a:ea typeface="Calibri"/>
              <a:cs typeface="Calibri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491" y="1391126"/>
            <a:ext cx="882134" cy="105858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073957" y="1567458"/>
            <a:ext cx="3966815" cy="243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0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Data Acquisition from sources</a:t>
            </a:r>
            <a:endParaRPr lang="en-US" sz="2000">
              <a:latin typeface="Lato Bold"/>
              <a:ea typeface="Lato Bold"/>
              <a:cs typeface="Lato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2073957" y="1948934"/>
            <a:ext cx="12337018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DBLP, ORCID, Google Scholar, etc.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491" y="2449711"/>
            <a:ext cx="882134" cy="105858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073957" y="2626043"/>
            <a:ext cx="2205514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0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Scraper Service</a:t>
            </a:r>
            <a:endParaRPr lang="en-US" sz="2000">
              <a:latin typeface="Lato Bold"/>
              <a:ea typeface="Lato Bold"/>
              <a:cs typeface="Lato Bold"/>
            </a:endParaRPr>
          </a:p>
        </p:txBody>
      </p:sp>
      <p:sp>
        <p:nvSpPr>
          <p:cNvPr id="8" name="Text 4"/>
          <p:cNvSpPr/>
          <p:nvPr/>
        </p:nvSpPr>
        <p:spPr>
          <a:xfrm>
            <a:off x="2073957" y="3007519"/>
            <a:ext cx="12337018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Periodic data collection and cleaning.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491" y="3508296"/>
            <a:ext cx="882134" cy="105858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073957" y="3684627"/>
            <a:ext cx="2205514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0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Database Layer</a:t>
            </a:r>
            <a:endParaRPr lang="en-US" sz="2000">
              <a:latin typeface="Lato Bold"/>
              <a:ea typeface="Lato Bold"/>
              <a:cs typeface="Lato Bold"/>
            </a:endParaRPr>
          </a:p>
        </p:txBody>
      </p:sp>
      <p:sp>
        <p:nvSpPr>
          <p:cNvPr id="11" name="Text 6"/>
          <p:cNvSpPr/>
          <p:nvPr/>
        </p:nvSpPr>
        <p:spPr>
          <a:xfrm>
            <a:off x="2073957" y="4066103"/>
            <a:ext cx="12337018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Neo4j Graph DB, PostgreSQL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491" y="4566880"/>
            <a:ext cx="882134" cy="105858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073957" y="4743212"/>
            <a:ext cx="4426274" cy="81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0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Graph Service &amp; Summarization API</a:t>
            </a:r>
            <a:endParaRPr lang="en-US" sz="2000">
              <a:latin typeface="Lato Bold"/>
              <a:ea typeface="Lato Bold"/>
              <a:cs typeface="Lato Bold"/>
            </a:endParaRPr>
          </a:p>
        </p:txBody>
      </p:sp>
      <p:sp>
        <p:nvSpPr>
          <p:cNvPr id="14" name="Text 8"/>
          <p:cNvSpPr/>
          <p:nvPr/>
        </p:nvSpPr>
        <p:spPr>
          <a:xfrm>
            <a:off x="2073957" y="5124688"/>
            <a:ext cx="12337018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REST endpoints, LLM integration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5491" y="5625465"/>
            <a:ext cx="882134" cy="105858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2073957" y="5801797"/>
            <a:ext cx="2205514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0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Frontend</a:t>
            </a:r>
            <a:endParaRPr lang="en-US" sz="2000">
              <a:latin typeface="Lato Bold"/>
              <a:ea typeface="Lato Bold"/>
              <a:cs typeface="Lato Bold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2073957" y="6183273"/>
            <a:ext cx="12337018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Thymeleaf / React + Cytoscape.js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5491" y="6684050"/>
            <a:ext cx="882134" cy="105858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2073957" y="6860381"/>
            <a:ext cx="2205514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0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User Interaction</a:t>
            </a:r>
            <a:endParaRPr lang="en-US" sz="2000">
              <a:latin typeface="Lato Bold"/>
              <a:ea typeface="Lato Bold"/>
              <a:cs typeface="Lato Bold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2073957" y="7241858"/>
            <a:ext cx="12337018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Visualization, search, and exploration</a:t>
            </a:r>
            <a:endParaRPr lang="en-US">
              <a:latin typeface="Lato"/>
              <a:ea typeface="Lato"/>
              <a:cs typeface="La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54322" y="497324"/>
            <a:ext cx="4521756" cy="565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endParaRPr lang="en-US" sz="4450" b="1">
              <a:solidFill>
                <a:srgbClr val="282824"/>
              </a:solidFill>
              <a:latin typeface="Lato Bold"/>
              <a:ea typeface="Lato Bold"/>
              <a:cs typeface="Lato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632936" y="1424226"/>
            <a:ext cx="13364528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400"/>
          </a:p>
        </p:txBody>
      </p:sp>
      <p:sp>
        <p:nvSpPr>
          <p:cNvPr id="6" name="Text 3"/>
          <p:cNvSpPr/>
          <p:nvPr/>
        </p:nvSpPr>
        <p:spPr>
          <a:xfrm>
            <a:off x="813792" y="3056241"/>
            <a:ext cx="6230064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250"/>
              </a:lnSpc>
              <a:buSzPct val="100000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7" name="Text 4"/>
          <p:cNvSpPr/>
          <p:nvPr/>
        </p:nvSpPr>
        <p:spPr>
          <a:xfrm>
            <a:off x="813792" y="3687645"/>
            <a:ext cx="6230064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250"/>
              </a:lnSpc>
              <a:buSzPct val="100000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0" name="Text 6"/>
          <p:cNvSpPr/>
          <p:nvPr/>
        </p:nvSpPr>
        <p:spPr>
          <a:xfrm>
            <a:off x="6045723" y="2906190"/>
            <a:ext cx="6230183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1" name="Text 7"/>
          <p:cNvSpPr/>
          <p:nvPr/>
        </p:nvSpPr>
        <p:spPr>
          <a:xfrm>
            <a:off x="7586424" y="3546122"/>
            <a:ext cx="6230183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3" name="Text 8"/>
          <p:cNvSpPr/>
          <p:nvPr/>
        </p:nvSpPr>
        <p:spPr>
          <a:xfrm>
            <a:off x="813792" y="5028527"/>
            <a:ext cx="3464111" cy="276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2000" b="1">
              <a:solidFill>
                <a:srgbClr val="4A4A45"/>
              </a:solidFill>
              <a:latin typeface="Lato Bold"/>
              <a:ea typeface="Lato Bold"/>
              <a:cs typeface="Lato Bold"/>
            </a:endParaRPr>
          </a:p>
        </p:txBody>
      </p:sp>
      <p:sp>
        <p:nvSpPr>
          <p:cNvPr id="14" name="Text 9"/>
          <p:cNvSpPr/>
          <p:nvPr/>
        </p:nvSpPr>
        <p:spPr>
          <a:xfrm>
            <a:off x="813792" y="5490864"/>
            <a:ext cx="6230064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813792" y="6230006"/>
            <a:ext cx="6230064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813792" y="6975634"/>
            <a:ext cx="6230064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250"/>
              </a:lnSpc>
              <a:buSzPct val="100000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7586424" y="5029676"/>
            <a:ext cx="3146852" cy="256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2000" b="1">
              <a:solidFill>
                <a:srgbClr val="4A4A45"/>
              </a:solidFill>
              <a:latin typeface="Lato Bold"/>
              <a:ea typeface="Lato Bold"/>
              <a:cs typeface="Lato Bold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7586424" y="5773222"/>
            <a:ext cx="6230183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250"/>
              </a:lnSpc>
              <a:buSzPct val="100000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88821D8-AB89-450A-A613-D6FF4BE3A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241" y="601692"/>
            <a:ext cx="11518018" cy="71355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89701" y="73598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Technology Stack</a:t>
            </a:r>
            <a:endParaRPr lang="en-US" sz="445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209681"/>
            <a:ext cx="680442" cy="6804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36854" y="236945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Backend</a:t>
            </a:r>
            <a:endParaRPr lang="en-US" sz="2400">
              <a:latin typeface="Lato Bold"/>
              <a:ea typeface="Lato Bold"/>
              <a:cs typeface="Lato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793790" y="2989578"/>
            <a:ext cx="63796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Spring Boot (REST API and services)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6" name="Text 3"/>
          <p:cNvSpPr/>
          <p:nvPr/>
        </p:nvSpPr>
        <p:spPr>
          <a:xfrm>
            <a:off x="793790" y="3483658"/>
            <a:ext cx="63796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Open Source LLM (AI powered summarization)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884" y="2209681"/>
            <a:ext cx="680442" cy="68044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61037" y="236945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Database</a:t>
            </a:r>
            <a:endParaRPr lang="en-US" sz="2400">
              <a:latin typeface="Lato Bold"/>
              <a:ea typeface="Lato Bold"/>
              <a:cs typeface="Lato Bold"/>
            </a:endParaRPr>
          </a:p>
        </p:txBody>
      </p:sp>
      <p:sp>
        <p:nvSpPr>
          <p:cNvPr id="9" name="Text 5"/>
          <p:cNvSpPr/>
          <p:nvPr/>
        </p:nvSpPr>
        <p:spPr>
          <a:xfrm>
            <a:off x="7456884" y="2989578"/>
            <a:ext cx="637972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Neo4j (Graph database)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10" name="Text 6"/>
          <p:cNvSpPr/>
          <p:nvPr/>
        </p:nvSpPr>
        <p:spPr>
          <a:xfrm>
            <a:off x="7456884" y="3483658"/>
            <a:ext cx="637972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PostgresSQL (Summary storage)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922758"/>
            <a:ext cx="680442" cy="68044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36854" y="508902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Frontend</a:t>
            </a:r>
            <a:endParaRPr lang="en-US" sz="2400">
              <a:latin typeface="Lato Bold"/>
              <a:ea typeface="Lato Bold"/>
              <a:cs typeface="Lato Bold"/>
            </a:endParaRPr>
          </a:p>
        </p:txBody>
      </p:sp>
      <p:sp>
        <p:nvSpPr>
          <p:cNvPr id="13" name="Text 8"/>
          <p:cNvSpPr/>
          <p:nvPr/>
        </p:nvSpPr>
        <p:spPr>
          <a:xfrm>
            <a:off x="793790" y="5799933"/>
            <a:ext cx="63796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React.js/Thymeleaf (UI framework)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14" name="Text 9"/>
          <p:cNvSpPr/>
          <p:nvPr/>
        </p:nvSpPr>
        <p:spPr>
          <a:xfrm>
            <a:off x="793790" y="6203220"/>
            <a:ext cx="63796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Cytoscape.js (Graph visualization)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6884" y="4922758"/>
            <a:ext cx="680442" cy="68044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61037" y="508902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Deployment</a:t>
            </a:r>
            <a:endParaRPr lang="en-US" sz="2400">
              <a:latin typeface="Lato Bold"/>
              <a:ea typeface="Lato Bold"/>
              <a:cs typeface="Lato Bold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7456884" y="5799933"/>
            <a:ext cx="637972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Docker (Containerization)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7456884" y="6203220"/>
            <a:ext cx="637972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AWS EC2(Cloud hosting)</a:t>
            </a:r>
            <a:endParaRPr lang="en-US">
              <a:latin typeface="Lato"/>
              <a:ea typeface="Lato"/>
              <a:cs typeface="La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6956" y="2208133"/>
            <a:ext cx="9996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en-US" sz="4450" b="1">
                <a:solidFill>
                  <a:srgbClr val="282824"/>
                </a:solidFill>
                <a:latin typeface="Lato Bold"/>
                <a:ea typeface="Lato Bold"/>
                <a:cs typeface="Lato Bold"/>
              </a:rPr>
              <a:t>Long Term Functionality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337054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/>
          </a:p>
        </p:txBody>
      </p:sp>
      <p:sp>
        <p:nvSpPr>
          <p:cNvPr id="4" name="Shape 2"/>
          <p:cNvSpPr/>
          <p:nvPr/>
        </p:nvSpPr>
        <p:spPr>
          <a:xfrm>
            <a:off x="793790" y="3988594"/>
            <a:ext cx="4196358" cy="2032754"/>
          </a:xfrm>
          <a:prstGeom prst="roundRect">
            <a:avLst>
              <a:gd name="adj" fmla="val 26781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020604" y="4215408"/>
            <a:ext cx="3348706" cy="3089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Metadata for dead nodes</a:t>
            </a:r>
          </a:p>
        </p:txBody>
      </p:sp>
      <p:sp>
        <p:nvSpPr>
          <p:cNvPr id="6" name="Text 4"/>
          <p:cNvSpPr/>
          <p:nvPr/>
        </p:nvSpPr>
        <p:spPr>
          <a:xfrm>
            <a:off x="1020604" y="470582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>
                <a:solidFill>
                  <a:srgbClr val="4A4A45"/>
                </a:solidFill>
                <a:latin typeface="Lato"/>
                <a:ea typeface="Lato"/>
                <a:cs typeface="Lato"/>
              </a:rPr>
              <a:t>Retain and display metadata even for dead/inactive nodes.</a:t>
            </a:r>
          </a:p>
        </p:txBody>
      </p:sp>
      <p:sp>
        <p:nvSpPr>
          <p:cNvPr id="7" name="Shape 5"/>
          <p:cNvSpPr/>
          <p:nvPr/>
        </p:nvSpPr>
        <p:spPr>
          <a:xfrm>
            <a:off x="5216962" y="3988594"/>
            <a:ext cx="4196358" cy="2032754"/>
          </a:xfrm>
          <a:prstGeom prst="roundRect">
            <a:avLst>
              <a:gd name="adj" fmla="val 26781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443776" y="4215408"/>
            <a:ext cx="310038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Graph Expansion</a:t>
            </a:r>
          </a:p>
        </p:txBody>
      </p:sp>
      <p:sp>
        <p:nvSpPr>
          <p:cNvPr id="9" name="Text 7"/>
          <p:cNvSpPr/>
          <p:nvPr/>
        </p:nvSpPr>
        <p:spPr>
          <a:xfrm>
            <a:off x="5443776" y="470582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>
                <a:solidFill>
                  <a:srgbClr val="4A4A45"/>
                </a:solidFill>
                <a:latin typeface="Lato"/>
                <a:ea typeface="Lato"/>
                <a:cs typeface="Lato"/>
              </a:rPr>
              <a:t>Builds a knowledge graph to visually map the relationships between faculty and domain of papers .</a:t>
            </a:r>
            <a:endParaRPr lang="en-US" sz="1750">
              <a:latin typeface="Lato"/>
              <a:ea typeface="Lato"/>
              <a:cs typeface="Lat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640133" y="3988594"/>
            <a:ext cx="4196358" cy="2032754"/>
          </a:xfrm>
          <a:prstGeom prst="roundRect">
            <a:avLst>
              <a:gd name="adj" fmla="val 26781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9866948" y="4215408"/>
            <a:ext cx="299144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Beyond IISc faculty </a:t>
            </a:r>
          </a:p>
        </p:txBody>
      </p:sp>
      <p:sp>
        <p:nvSpPr>
          <p:cNvPr id="12" name="Text 10"/>
          <p:cNvSpPr/>
          <p:nvPr/>
        </p:nvSpPr>
        <p:spPr>
          <a:xfrm>
            <a:off x="9866948" y="470582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>
                <a:solidFill>
                  <a:srgbClr val="4A4A45"/>
                </a:solidFill>
                <a:latin typeface="Lato"/>
                <a:ea typeface="Lato"/>
                <a:cs typeface="Lato"/>
              </a:rPr>
              <a:t>Expand </a:t>
            </a:r>
            <a:r>
              <a:rPr lang="en-US" sz="1750" err="1">
                <a:solidFill>
                  <a:srgbClr val="4A4A45"/>
                </a:solidFill>
                <a:latin typeface="Lato"/>
                <a:ea typeface="Lato"/>
                <a:cs typeface="Lato"/>
              </a:rPr>
              <a:t>ScholarSphere</a:t>
            </a:r>
            <a:r>
              <a:rPr lang="en-US" sz="1750">
                <a:solidFill>
                  <a:srgbClr val="4A4A45"/>
                </a:solidFill>
                <a:latin typeface="Lato"/>
                <a:ea typeface="Lato"/>
                <a:cs typeface="Lato"/>
              </a:rPr>
              <a:t> to include faculty from other institutes.</a:t>
            </a:r>
          </a:p>
        </p:txBody>
      </p:sp>
    </p:spTree>
    <p:extLst>
      <p:ext uri="{BB962C8B-B14F-4D97-AF65-F5344CB8AC3E}">
        <p14:creationId xmlns:p14="http://schemas.microsoft.com/office/powerpoint/2010/main" val="18983709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project timeline&#10;&#10;AI-generated content may be incorrect.">
            <a:extLst>
              <a:ext uri="{FF2B5EF4-FFF2-40B4-BE49-F238E27FC236}">
                <a16:creationId xmlns:a16="http://schemas.microsoft.com/office/drawing/2014/main" id="{428624B7-C883-1B10-F808-DF7F1B8EC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" y="-4201"/>
            <a:ext cx="14629278" cy="8238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167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643307"/>
            <a:ext cx="13042821" cy="2126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700"/>
              </a:lnSpc>
              <a:buNone/>
            </a:pPr>
            <a:r>
              <a:rPr lang="en-US" sz="133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Thank You!</a:t>
            </a:r>
            <a:endParaRPr lang="en-US" sz="13350"/>
          </a:p>
        </p:txBody>
      </p:sp>
      <p:sp>
        <p:nvSpPr>
          <p:cNvPr id="3" name="Text 1"/>
          <p:cNvSpPr/>
          <p:nvPr/>
        </p:nvSpPr>
        <p:spPr>
          <a:xfrm>
            <a:off x="793790" y="522339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endParaRPr lang="en-US" sz="17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424</Words>
  <Application>Microsoft Office PowerPoint</Application>
  <PresentationFormat>Custom</PresentationFormat>
  <Paragraphs>89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Lato Bold</vt:lpstr>
      <vt:lpstr>Lato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Annu</cp:lastModifiedBy>
  <cp:revision>4</cp:revision>
  <dcterms:created xsi:type="dcterms:W3CDTF">2025-09-12T14:34:32Z</dcterms:created>
  <dcterms:modified xsi:type="dcterms:W3CDTF">2025-09-14T04:29:19Z</dcterms:modified>
</cp:coreProperties>
</file>