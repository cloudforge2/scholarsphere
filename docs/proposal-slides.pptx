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8" r:id="rId13"/>
    <p:sldId id="266" r:id="rId14"/>
  </p:sldIdLst>
  <p:sldSz cx="14630400" cy="8229600"/>
  <p:notesSz cx="8229600" cy="146304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Bold" panose="020F0502020204030203" pitchFamily="34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DFCCC-1F26-CF11-FDBF-913C7E9877D2}" v="77" dt="2025-09-13T05:50:30.594"/>
    <p1510:client id="{17E5A336-AC23-EED9-E647-B85570C28992}" v="347" dt="2025-09-14T08:55:21.041"/>
    <p1510:client id="{197FABC0-4977-8818-0238-E9CF051CEC9B}" v="19" dt="2025-09-13T05:46:04.435"/>
    <p1510:client id="{23A501CF-147C-3B17-A5CE-08F6CAB64092}" v="1" dt="2025-09-14T08:57:36.158"/>
    <p1510:client id="{332442CC-D42E-6A4D-EF52-3C2E717814D5}" v="191" dt="2025-09-12T18:07:29.431"/>
    <p1510:client id="{3418BCF3-5069-CDF7-84F2-B72017700D01}" v="245" dt="2025-09-14T10:17:50.111"/>
    <p1510:client id="{7AB14508-FD5D-8785-FD29-FCF241585B78}" v="5" dt="2025-09-12T17:45:28.913"/>
    <p1510:client id="{F7982F7B-306D-9952-CD05-BD4DC846C3B5}" v="351" dt="2025-09-13T07:06:46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82F8E-E901-4353-BB1F-FD822372C0D8}" type="datetimeFigureOut"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420AF-DE14-41EE-8702-A2E3635CF64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2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4491" y="246983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ScholarSphere</a:t>
            </a:r>
            <a:endParaRPr lang="en-US" sz="8900"/>
          </a:p>
        </p:txBody>
      </p:sp>
      <p:sp>
        <p:nvSpPr>
          <p:cNvPr id="3" name="Text 1"/>
          <p:cNvSpPr/>
          <p:nvPr/>
        </p:nvSpPr>
        <p:spPr>
          <a:xfrm>
            <a:off x="1133951" y="459628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A graphical exploration and AI summarization for researchers</a:t>
            </a:r>
            <a:endParaRPr lang="en-US" sz="2000">
              <a:latin typeface="Lato"/>
              <a:ea typeface="Lato"/>
              <a:cs typeface="Lato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469493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</a:rPr>
              <a:t>Members: Annu, Kunal, Paul, Ikshita</a:t>
            </a:r>
            <a:endParaRPr lang="en-US" sz="1600">
              <a:latin typeface="Lato"/>
              <a:ea typeface="Lato"/>
              <a:cs typeface="Lat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9A7A68-017D-A710-F999-2C68E3CECBE8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68046" y="668655"/>
            <a:ext cx="58943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Presentation Overview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18310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49116"/>
            <a:ext cx="226814" cy="283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3790" y="2804160"/>
            <a:ext cx="6407944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3"/>
          <p:cNvSpPr/>
          <p:nvPr/>
        </p:nvSpPr>
        <p:spPr>
          <a:xfrm>
            <a:off x="1163441" y="240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Problem Statement</a:t>
            </a:r>
            <a:endParaRPr lang="en-US" sz="2200"/>
          </a:p>
        </p:txBody>
      </p:sp>
      <p:sp>
        <p:nvSpPr>
          <p:cNvPr id="7" name="Text 4"/>
          <p:cNvSpPr/>
          <p:nvPr/>
        </p:nvSpPr>
        <p:spPr>
          <a:xfrm>
            <a:off x="793790" y="298898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Identifying the core challenges faced by researchers.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2449116"/>
            <a:ext cx="226814" cy="2834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28548" y="2804160"/>
            <a:ext cx="6408063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0" name="Text 6"/>
          <p:cNvSpPr/>
          <p:nvPr/>
        </p:nvSpPr>
        <p:spPr>
          <a:xfrm>
            <a:off x="7791714" y="240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Proposition</a:t>
            </a:r>
            <a:endParaRPr lang="en-US" sz="2200"/>
          </a:p>
        </p:txBody>
      </p:sp>
      <p:sp>
        <p:nvSpPr>
          <p:cNvPr id="11" name="Text 7"/>
          <p:cNvSpPr/>
          <p:nvPr/>
        </p:nvSpPr>
        <p:spPr>
          <a:xfrm>
            <a:off x="7428548" y="2988988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Our  solution to address these challenges.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228624"/>
            <a:ext cx="226814" cy="283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93790" y="4583668"/>
            <a:ext cx="6407944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4" name="Text 9"/>
          <p:cNvSpPr/>
          <p:nvPr/>
        </p:nvSpPr>
        <p:spPr>
          <a:xfrm>
            <a:off x="1163441" y="4193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Features</a:t>
            </a:r>
            <a:endParaRPr lang="en-US" sz="2200"/>
          </a:p>
        </p:txBody>
      </p:sp>
      <p:sp>
        <p:nvSpPr>
          <p:cNvPr id="15" name="Text 10"/>
          <p:cNvSpPr/>
          <p:nvPr/>
        </p:nvSpPr>
        <p:spPr>
          <a:xfrm>
            <a:off x="793790" y="4742556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Highlighting the functionalities of </a:t>
            </a:r>
            <a:r>
              <a:rPr lang="en-US" err="1">
                <a:solidFill>
                  <a:srgbClr val="4A4A45"/>
                </a:solidFill>
                <a:latin typeface="Lato"/>
                <a:ea typeface="Lato"/>
                <a:cs typeface="Lato"/>
              </a:rPr>
              <a:t>ScholarSphere</a:t>
            </a: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8" y="4228624"/>
            <a:ext cx="226814" cy="28348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28548" y="4583668"/>
            <a:ext cx="6408063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8" name="Text 12"/>
          <p:cNvSpPr/>
          <p:nvPr/>
        </p:nvSpPr>
        <p:spPr>
          <a:xfrm>
            <a:off x="7791714" y="4193772"/>
            <a:ext cx="29228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Architecture Overview</a:t>
            </a:r>
            <a:endParaRPr lang="en-US" sz="2200"/>
          </a:p>
        </p:txBody>
      </p:sp>
      <p:sp>
        <p:nvSpPr>
          <p:cNvPr id="19" name="Text 13"/>
          <p:cNvSpPr/>
          <p:nvPr/>
        </p:nvSpPr>
        <p:spPr>
          <a:xfrm>
            <a:off x="7428548" y="474255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Understanding the system's underlying structure.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008132"/>
            <a:ext cx="226814" cy="28348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93790" y="6363176"/>
            <a:ext cx="6407944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2" name="Text 15"/>
          <p:cNvSpPr/>
          <p:nvPr/>
        </p:nvSpPr>
        <p:spPr>
          <a:xfrm>
            <a:off x="1163441" y="59732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Workflow</a:t>
            </a:r>
          </a:p>
        </p:txBody>
      </p:sp>
      <p:sp>
        <p:nvSpPr>
          <p:cNvPr id="23" name="Text 16"/>
          <p:cNvSpPr/>
          <p:nvPr/>
        </p:nvSpPr>
        <p:spPr>
          <a:xfrm>
            <a:off x="793790" y="6548004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How </a:t>
            </a:r>
            <a:r>
              <a:rPr lang="en-US" err="1">
                <a:solidFill>
                  <a:srgbClr val="4A4A45"/>
                </a:solidFill>
                <a:latin typeface="Lato"/>
                <a:ea typeface="Lato"/>
                <a:cs typeface="Lato"/>
              </a:rPr>
              <a:t>ScholarSphere</a:t>
            </a: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 will work.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548" y="6008132"/>
            <a:ext cx="226814" cy="28348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428548" y="6363176"/>
            <a:ext cx="6408063" cy="3048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6" name="Text 18"/>
          <p:cNvSpPr/>
          <p:nvPr/>
        </p:nvSpPr>
        <p:spPr>
          <a:xfrm>
            <a:off x="7791714" y="59732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Technology Stack</a:t>
            </a:r>
            <a:endParaRPr lang="en-US" sz="2200"/>
          </a:p>
        </p:txBody>
      </p:sp>
      <p:sp>
        <p:nvSpPr>
          <p:cNvPr id="27" name="Text 19"/>
          <p:cNvSpPr/>
          <p:nvPr/>
        </p:nvSpPr>
        <p:spPr>
          <a:xfrm>
            <a:off x="7428548" y="6548004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The tools and frameworks to be used.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CA1EB-2D6D-1A9D-8C92-CF3DD1979828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7023" y="2177653"/>
            <a:ext cx="70162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Key Challenges in Research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3400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395811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95811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215408"/>
            <a:ext cx="3395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Explore Publication Trends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142524" y="470582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understanding who worked with whom and in what years.</a:t>
            </a:r>
            <a:endParaRPr lang="en-US" sz="1750"/>
          </a:p>
        </p:txBody>
      </p:sp>
      <p:sp>
        <p:nvSpPr>
          <p:cNvPr id="8" name="Shape 6"/>
          <p:cNvSpPr/>
          <p:nvPr/>
        </p:nvSpPr>
        <p:spPr>
          <a:xfrm>
            <a:off x="5216962" y="395811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95811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4215408"/>
            <a:ext cx="30110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Assess Paper quickly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5565696" y="470582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Need to read papers fully to determine relevance without quick summarization.</a:t>
            </a:r>
            <a:endParaRPr lang="en-US" sz="1750"/>
          </a:p>
        </p:txBody>
      </p:sp>
      <p:sp>
        <p:nvSpPr>
          <p:cNvPr id="12" name="Shape 10"/>
          <p:cNvSpPr/>
          <p:nvPr/>
        </p:nvSpPr>
        <p:spPr>
          <a:xfrm>
            <a:off x="9640133" y="3958114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958114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4215408"/>
            <a:ext cx="30135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Explore Faculty Profiles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9988868" y="470582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accessing comprehensive faculty profile information.</a:t>
            </a:r>
            <a:endParaRPr lang="en-US" sz="17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83778C-DD2B-1DAE-25EE-D864E27FA34E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6956" y="2208133"/>
            <a:ext cx="9996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ScholarSphere: Our Innovative Solution</a:t>
            </a:r>
            <a:endParaRPr lang="en-US" sz="4450"/>
          </a:p>
        </p:txBody>
      </p:sp>
      <p:sp>
        <p:nvSpPr>
          <p:cNvPr id="4" name="Shape 2"/>
          <p:cNvSpPr/>
          <p:nvPr/>
        </p:nvSpPr>
        <p:spPr>
          <a:xfrm>
            <a:off x="793790" y="3988594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215408"/>
            <a:ext cx="2966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Aggregated Knowledge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020604" y="47058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Unifies faculty publication data from sources like DBLP, ORCID, Google Scholar, etc.</a:t>
            </a:r>
            <a:endParaRPr lang="en-US" sz="1750"/>
          </a:p>
        </p:txBody>
      </p:sp>
      <p:sp>
        <p:nvSpPr>
          <p:cNvPr id="7" name="Shape 5"/>
          <p:cNvSpPr/>
          <p:nvPr/>
        </p:nvSpPr>
        <p:spPr>
          <a:xfrm>
            <a:off x="5216962" y="3988594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215408"/>
            <a:ext cx="3100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Interactive Visualization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5443776" y="47058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Builds a knowledge graph to visually map the relationships between faculty and their work.</a:t>
            </a:r>
            <a:endParaRPr lang="en-US" sz="1750"/>
          </a:p>
        </p:txBody>
      </p:sp>
      <p:sp>
        <p:nvSpPr>
          <p:cNvPr id="10" name="Shape 8"/>
          <p:cNvSpPr/>
          <p:nvPr/>
        </p:nvSpPr>
        <p:spPr>
          <a:xfrm>
            <a:off x="9640133" y="3988594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215408"/>
            <a:ext cx="29914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AI-Powered Summaries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866948" y="47058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Delivers instant, AI-generated summaries of research papers and faculty profiles.</a:t>
            </a:r>
            <a:endParaRPr lang="en-US" sz="17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812CE9-98CF-22B1-5315-BD660F4821A0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0351" y="460296"/>
            <a:ext cx="7109698" cy="52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25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Features: Visualizing Connections</a:t>
            </a:r>
            <a:endParaRPr lang="en-US" sz="32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7" y="1156776"/>
            <a:ext cx="12806243" cy="6214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5907" y="7576579"/>
            <a:ext cx="12783754" cy="41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050"/>
              </a:lnSpc>
            </a:pPr>
            <a:r>
              <a:rPr lang="en-US" sz="1600" b="1">
                <a:solidFill>
                  <a:srgbClr val="282824"/>
                </a:solidFill>
                <a:latin typeface="Lato Bold"/>
                <a:ea typeface="Lato Bold"/>
                <a:cs typeface="Lato Bold"/>
              </a:rPr>
              <a:t>Model of Graph: </a:t>
            </a:r>
            <a:r>
              <a:rPr lang="en-US" sz="1600">
                <a:solidFill>
                  <a:srgbClr val="4A4A45"/>
                </a:solidFill>
                <a:latin typeface="Lato"/>
                <a:ea typeface="Lato"/>
                <a:cs typeface="Lato"/>
              </a:rPr>
              <a:t>The interactive graph allows users to explore connections by clicking on nodes.</a:t>
            </a:r>
            <a:endParaRPr lang="en-US" sz="1600">
              <a:solidFill>
                <a:srgbClr val="282824"/>
              </a:solidFill>
              <a:latin typeface="Lato"/>
              <a:ea typeface="Lato"/>
              <a:cs typeface="Lato"/>
            </a:endParaRPr>
          </a:p>
          <a:p>
            <a:pPr marL="0" indent="0" algn="l">
              <a:lnSpc>
                <a:spcPts val="2050"/>
              </a:lnSpc>
              <a:buNone/>
            </a:pPr>
            <a:endParaRPr lang="en-US" sz="1600" b="1">
              <a:solidFill>
                <a:srgbClr val="282824"/>
              </a:solidFill>
              <a:latin typeface="Lato Bold"/>
              <a:ea typeface="Lato Bold"/>
              <a:cs typeface="Lato 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4D5F2B-C223-2C18-B914-EF483E951945}"/>
              </a:ext>
            </a:extLst>
          </p:cNvPr>
          <p:cNvSpPr/>
          <p:nvPr/>
        </p:nvSpPr>
        <p:spPr>
          <a:xfrm>
            <a:off x="12434818" y="7543976"/>
            <a:ext cx="2247076" cy="6878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109F0E6-8A88-CFED-8B3F-C097BF95AFD3}"/>
              </a:ext>
            </a:extLst>
          </p:cNvPr>
          <p:cNvSpPr/>
          <p:nvPr/>
        </p:nvSpPr>
        <p:spPr>
          <a:xfrm>
            <a:off x="7563061" y="-7342"/>
            <a:ext cx="7074962" cy="8232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290484" y="760095"/>
            <a:ext cx="7024687" cy="55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800" b="1">
                <a:solidFill>
                  <a:srgbClr val="282824"/>
                </a:solidFill>
                <a:latin typeface="Lato Bold"/>
                <a:ea typeface="Lato Bold"/>
                <a:cs typeface="Lato Bold"/>
              </a:rPr>
              <a:t>Key Features: Paper Summarization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8292" y="1934614"/>
            <a:ext cx="6481405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When a user clicks on a paper node, ScholarSphere provides a concise summary and metadata :</a:t>
            </a:r>
            <a:endParaRPr lang="en-US" sz="135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3206" y="2698638"/>
            <a:ext cx="621649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883206" y="2841926"/>
            <a:ext cx="621649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Paper title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3206" y="3264194"/>
            <a:ext cx="621649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Authors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3206" y="3667008"/>
            <a:ext cx="621649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Publication Date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3206" y="4102248"/>
            <a:ext cx="6216491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Conference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8292" y="2698638"/>
            <a:ext cx="22860" cy="1757601"/>
          </a:xfrm>
          <a:prstGeom prst="rect">
            <a:avLst/>
          </a:prstGeom>
          <a:solidFill>
            <a:srgbClr val="282824"/>
          </a:solidFill>
          <a:ln/>
        </p:spPr>
      </p:sp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1C7BB531-9492-E664-9FB1-B845C769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040" y="637547"/>
            <a:ext cx="4141659" cy="7042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65DAA66-24B2-DB7D-E916-A67710443ADE}"/>
              </a:ext>
            </a:extLst>
          </p:cNvPr>
          <p:cNvSpPr/>
          <p:nvPr/>
        </p:nvSpPr>
        <p:spPr>
          <a:xfrm>
            <a:off x="7563061" y="5015"/>
            <a:ext cx="7074962" cy="82320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09" y="790932"/>
            <a:ext cx="7297726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2400" b="1">
                <a:solidFill>
                  <a:srgbClr val="282824"/>
                </a:solidFill>
                <a:latin typeface="Lato Bold"/>
                <a:ea typeface="Lato Bold"/>
                <a:cs typeface="Lato Bold"/>
              </a:rPr>
              <a:t>Key Features: Faculty profile Summarization</a:t>
            </a:r>
            <a:endParaRPr lang="en-US" sz="2400">
              <a:latin typeface="Lato Bold"/>
              <a:ea typeface="Lato Bold"/>
              <a:cs typeface="Lato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0502" y="2756436"/>
            <a:ext cx="6429256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>
                <a:solidFill>
                  <a:srgbClr val="4A4A45"/>
                </a:solidFill>
                <a:latin typeface="Lato"/>
                <a:ea typeface="Lato"/>
                <a:cs typeface="Lato"/>
              </a:rPr>
              <a:t>When a user clicks on a faculty node, ScholarSphere provides a concise summary and metadata:</a:t>
            </a:r>
            <a:endParaRPr lang="en-US" sz="2000">
              <a:latin typeface="Lato"/>
              <a:ea typeface="Lato"/>
              <a:cs typeface="Lato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8451" y="3808273"/>
            <a:ext cx="61477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Arial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Name of faculty</a:t>
            </a:r>
            <a:endParaRPr lang="en-US" sz="1450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38451" y="4167251"/>
            <a:ext cx="61477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Arial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Department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8451" y="4565140"/>
            <a:ext cx="6147792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350"/>
              </a:lnSpc>
              <a:buFont typeface="Arial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Research areas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0502" y="3808273"/>
            <a:ext cx="22860" cy="1238845"/>
          </a:xfrm>
          <a:prstGeom prst="rect">
            <a:avLst/>
          </a:prstGeom>
          <a:solidFill>
            <a:srgbClr val="282824"/>
          </a:solidFill>
          <a:ln/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269FD-91C9-2B35-4CF3-A92D9684A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578" y="664074"/>
            <a:ext cx="4160253" cy="6981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5280" y="486966"/>
            <a:ext cx="4439722" cy="55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450" b="1">
                <a:solidFill>
                  <a:srgbClr val="282824"/>
                </a:solidFill>
                <a:latin typeface="Lato Bold"/>
                <a:ea typeface="Lato Bold"/>
                <a:cs typeface="Lato Bold"/>
              </a:rPr>
              <a:t>Architecture overview</a:t>
            </a:r>
            <a:endParaRPr lang="en-US" sz="4450">
              <a:latin typeface="Calibri"/>
              <a:ea typeface="Calibri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91" y="1391126"/>
            <a:ext cx="882134" cy="1058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73957" y="1567458"/>
            <a:ext cx="3966815" cy="243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Data Acquisition from sources</a:t>
            </a:r>
            <a:endParaRPr lang="en-US" sz="2000">
              <a:latin typeface="Lato Bold"/>
              <a:ea typeface="Lato Bold"/>
              <a:cs typeface="Lato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73957" y="1948934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DBLP, ORCID, </a:t>
            </a:r>
            <a:r>
              <a:rPr lang="en-US" err="1">
                <a:solidFill>
                  <a:srgbClr val="4A4A45"/>
                </a:solidFill>
                <a:latin typeface="Lato"/>
                <a:ea typeface="Lato"/>
                <a:cs typeface="Lato"/>
              </a:rPr>
              <a:t>OpenAlex</a:t>
            </a: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, etc.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91" y="2449711"/>
            <a:ext cx="882134" cy="1058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73957" y="2626043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Scraper Service</a:t>
            </a:r>
            <a:endParaRPr lang="en-US" sz="2000">
              <a:latin typeface="Lato Bold"/>
              <a:ea typeface="Lato Bold"/>
              <a:cs typeface="Lato Bold"/>
            </a:endParaRPr>
          </a:p>
        </p:txBody>
      </p:sp>
      <p:sp>
        <p:nvSpPr>
          <p:cNvPr id="8" name="Text 4"/>
          <p:cNvSpPr/>
          <p:nvPr/>
        </p:nvSpPr>
        <p:spPr>
          <a:xfrm>
            <a:off x="2073957" y="3007519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Periodic data collection and cleaning.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491" y="3508296"/>
            <a:ext cx="882134" cy="10585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73957" y="368462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Database Layer</a:t>
            </a:r>
            <a:endParaRPr lang="en-US" sz="2000">
              <a:latin typeface="Lato Bold"/>
              <a:ea typeface="Lato Bold"/>
              <a:cs typeface="Lato Bold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073957" y="4066103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Neo4j Graph DB, PostgreSQL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491" y="4566880"/>
            <a:ext cx="882134" cy="10585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73957" y="4743212"/>
            <a:ext cx="4426274" cy="81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Graph Service &amp; Summarization API</a:t>
            </a:r>
            <a:endParaRPr lang="en-US" sz="2000">
              <a:latin typeface="Lato Bold"/>
              <a:ea typeface="Lato Bold"/>
              <a:cs typeface="Lato Bold"/>
            </a:endParaRPr>
          </a:p>
        </p:txBody>
      </p:sp>
      <p:sp>
        <p:nvSpPr>
          <p:cNvPr id="14" name="Text 8"/>
          <p:cNvSpPr/>
          <p:nvPr/>
        </p:nvSpPr>
        <p:spPr>
          <a:xfrm>
            <a:off x="2073957" y="5124688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REST endpoints, LLM integration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491" y="5625465"/>
            <a:ext cx="882134" cy="10585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73957" y="5801797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Frontend</a:t>
            </a:r>
            <a:endParaRPr lang="en-US" sz="2000">
              <a:latin typeface="Lato Bold"/>
              <a:ea typeface="Lato Bold"/>
              <a:cs typeface="Lato Bold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2073957" y="6183273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Thymeleaf / React + Cytoscape.js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491" y="6684050"/>
            <a:ext cx="882134" cy="105858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073957" y="6860381"/>
            <a:ext cx="2205514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User Interaction</a:t>
            </a:r>
            <a:endParaRPr lang="en-US" sz="2000">
              <a:latin typeface="Lato Bold"/>
              <a:ea typeface="Lato Bold"/>
              <a:cs typeface="Lato Bold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073957" y="7241858"/>
            <a:ext cx="12337018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Visualization, search, and exploration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1DC40A-0961-3B55-3C58-158E77E730C1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4322" y="497324"/>
            <a:ext cx="4521756" cy="565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endParaRPr lang="en-US" sz="4450" b="1">
              <a:solidFill>
                <a:srgbClr val="282824"/>
              </a:solidFill>
              <a:latin typeface="Lato Bold"/>
              <a:ea typeface="Lato Bold"/>
              <a:cs typeface="Lato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2936" y="1424226"/>
            <a:ext cx="13364528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813792" y="3056241"/>
            <a:ext cx="623006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3792" y="3687645"/>
            <a:ext cx="6230064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045723" y="2906190"/>
            <a:ext cx="623018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586424" y="3546122"/>
            <a:ext cx="623018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13792" y="5028527"/>
            <a:ext cx="3464111" cy="27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2000" b="1">
              <a:solidFill>
                <a:srgbClr val="4A4A45"/>
              </a:solidFill>
              <a:latin typeface="Lato Bold"/>
              <a:ea typeface="Lato Bold"/>
              <a:cs typeface="Lato Bold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13792" y="5490864"/>
            <a:ext cx="623006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13792" y="6230006"/>
            <a:ext cx="623006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13792" y="6975634"/>
            <a:ext cx="623006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586424" y="5029676"/>
            <a:ext cx="3146852" cy="256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2000" b="1">
              <a:solidFill>
                <a:srgbClr val="4A4A45"/>
              </a:solidFill>
              <a:latin typeface="Lato Bold"/>
              <a:ea typeface="Lato Bold"/>
              <a:cs typeface="Lato Bold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7586424" y="5773222"/>
            <a:ext cx="623018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endParaRPr lang="en-US">
              <a:solidFill>
                <a:srgbClr val="4A4A45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8821D8-AB89-450A-A613-D6FF4BE3A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41" y="601692"/>
            <a:ext cx="11518018" cy="71355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579E0BB-75E4-6E49-24B8-2BA921E682ED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9701" y="7359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Technology Stack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315" y="2263469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78379" y="24232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Backend</a:t>
            </a:r>
            <a:endParaRPr lang="en-US" sz="2400">
              <a:latin typeface="Lato Bold"/>
              <a:ea typeface="Lato Bold"/>
              <a:cs typeface="Lato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2235315" y="3048744"/>
            <a:ext cx="4873537" cy="35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Spring Boot (REST API and services)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35315" y="3532068"/>
            <a:ext cx="5207024" cy="368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Open Source LLM (AI powered summarization)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618" y="2263469"/>
            <a:ext cx="680442" cy="6858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93771" y="24232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Database</a:t>
            </a:r>
            <a:endParaRPr lang="en-US" sz="2400">
              <a:latin typeface="Lato Bold"/>
              <a:ea typeface="Lato Bold"/>
              <a:cs typeface="Lato Bold"/>
            </a:endParaRPr>
          </a:p>
        </p:txBody>
      </p:sp>
      <p:sp>
        <p:nvSpPr>
          <p:cNvPr id="9" name="Text 5"/>
          <p:cNvSpPr/>
          <p:nvPr/>
        </p:nvSpPr>
        <p:spPr>
          <a:xfrm>
            <a:off x="8489618" y="3064881"/>
            <a:ext cx="3545086" cy="341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Neo4j (Graph database)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489618" y="3526689"/>
            <a:ext cx="3808649" cy="373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PostgresSQL (Summary storage)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315" y="4976546"/>
            <a:ext cx="680442" cy="6804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78379" y="5142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Frontend</a:t>
            </a:r>
            <a:endParaRPr lang="en-US" sz="2400">
              <a:latin typeface="Lato Bold"/>
              <a:ea typeface="Lato Bold"/>
              <a:cs typeface="Lato Bold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235315" y="5853721"/>
            <a:ext cx="4857400" cy="379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React.js/Thymeleaf (UI framework)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14" name="Text 9"/>
          <p:cNvSpPr/>
          <p:nvPr/>
        </p:nvSpPr>
        <p:spPr>
          <a:xfrm>
            <a:off x="2235315" y="6203220"/>
            <a:ext cx="5077932" cy="41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Cytoscape.js (Graph visualization)</a:t>
            </a:r>
            <a:endParaRPr lang="en-US">
              <a:latin typeface="Lato"/>
              <a:ea typeface="Lato"/>
              <a:cs typeface="Lato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618" y="4976546"/>
            <a:ext cx="680442" cy="6804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93771" y="5142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Deployment</a:t>
            </a:r>
            <a:endParaRPr lang="en-US" sz="2400">
              <a:latin typeface="Lato Bold"/>
              <a:ea typeface="Lato Bold"/>
              <a:cs typeface="Lato Bold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489618" y="585372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Docker (Containerization)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8489618" y="6257008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>
                <a:solidFill>
                  <a:srgbClr val="4A4A45"/>
                </a:solidFill>
                <a:latin typeface="Lato"/>
                <a:ea typeface="Lato"/>
                <a:cs typeface="Lato"/>
              </a:rPr>
              <a:t>AWS EC2(Cloud hosting)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23681-9D20-39C4-57EA-6250671F42F8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16956" y="2208133"/>
            <a:ext cx="9996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b="1">
                <a:solidFill>
                  <a:srgbClr val="282824"/>
                </a:solidFill>
                <a:latin typeface="Lato Bold"/>
                <a:ea typeface="Lato Bold"/>
                <a:cs typeface="Lato Bold"/>
              </a:rPr>
              <a:t>Long Term Functionality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33705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4" name="Shape 2"/>
          <p:cNvSpPr/>
          <p:nvPr/>
        </p:nvSpPr>
        <p:spPr>
          <a:xfrm>
            <a:off x="793790" y="3988594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215408"/>
            <a:ext cx="3348706" cy="308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Metadata for dead nodes</a:t>
            </a:r>
          </a:p>
        </p:txBody>
      </p:sp>
      <p:sp>
        <p:nvSpPr>
          <p:cNvPr id="6" name="Text 4"/>
          <p:cNvSpPr/>
          <p:nvPr/>
        </p:nvSpPr>
        <p:spPr>
          <a:xfrm>
            <a:off x="1020604" y="47058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</a:rPr>
              <a:t>Retain and display metadata even for dead/inactive nodes.</a:t>
            </a:r>
          </a:p>
        </p:txBody>
      </p:sp>
      <p:sp>
        <p:nvSpPr>
          <p:cNvPr id="7" name="Shape 5"/>
          <p:cNvSpPr/>
          <p:nvPr/>
        </p:nvSpPr>
        <p:spPr>
          <a:xfrm>
            <a:off x="5216962" y="3988594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215408"/>
            <a:ext cx="31003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Graph Expansion</a:t>
            </a:r>
          </a:p>
        </p:txBody>
      </p:sp>
      <p:sp>
        <p:nvSpPr>
          <p:cNvPr id="9" name="Text 7"/>
          <p:cNvSpPr/>
          <p:nvPr/>
        </p:nvSpPr>
        <p:spPr>
          <a:xfrm>
            <a:off x="5443776" y="47058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</a:rPr>
              <a:t>Builds a knowledge graph to visually map the relationships between faculty and domain of papers .</a:t>
            </a:r>
            <a:endParaRPr lang="en-US" sz="1750">
              <a:latin typeface="Lato"/>
              <a:ea typeface="Lato"/>
              <a:cs typeface="Lat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40133" y="3988594"/>
            <a:ext cx="4196358" cy="2032754"/>
          </a:xfrm>
          <a:prstGeom prst="roundRect">
            <a:avLst>
              <a:gd name="adj" fmla="val 26781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215408"/>
            <a:ext cx="29914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4A4A45"/>
                </a:solidFill>
                <a:latin typeface="Lato Bold"/>
                <a:ea typeface="Lato Bold"/>
                <a:cs typeface="Lato Bold"/>
              </a:rPr>
              <a:t>Beyond IISc faculty </a:t>
            </a:r>
          </a:p>
        </p:txBody>
      </p:sp>
      <p:sp>
        <p:nvSpPr>
          <p:cNvPr id="12" name="Text 10"/>
          <p:cNvSpPr/>
          <p:nvPr/>
        </p:nvSpPr>
        <p:spPr>
          <a:xfrm>
            <a:off x="9866948" y="470582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</a:rPr>
              <a:t>Expand </a:t>
            </a:r>
            <a:r>
              <a:rPr lang="en-US" sz="1750" err="1">
                <a:solidFill>
                  <a:srgbClr val="4A4A45"/>
                </a:solidFill>
                <a:latin typeface="Lato"/>
                <a:ea typeface="Lato"/>
                <a:cs typeface="Lato"/>
              </a:rPr>
              <a:t>ScholarSphere</a:t>
            </a:r>
            <a:r>
              <a:rPr lang="en-US" sz="1750">
                <a:solidFill>
                  <a:srgbClr val="4A4A45"/>
                </a:solidFill>
                <a:latin typeface="Lato"/>
                <a:ea typeface="Lato"/>
                <a:cs typeface="Lato"/>
              </a:rPr>
              <a:t> to include faculty from other institutes.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207156-0139-6E41-9AD9-AAA2BDAC7DFA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70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project timeline&#10;&#10;AI-generated content may be incorrect.">
            <a:extLst>
              <a:ext uri="{FF2B5EF4-FFF2-40B4-BE49-F238E27FC236}">
                <a16:creationId xmlns:a16="http://schemas.microsoft.com/office/drawing/2014/main" id="{428624B7-C883-1B10-F808-DF7F1B8E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35" y="1087701"/>
            <a:ext cx="13171617" cy="56938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CF30A3-7422-44F3-6BB5-A99688234ADD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67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43307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b="1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Thank You!</a:t>
            </a:r>
            <a:endParaRPr lang="en-US" sz="13350"/>
          </a:p>
        </p:txBody>
      </p:sp>
      <p:sp>
        <p:nvSpPr>
          <p:cNvPr id="3" name="Text 1"/>
          <p:cNvSpPr/>
          <p:nvPr/>
        </p:nvSpPr>
        <p:spPr>
          <a:xfrm>
            <a:off x="793790" y="52233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ED1BE-BCBF-D472-7C3F-7A0EC680C2C6}"/>
              </a:ext>
            </a:extLst>
          </p:cNvPr>
          <p:cNvSpPr/>
          <p:nvPr/>
        </p:nvSpPr>
        <p:spPr>
          <a:xfrm>
            <a:off x="11251477" y="7145944"/>
            <a:ext cx="3462689" cy="10858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13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4</cp:revision>
  <dcterms:created xsi:type="dcterms:W3CDTF">2025-09-12T14:34:32Z</dcterms:created>
  <dcterms:modified xsi:type="dcterms:W3CDTF">2025-09-14T10:49:26Z</dcterms:modified>
</cp:coreProperties>
</file>