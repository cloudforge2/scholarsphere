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71" r:id="rId12"/>
    <p:sldId id="268" r:id="rId13"/>
    <p:sldId id="266" r:id="rId14"/>
    <p:sldId id="277" r:id="rId15"/>
    <p:sldId id="272" r:id="rId16"/>
    <p:sldId id="273" r:id="rId17"/>
    <p:sldId id="274" r:id="rId18"/>
    <p:sldId id="282" r:id="rId19"/>
    <p:sldId id="276" r:id="rId20"/>
    <p:sldId id="275" r:id="rId21"/>
    <p:sldId id="281" r:id="rId22"/>
    <p:sldId id="278" r:id="rId23"/>
    <p:sldId id="279" r:id="rId24"/>
    <p:sldId id="280" r:id="rId25"/>
  </p:sldIdLst>
  <p:sldSz cx="14630400" cy="8229600"/>
  <p:notesSz cx="8229600" cy="14630400"/>
  <p:embeddedFontLst>
    <p:embeddedFont>
      <p:font typeface="Lato" panose="020F0502020204030203" pitchFamily="34" charset="0"/>
      <p:regular r:id="rId27"/>
      <p:bold r:id="rId28"/>
      <p:italic r:id="rId29"/>
      <p:boldItalic r:id="rId30"/>
    </p:embeddedFont>
    <p:embeddedFont>
      <p:font typeface="Lato Bold" panose="020F0502020204030203" pitchFamily="34" charset="0"/>
      <p:bold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EB323A-CA9B-506B-911C-F955F02F618B}" v="296" dt="2025-10-10T06:41:14.616"/>
    <p1510:client id="{28C67A93-47D1-FCFA-E525-F7706A6A7A72}" v="14" dt="2025-10-09T16:36:30.346"/>
    <p1510:client id="{3D198748-DF16-35CF-BCDF-9E0C2497CE1C}" v="270" dt="2025-10-10T07:51:19.889"/>
    <p1510:client id="{448241DF-204A-D7B9-20C7-F6B6950B2FC5}" v="3" dt="2025-10-10T06:16:56.275"/>
    <p1510:client id="{8C8F5A02-8025-0097-1367-4549DD1F3C8C}" v="1238" dt="2025-10-09T17:17:26.668"/>
    <p1510:client id="{A8B5902A-18EC-E1FD-D58F-D96EAAF43643}" v="136" dt="2025-10-09T17:56:48.964"/>
    <p1510:client id="{E12F4150-8E01-E4D7-2404-B90378CF168B}" v="46" dt="2025-10-09T16:32:12.560"/>
    <p1510:client id="{E8CB18CF-6DB3-A0BE-DCC3-D2943C34D991}" v="285" dt="2025-10-10T06:19:18.982"/>
    <p1510:client id="{EBD02182-B6C0-D10C-75FC-50C8FF50F731}" v="397" dt="2025-10-10T07:19:50.9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tableStyles" Target="tableStyle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CCEF0C3-5B54-4279-B97B-217562FFC429}" type="doc">
      <dgm:prSet loTypeId="urn:microsoft.com/office/officeart/2016/7/layout/BasicTimeline" loCatId="timeline" qsTypeId="urn:microsoft.com/office/officeart/2005/8/quickstyle/simple1" qsCatId="simple" csTypeId="urn:microsoft.com/office/officeart/2005/8/colors/accent1_2" csCatId="accent1" phldr="1"/>
      <dgm:spPr/>
      <dgm:t>
        <a:bodyPr/>
        <a:lstStyle/>
        <a:p>
          <a:endParaRPr lang="en-US"/>
        </a:p>
      </dgm:t>
    </dgm:pt>
    <dgm:pt modelId="{47B381F3-ABE0-4997-B892-CA5B9C8F9CE3}">
      <dgm:prSet phldrT="[Text]" phldr="0" custT="1"/>
      <dgm:spPr/>
      <dgm:t>
        <a:bodyPr/>
        <a:lstStyle/>
        <a:p>
          <a:pPr>
            <a:defRPr b="1"/>
          </a:pPr>
          <a:r>
            <a:rPr lang="en-US" sz="2000">
              <a:latin typeface="Calibri Light" panose="020F0302020204030204"/>
            </a:rPr>
            <a:t>Week 5(11 – 17 oct)</a:t>
          </a:r>
          <a:endParaRPr lang="en-US" sz="2000"/>
        </a:p>
      </dgm:t>
    </dgm:pt>
    <dgm:pt modelId="{51C554A6-38D8-4EE1-9A71-2031ADEEFA45}" type="parTrans" cxnId="{3F587C21-8D2B-449C-A383-0C6CC2731B4F}">
      <dgm:prSet/>
      <dgm:spPr/>
      <dgm:t>
        <a:bodyPr/>
        <a:lstStyle/>
        <a:p>
          <a:endParaRPr lang="en-US"/>
        </a:p>
      </dgm:t>
    </dgm:pt>
    <dgm:pt modelId="{21EC3DAC-A302-46A1-AE9E-B7250DEC421D}" type="sibTrans" cxnId="{3F587C21-8D2B-449C-A383-0C6CC2731B4F}">
      <dgm:prSet/>
      <dgm:spPr/>
      <dgm:t>
        <a:bodyPr/>
        <a:lstStyle/>
        <a:p>
          <a:endParaRPr lang="en-US"/>
        </a:p>
      </dgm:t>
    </dgm:pt>
    <dgm:pt modelId="{B9B17AB8-2FE5-4627-BC7D-825C8F1696A4}">
      <dgm:prSet phldrT="[Text]" phldr="0" custT="1"/>
      <dgm:spPr/>
      <dgm:t>
        <a:bodyPr/>
        <a:lstStyle/>
        <a:p>
          <a:pPr rtl="0"/>
          <a:r>
            <a:rPr lang="en-US" sz="2000" b="1">
              <a:solidFill>
                <a:srgbClr val="C00000"/>
              </a:solidFill>
              <a:latin typeface="Calibri Light" panose="020F0302020204030204"/>
            </a:rPr>
            <a:t>Co-Authorship graph + Paper summarization</a:t>
          </a:r>
          <a:endParaRPr lang="en-US" sz="2000" b="1">
            <a:solidFill>
              <a:srgbClr val="C00000"/>
            </a:solidFill>
          </a:endParaRPr>
        </a:p>
      </dgm:t>
    </dgm:pt>
    <dgm:pt modelId="{5BCD381A-C55C-47FE-9E60-A87B0EF6FD5B}" type="parTrans" cxnId="{C2933DFB-8D12-4CFE-A7CB-5C02438C9600}">
      <dgm:prSet/>
      <dgm:spPr/>
      <dgm:t>
        <a:bodyPr/>
        <a:lstStyle/>
        <a:p>
          <a:endParaRPr lang="en-US"/>
        </a:p>
      </dgm:t>
    </dgm:pt>
    <dgm:pt modelId="{093761E7-0386-48EE-A232-FC5CF1E7BEDF}" type="sibTrans" cxnId="{C2933DFB-8D12-4CFE-A7CB-5C02438C9600}">
      <dgm:prSet/>
      <dgm:spPr/>
      <dgm:t>
        <a:bodyPr/>
        <a:lstStyle/>
        <a:p>
          <a:endParaRPr lang="en-US"/>
        </a:p>
      </dgm:t>
    </dgm:pt>
    <dgm:pt modelId="{A3A51962-6A5E-4ABA-B8C3-91479EBB06F2}">
      <dgm:prSet phldrT="[Text]" phldr="0" custT="1"/>
      <dgm:spPr/>
      <dgm:t>
        <a:bodyPr/>
        <a:lstStyle/>
        <a:p>
          <a:pPr>
            <a:defRPr b="1"/>
          </a:pPr>
          <a:r>
            <a:rPr lang="en-US" sz="2000">
              <a:latin typeface="Calibri Light" panose="020F0302020204030204"/>
            </a:rPr>
            <a:t>Week 6(18 –24 oct)</a:t>
          </a:r>
          <a:endParaRPr lang="en-US" sz="2000"/>
        </a:p>
      </dgm:t>
    </dgm:pt>
    <dgm:pt modelId="{089BAEDC-5453-470B-AAA0-933FFD2FFB06}" type="parTrans" cxnId="{3836DD65-52C0-47CC-B5D9-91A68F24721B}">
      <dgm:prSet/>
      <dgm:spPr/>
      <dgm:t>
        <a:bodyPr/>
        <a:lstStyle/>
        <a:p>
          <a:endParaRPr lang="en-US"/>
        </a:p>
      </dgm:t>
    </dgm:pt>
    <dgm:pt modelId="{812CF5C6-B155-4D7C-BADB-A6F8809C64A5}" type="sibTrans" cxnId="{3836DD65-52C0-47CC-B5D9-91A68F24721B}">
      <dgm:prSet/>
      <dgm:spPr/>
      <dgm:t>
        <a:bodyPr/>
        <a:lstStyle/>
        <a:p>
          <a:endParaRPr lang="en-US"/>
        </a:p>
      </dgm:t>
    </dgm:pt>
    <dgm:pt modelId="{7BA505D4-BF22-4284-9E75-4DF2BCFB114B}">
      <dgm:prSet phldrT="[Text]" phldr="0" custT="1"/>
      <dgm:spPr/>
      <dgm:t>
        <a:bodyPr/>
        <a:lstStyle/>
        <a:p>
          <a:pPr rtl="0"/>
          <a:r>
            <a:rPr lang="en-US" sz="2000" b="1">
              <a:solidFill>
                <a:srgbClr val="C00000"/>
              </a:solidFill>
              <a:latin typeface="Calibri Light" panose="020F0302020204030204"/>
            </a:rPr>
            <a:t>Filters for search + Integrated Testing with extended dataset</a:t>
          </a:r>
          <a:endParaRPr lang="en-US" sz="2000" b="1">
            <a:solidFill>
              <a:srgbClr val="C00000"/>
            </a:solidFill>
          </a:endParaRPr>
        </a:p>
      </dgm:t>
    </dgm:pt>
    <dgm:pt modelId="{98DB38E1-A723-4254-AEE7-DF7F4453F4E3}" type="parTrans" cxnId="{25FEF954-570F-4C93-940F-C4D00B29E540}">
      <dgm:prSet/>
      <dgm:spPr/>
      <dgm:t>
        <a:bodyPr/>
        <a:lstStyle/>
        <a:p>
          <a:endParaRPr lang="en-US"/>
        </a:p>
      </dgm:t>
    </dgm:pt>
    <dgm:pt modelId="{FFF81B6C-D3A8-4B44-AEBE-61673845180C}" type="sibTrans" cxnId="{25FEF954-570F-4C93-940F-C4D00B29E540}">
      <dgm:prSet/>
      <dgm:spPr/>
      <dgm:t>
        <a:bodyPr/>
        <a:lstStyle/>
        <a:p>
          <a:endParaRPr lang="en-US"/>
        </a:p>
      </dgm:t>
    </dgm:pt>
    <dgm:pt modelId="{EBC92508-4349-4864-AEAD-8B5478AC1EF1}">
      <dgm:prSet phldrT="[Text]" phldr="0" custT="1"/>
      <dgm:spPr/>
      <dgm:t>
        <a:bodyPr/>
        <a:lstStyle/>
        <a:p>
          <a:pPr>
            <a:defRPr b="1"/>
          </a:pPr>
          <a:r>
            <a:rPr lang="en-US" sz="2000">
              <a:latin typeface="Calibri Light" panose="020F0302020204030204"/>
            </a:rPr>
            <a:t>Week 7(25-31 oct)</a:t>
          </a:r>
          <a:endParaRPr lang="en-US" sz="2000"/>
        </a:p>
      </dgm:t>
    </dgm:pt>
    <dgm:pt modelId="{533215AF-65E1-49BD-BEBB-6077AABD604A}" type="parTrans" cxnId="{DB20E0FE-F4AB-41EC-A8B0-B3D67F6E1531}">
      <dgm:prSet/>
      <dgm:spPr/>
      <dgm:t>
        <a:bodyPr/>
        <a:lstStyle/>
        <a:p>
          <a:endParaRPr lang="en-US"/>
        </a:p>
      </dgm:t>
    </dgm:pt>
    <dgm:pt modelId="{8877BDDE-47A8-4180-81E8-B42FCF7C6050}" type="sibTrans" cxnId="{DB20E0FE-F4AB-41EC-A8B0-B3D67F6E1531}">
      <dgm:prSet/>
      <dgm:spPr/>
      <dgm:t>
        <a:bodyPr/>
        <a:lstStyle/>
        <a:p>
          <a:endParaRPr lang="en-US"/>
        </a:p>
      </dgm:t>
    </dgm:pt>
    <dgm:pt modelId="{3EC4E9EB-A802-49EA-BBB8-2A65525172A1}">
      <dgm:prSet phldrT="[Text]" phldr="0" custT="1"/>
      <dgm:spPr/>
      <dgm:t>
        <a:bodyPr/>
        <a:lstStyle/>
        <a:p>
          <a:pPr rtl="0"/>
          <a:r>
            <a:rPr lang="en-US" sz="2000" b="1">
              <a:solidFill>
                <a:srgbClr val="C00000"/>
              </a:solidFill>
              <a:latin typeface="Calibri Light" panose="020F0302020204030204"/>
            </a:rPr>
            <a:t>UI polish + performance testing</a:t>
          </a:r>
          <a:endParaRPr lang="en-US" sz="2000" b="1">
            <a:solidFill>
              <a:srgbClr val="C00000"/>
            </a:solidFill>
          </a:endParaRPr>
        </a:p>
      </dgm:t>
    </dgm:pt>
    <dgm:pt modelId="{09FE8D34-84A1-4057-A6BD-D8EAE9295CF0}" type="parTrans" cxnId="{7F88B9E8-3FD8-43D7-B5F3-94F75A7EAE01}">
      <dgm:prSet/>
      <dgm:spPr/>
      <dgm:t>
        <a:bodyPr/>
        <a:lstStyle/>
        <a:p>
          <a:endParaRPr lang="en-US"/>
        </a:p>
      </dgm:t>
    </dgm:pt>
    <dgm:pt modelId="{DE411CAA-0A01-46FF-96C0-E49F273F34A9}" type="sibTrans" cxnId="{7F88B9E8-3FD8-43D7-B5F3-94F75A7EAE01}">
      <dgm:prSet/>
      <dgm:spPr/>
      <dgm:t>
        <a:bodyPr/>
        <a:lstStyle/>
        <a:p>
          <a:endParaRPr lang="en-US"/>
        </a:p>
      </dgm:t>
    </dgm:pt>
    <dgm:pt modelId="{672CF1F4-954B-4A9E-8AA9-52B414907710}" type="pres">
      <dgm:prSet presAssocID="{2CCEF0C3-5B54-4279-B97B-217562FFC429}" presName="root" presStyleCnt="0">
        <dgm:presLayoutVars>
          <dgm:chMax/>
          <dgm:chPref/>
          <dgm:animLvl val="lvl"/>
        </dgm:presLayoutVars>
      </dgm:prSet>
      <dgm:spPr/>
    </dgm:pt>
    <dgm:pt modelId="{D4DBF12E-E90B-44FE-BA8F-75186AB20421}" type="pres">
      <dgm:prSet presAssocID="{2CCEF0C3-5B54-4279-B97B-217562FFC429}" presName="divider" presStyleLbl="fgAccFollowNode1" presStyleIdx="0" presStyleCnt="1"/>
      <dgm:spPr>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tailEnd type="triangle" w="lg" len="lg"/>
        </a:ln>
        <a:effectLst/>
      </dgm:spPr>
    </dgm:pt>
    <dgm:pt modelId="{0FE4B6D6-61B1-48D4-A9F7-2BE45C916206}" type="pres">
      <dgm:prSet presAssocID="{2CCEF0C3-5B54-4279-B97B-217562FFC429}" presName="nodes" presStyleCnt="0">
        <dgm:presLayoutVars>
          <dgm:chMax/>
          <dgm:chPref/>
          <dgm:animLvl val="lvl"/>
        </dgm:presLayoutVars>
      </dgm:prSet>
      <dgm:spPr/>
    </dgm:pt>
    <dgm:pt modelId="{A4E62123-3315-4FE1-B24F-404D6CBF8DD1}" type="pres">
      <dgm:prSet presAssocID="{47B381F3-ABE0-4997-B892-CA5B9C8F9CE3}" presName="composite" presStyleCnt="0"/>
      <dgm:spPr/>
    </dgm:pt>
    <dgm:pt modelId="{A8DFE19A-1D66-4CDD-8B64-4B7E76085D7C}" type="pres">
      <dgm:prSet presAssocID="{47B381F3-ABE0-4997-B892-CA5B9C8F9CE3}" presName="L1TextContainer" presStyleLbl="revTx" presStyleIdx="0" presStyleCnt="3">
        <dgm:presLayoutVars>
          <dgm:chMax val="1"/>
          <dgm:chPref val="1"/>
          <dgm:bulletEnabled val="1"/>
        </dgm:presLayoutVars>
      </dgm:prSet>
      <dgm:spPr/>
    </dgm:pt>
    <dgm:pt modelId="{F7C775CD-0837-4D0F-8CAC-823E3EF2D056}" type="pres">
      <dgm:prSet presAssocID="{47B381F3-ABE0-4997-B892-CA5B9C8F9CE3}" presName="L2TextContainerWrapper" presStyleCnt="0">
        <dgm:presLayoutVars>
          <dgm:chMax val="0"/>
          <dgm:chPref val="0"/>
          <dgm:bulletEnabled val="1"/>
        </dgm:presLayoutVars>
      </dgm:prSet>
      <dgm:spPr/>
    </dgm:pt>
    <dgm:pt modelId="{89D2FABA-064C-4A05-9CDC-277C02CD570E}" type="pres">
      <dgm:prSet presAssocID="{47B381F3-ABE0-4997-B892-CA5B9C8F9CE3}" presName="L2TextContainer" presStyleLbl="bgAcc1" presStyleIdx="0" presStyleCnt="3"/>
      <dgm:spPr/>
    </dgm:pt>
    <dgm:pt modelId="{5F501683-D50B-43A8-A480-D3BA88EC7251}" type="pres">
      <dgm:prSet presAssocID="{47B381F3-ABE0-4997-B892-CA5B9C8F9CE3}" presName="FlexibleEmptyPlaceHolder" presStyleCnt="0"/>
      <dgm:spPr/>
    </dgm:pt>
    <dgm:pt modelId="{9F41DA29-1829-4EC7-B2A3-6A7F5982847F}" type="pres">
      <dgm:prSet presAssocID="{47B381F3-ABE0-4997-B892-CA5B9C8F9CE3}" presName="ConnectLine" presStyleLbl="sibTrans1D1" presStyleIdx="0" presStyleCnt="3"/>
      <dgm:spPr>
        <a:noFill/>
        <a:ln w="6350" cap="flat" cmpd="sng" algn="ctr">
          <a:solidFill>
            <a:schemeClr val="accent1">
              <a:hueOff val="0"/>
              <a:satOff val="0"/>
              <a:lumOff val="0"/>
              <a:alphaOff val="0"/>
            </a:schemeClr>
          </a:solidFill>
          <a:prstDash val="dash"/>
          <a:miter lim="800000"/>
        </a:ln>
        <a:effectLst/>
      </dgm:spPr>
    </dgm:pt>
    <dgm:pt modelId="{DCD354C2-788B-4430-851B-70AC47A023C9}" type="pres">
      <dgm:prSet presAssocID="{47B381F3-ABE0-4997-B892-CA5B9C8F9CE3}" presName="ConnectorPoint" presStyleLbl="alignNode1" presStyleIdx="0" presStyleCnt="3"/>
      <dgm:spPr/>
    </dgm:pt>
    <dgm:pt modelId="{5B6F85DF-CDD9-497D-A4E0-943AA949597E}" type="pres">
      <dgm:prSet presAssocID="{47B381F3-ABE0-4997-B892-CA5B9C8F9CE3}" presName="EmptyPlaceHolder" presStyleCnt="0"/>
      <dgm:spPr/>
    </dgm:pt>
    <dgm:pt modelId="{5F1CBA4D-EBEB-46A8-96D4-F3112E43691E}" type="pres">
      <dgm:prSet presAssocID="{21EC3DAC-A302-46A1-AE9E-B7250DEC421D}" presName="spaceBetweenRectangles" presStyleCnt="0"/>
      <dgm:spPr/>
    </dgm:pt>
    <dgm:pt modelId="{A33FA622-DEB1-486B-BA12-7DAB2D6B42E2}" type="pres">
      <dgm:prSet presAssocID="{A3A51962-6A5E-4ABA-B8C3-91479EBB06F2}" presName="composite" presStyleCnt="0"/>
      <dgm:spPr/>
    </dgm:pt>
    <dgm:pt modelId="{3B951AA5-43BC-4882-BF99-47346417A212}" type="pres">
      <dgm:prSet presAssocID="{A3A51962-6A5E-4ABA-B8C3-91479EBB06F2}" presName="L1TextContainer" presStyleLbl="revTx" presStyleIdx="1" presStyleCnt="3">
        <dgm:presLayoutVars>
          <dgm:chMax val="1"/>
          <dgm:chPref val="1"/>
          <dgm:bulletEnabled val="1"/>
        </dgm:presLayoutVars>
      </dgm:prSet>
      <dgm:spPr/>
    </dgm:pt>
    <dgm:pt modelId="{5CE8E644-8CFD-47BE-A2DF-274CDE82D63B}" type="pres">
      <dgm:prSet presAssocID="{A3A51962-6A5E-4ABA-B8C3-91479EBB06F2}" presName="L2TextContainerWrapper" presStyleCnt="0">
        <dgm:presLayoutVars>
          <dgm:chMax val="0"/>
          <dgm:chPref val="0"/>
          <dgm:bulletEnabled val="1"/>
        </dgm:presLayoutVars>
      </dgm:prSet>
      <dgm:spPr/>
    </dgm:pt>
    <dgm:pt modelId="{394716F8-BB0F-4059-AACD-E4D751EF0D5B}" type="pres">
      <dgm:prSet presAssocID="{A3A51962-6A5E-4ABA-B8C3-91479EBB06F2}" presName="L2TextContainer" presStyleLbl="bgAcc1" presStyleIdx="1" presStyleCnt="3"/>
      <dgm:spPr/>
    </dgm:pt>
    <dgm:pt modelId="{CC00D8C5-D66B-49D4-ACC7-EDCC21021AE6}" type="pres">
      <dgm:prSet presAssocID="{A3A51962-6A5E-4ABA-B8C3-91479EBB06F2}" presName="FlexibleEmptyPlaceHolder" presStyleCnt="0"/>
      <dgm:spPr/>
    </dgm:pt>
    <dgm:pt modelId="{75CFB6F6-0743-4EF8-ABBA-0EDC226BADD3}" type="pres">
      <dgm:prSet presAssocID="{A3A51962-6A5E-4ABA-B8C3-91479EBB06F2}" presName="ConnectLine" presStyleLbl="sibTrans1D1" presStyleIdx="1" presStyleCnt="3"/>
      <dgm:spPr>
        <a:noFill/>
        <a:ln w="6350" cap="flat" cmpd="sng" algn="ctr">
          <a:solidFill>
            <a:schemeClr val="accent1">
              <a:hueOff val="0"/>
              <a:satOff val="0"/>
              <a:lumOff val="0"/>
              <a:alphaOff val="0"/>
            </a:schemeClr>
          </a:solidFill>
          <a:prstDash val="dash"/>
          <a:miter lim="800000"/>
        </a:ln>
        <a:effectLst/>
      </dgm:spPr>
    </dgm:pt>
    <dgm:pt modelId="{4229A4B2-63C5-4EB5-B2BB-49BED3D0EC92}" type="pres">
      <dgm:prSet presAssocID="{A3A51962-6A5E-4ABA-B8C3-91479EBB06F2}" presName="ConnectorPoint" presStyleLbl="alignNode1" presStyleIdx="1" presStyleCnt="3"/>
      <dgm:spPr/>
    </dgm:pt>
    <dgm:pt modelId="{ED475CE4-19EE-4E16-8475-EC3388E717CF}" type="pres">
      <dgm:prSet presAssocID="{A3A51962-6A5E-4ABA-B8C3-91479EBB06F2}" presName="EmptyPlaceHolder" presStyleCnt="0"/>
      <dgm:spPr/>
    </dgm:pt>
    <dgm:pt modelId="{DA89FD95-3C7A-4066-A01D-6DA144ABBAE8}" type="pres">
      <dgm:prSet presAssocID="{812CF5C6-B155-4D7C-BADB-A6F8809C64A5}" presName="spaceBetweenRectangles" presStyleCnt="0"/>
      <dgm:spPr/>
    </dgm:pt>
    <dgm:pt modelId="{4E4DE27D-467A-426E-8A7C-DAE1CC8566B3}" type="pres">
      <dgm:prSet presAssocID="{EBC92508-4349-4864-AEAD-8B5478AC1EF1}" presName="composite" presStyleCnt="0"/>
      <dgm:spPr/>
    </dgm:pt>
    <dgm:pt modelId="{517519CF-597F-4E0E-B42A-20033C11A58B}" type="pres">
      <dgm:prSet presAssocID="{EBC92508-4349-4864-AEAD-8B5478AC1EF1}" presName="L1TextContainer" presStyleLbl="revTx" presStyleIdx="2" presStyleCnt="3">
        <dgm:presLayoutVars>
          <dgm:chMax val="1"/>
          <dgm:chPref val="1"/>
          <dgm:bulletEnabled val="1"/>
        </dgm:presLayoutVars>
      </dgm:prSet>
      <dgm:spPr/>
    </dgm:pt>
    <dgm:pt modelId="{270DEAE0-4409-459B-BE94-FC1179972E87}" type="pres">
      <dgm:prSet presAssocID="{EBC92508-4349-4864-AEAD-8B5478AC1EF1}" presName="L2TextContainerWrapper" presStyleCnt="0">
        <dgm:presLayoutVars>
          <dgm:chMax val="0"/>
          <dgm:chPref val="0"/>
          <dgm:bulletEnabled val="1"/>
        </dgm:presLayoutVars>
      </dgm:prSet>
      <dgm:spPr/>
    </dgm:pt>
    <dgm:pt modelId="{19A58835-F393-49CD-A84E-A15FF3F0C5EA}" type="pres">
      <dgm:prSet presAssocID="{EBC92508-4349-4864-AEAD-8B5478AC1EF1}" presName="L2TextContainer" presStyleLbl="bgAcc1" presStyleIdx="2" presStyleCnt="3"/>
      <dgm:spPr/>
    </dgm:pt>
    <dgm:pt modelId="{320B83A6-A3F4-4D62-A6A9-A12DC14DB80D}" type="pres">
      <dgm:prSet presAssocID="{EBC92508-4349-4864-AEAD-8B5478AC1EF1}" presName="FlexibleEmptyPlaceHolder" presStyleCnt="0"/>
      <dgm:spPr/>
    </dgm:pt>
    <dgm:pt modelId="{5F302BD3-CB43-4F82-96FD-659707D24BB8}" type="pres">
      <dgm:prSet presAssocID="{EBC92508-4349-4864-AEAD-8B5478AC1EF1}" presName="ConnectLine" presStyleLbl="sibTrans1D1" presStyleIdx="2" presStyleCnt="3"/>
      <dgm:spPr>
        <a:noFill/>
        <a:ln w="6350" cap="flat" cmpd="sng" algn="ctr">
          <a:solidFill>
            <a:schemeClr val="accent1">
              <a:hueOff val="0"/>
              <a:satOff val="0"/>
              <a:lumOff val="0"/>
              <a:alphaOff val="0"/>
            </a:schemeClr>
          </a:solidFill>
          <a:prstDash val="dash"/>
          <a:miter lim="800000"/>
        </a:ln>
        <a:effectLst/>
      </dgm:spPr>
    </dgm:pt>
    <dgm:pt modelId="{6C406FA9-1009-42F2-B665-FC83E6F985D9}" type="pres">
      <dgm:prSet presAssocID="{EBC92508-4349-4864-AEAD-8B5478AC1EF1}" presName="ConnectorPoint" presStyleLbl="alignNode1" presStyleIdx="2" presStyleCnt="3"/>
      <dgm:spPr/>
    </dgm:pt>
    <dgm:pt modelId="{7EBCAF2F-2AF8-44FF-8E87-D53826D99190}" type="pres">
      <dgm:prSet presAssocID="{EBC92508-4349-4864-AEAD-8B5478AC1EF1}" presName="EmptyPlaceHolder" presStyleCnt="0"/>
      <dgm:spPr/>
    </dgm:pt>
  </dgm:ptLst>
  <dgm:cxnLst>
    <dgm:cxn modelId="{EC916A0F-F1C0-48D6-B0B9-FA505C396336}" type="presOf" srcId="{B9B17AB8-2FE5-4627-BC7D-825C8F1696A4}" destId="{89D2FABA-064C-4A05-9CDC-277C02CD570E}" srcOrd="0" destOrd="0" presId="urn:microsoft.com/office/officeart/2016/7/layout/BasicTimeline"/>
    <dgm:cxn modelId="{3F587C21-8D2B-449C-A383-0C6CC2731B4F}" srcId="{2CCEF0C3-5B54-4279-B97B-217562FFC429}" destId="{47B381F3-ABE0-4997-B892-CA5B9C8F9CE3}" srcOrd="0" destOrd="0" parTransId="{51C554A6-38D8-4EE1-9A71-2031ADEEFA45}" sibTransId="{21EC3DAC-A302-46A1-AE9E-B7250DEC421D}"/>
    <dgm:cxn modelId="{19426734-F81E-4A03-9E1F-8232D67C0CAA}" type="presOf" srcId="{EBC92508-4349-4864-AEAD-8B5478AC1EF1}" destId="{517519CF-597F-4E0E-B42A-20033C11A58B}" srcOrd="0" destOrd="0" presId="urn:microsoft.com/office/officeart/2016/7/layout/BasicTimeline"/>
    <dgm:cxn modelId="{D53C7339-410B-428C-B11C-DF105CB62231}" type="presOf" srcId="{47B381F3-ABE0-4997-B892-CA5B9C8F9CE3}" destId="{A8DFE19A-1D66-4CDD-8B64-4B7E76085D7C}" srcOrd="0" destOrd="0" presId="urn:microsoft.com/office/officeart/2016/7/layout/BasicTimeline"/>
    <dgm:cxn modelId="{3836DD65-52C0-47CC-B5D9-91A68F24721B}" srcId="{2CCEF0C3-5B54-4279-B97B-217562FFC429}" destId="{A3A51962-6A5E-4ABA-B8C3-91479EBB06F2}" srcOrd="1" destOrd="0" parTransId="{089BAEDC-5453-470B-AAA0-933FFD2FFB06}" sibTransId="{812CF5C6-B155-4D7C-BADB-A6F8809C64A5}"/>
    <dgm:cxn modelId="{25FEF954-570F-4C93-940F-C4D00B29E540}" srcId="{A3A51962-6A5E-4ABA-B8C3-91479EBB06F2}" destId="{7BA505D4-BF22-4284-9E75-4DF2BCFB114B}" srcOrd="0" destOrd="0" parTransId="{98DB38E1-A723-4254-AEE7-DF7F4453F4E3}" sibTransId="{FFF81B6C-D3A8-4B44-AEBE-61673845180C}"/>
    <dgm:cxn modelId="{DEBF488D-DA6B-41FF-8A9A-9626CEC4235E}" type="presOf" srcId="{7BA505D4-BF22-4284-9E75-4DF2BCFB114B}" destId="{394716F8-BB0F-4059-AACD-E4D751EF0D5B}" srcOrd="0" destOrd="0" presId="urn:microsoft.com/office/officeart/2016/7/layout/BasicTimeline"/>
    <dgm:cxn modelId="{0B8CEE8D-01F8-44DF-B33A-CB132C5AE4D4}" type="presOf" srcId="{2CCEF0C3-5B54-4279-B97B-217562FFC429}" destId="{672CF1F4-954B-4A9E-8AA9-52B414907710}" srcOrd="0" destOrd="0" presId="urn:microsoft.com/office/officeart/2016/7/layout/BasicTimeline"/>
    <dgm:cxn modelId="{3BE012B0-C0FF-45BD-B650-95A1E08DF9A7}" type="presOf" srcId="{3EC4E9EB-A802-49EA-BBB8-2A65525172A1}" destId="{19A58835-F393-49CD-A84E-A15FF3F0C5EA}" srcOrd="0" destOrd="0" presId="urn:microsoft.com/office/officeart/2016/7/layout/BasicTimeline"/>
    <dgm:cxn modelId="{FA3F46B9-E567-4A95-83AD-C02C968D0EB4}" type="presOf" srcId="{A3A51962-6A5E-4ABA-B8C3-91479EBB06F2}" destId="{3B951AA5-43BC-4882-BF99-47346417A212}" srcOrd="0" destOrd="0" presId="urn:microsoft.com/office/officeart/2016/7/layout/BasicTimeline"/>
    <dgm:cxn modelId="{7F88B9E8-3FD8-43D7-B5F3-94F75A7EAE01}" srcId="{EBC92508-4349-4864-AEAD-8B5478AC1EF1}" destId="{3EC4E9EB-A802-49EA-BBB8-2A65525172A1}" srcOrd="0" destOrd="0" parTransId="{09FE8D34-84A1-4057-A6BD-D8EAE9295CF0}" sibTransId="{DE411CAA-0A01-46FF-96C0-E49F273F34A9}"/>
    <dgm:cxn modelId="{C2933DFB-8D12-4CFE-A7CB-5C02438C9600}" srcId="{47B381F3-ABE0-4997-B892-CA5B9C8F9CE3}" destId="{B9B17AB8-2FE5-4627-BC7D-825C8F1696A4}" srcOrd="0" destOrd="0" parTransId="{5BCD381A-C55C-47FE-9E60-A87B0EF6FD5B}" sibTransId="{093761E7-0386-48EE-A232-FC5CF1E7BEDF}"/>
    <dgm:cxn modelId="{DB20E0FE-F4AB-41EC-A8B0-B3D67F6E1531}" srcId="{2CCEF0C3-5B54-4279-B97B-217562FFC429}" destId="{EBC92508-4349-4864-AEAD-8B5478AC1EF1}" srcOrd="2" destOrd="0" parTransId="{533215AF-65E1-49BD-BEBB-6077AABD604A}" sibTransId="{8877BDDE-47A8-4180-81E8-B42FCF7C6050}"/>
    <dgm:cxn modelId="{333060A7-8D39-400C-A026-5EC9879ABA8C}" type="presParOf" srcId="{672CF1F4-954B-4A9E-8AA9-52B414907710}" destId="{D4DBF12E-E90B-44FE-BA8F-75186AB20421}" srcOrd="0" destOrd="0" presId="urn:microsoft.com/office/officeart/2016/7/layout/BasicTimeline"/>
    <dgm:cxn modelId="{0B6ABD6F-7F0C-4432-9502-E40ECDA33F48}" type="presParOf" srcId="{672CF1F4-954B-4A9E-8AA9-52B414907710}" destId="{0FE4B6D6-61B1-48D4-A9F7-2BE45C916206}" srcOrd="1" destOrd="0" presId="urn:microsoft.com/office/officeart/2016/7/layout/BasicTimeline"/>
    <dgm:cxn modelId="{B4AA4611-1867-4260-9CF3-137EA3C6209C}" type="presParOf" srcId="{0FE4B6D6-61B1-48D4-A9F7-2BE45C916206}" destId="{A4E62123-3315-4FE1-B24F-404D6CBF8DD1}" srcOrd="0" destOrd="0" presId="urn:microsoft.com/office/officeart/2016/7/layout/BasicTimeline"/>
    <dgm:cxn modelId="{5DA47565-8898-47A0-AD08-34A1C6A90D68}" type="presParOf" srcId="{A4E62123-3315-4FE1-B24F-404D6CBF8DD1}" destId="{A8DFE19A-1D66-4CDD-8B64-4B7E76085D7C}" srcOrd="0" destOrd="0" presId="urn:microsoft.com/office/officeart/2016/7/layout/BasicTimeline"/>
    <dgm:cxn modelId="{50AE4D4E-ED1F-4495-B2E9-C0C5A4D5F824}" type="presParOf" srcId="{A4E62123-3315-4FE1-B24F-404D6CBF8DD1}" destId="{F7C775CD-0837-4D0F-8CAC-823E3EF2D056}" srcOrd="1" destOrd="0" presId="urn:microsoft.com/office/officeart/2016/7/layout/BasicTimeline"/>
    <dgm:cxn modelId="{47898614-6720-40A1-A9BD-38430649BD4B}" type="presParOf" srcId="{F7C775CD-0837-4D0F-8CAC-823E3EF2D056}" destId="{89D2FABA-064C-4A05-9CDC-277C02CD570E}" srcOrd="0" destOrd="0" presId="urn:microsoft.com/office/officeart/2016/7/layout/BasicTimeline"/>
    <dgm:cxn modelId="{4B34BD4F-DF49-4779-8352-ABEFB1A8CC0B}" type="presParOf" srcId="{F7C775CD-0837-4D0F-8CAC-823E3EF2D056}" destId="{5F501683-D50B-43A8-A480-D3BA88EC7251}" srcOrd="1" destOrd="0" presId="urn:microsoft.com/office/officeart/2016/7/layout/BasicTimeline"/>
    <dgm:cxn modelId="{3E62C3FB-AC3C-471A-BF01-39ACA53B653B}" type="presParOf" srcId="{A4E62123-3315-4FE1-B24F-404D6CBF8DD1}" destId="{9F41DA29-1829-4EC7-B2A3-6A7F5982847F}" srcOrd="2" destOrd="0" presId="urn:microsoft.com/office/officeart/2016/7/layout/BasicTimeline"/>
    <dgm:cxn modelId="{9544078B-4A3F-4CCF-A4B1-CA0A7762C1E7}" type="presParOf" srcId="{A4E62123-3315-4FE1-B24F-404D6CBF8DD1}" destId="{DCD354C2-788B-4430-851B-70AC47A023C9}" srcOrd="3" destOrd="0" presId="urn:microsoft.com/office/officeart/2016/7/layout/BasicTimeline"/>
    <dgm:cxn modelId="{972F6718-DF59-4C6D-BC4E-E183C24272A5}" type="presParOf" srcId="{A4E62123-3315-4FE1-B24F-404D6CBF8DD1}" destId="{5B6F85DF-CDD9-497D-A4E0-943AA949597E}" srcOrd="4" destOrd="0" presId="urn:microsoft.com/office/officeart/2016/7/layout/BasicTimeline"/>
    <dgm:cxn modelId="{1614800F-7D8A-4F22-BEEC-1DDEA2D6B6F8}" type="presParOf" srcId="{0FE4B6D6-61B1-48D4-A9F7-2BE45C916206}" destId="{5F1CBA4D-EBEB-46A8-96D4-F3112E43691E}" srcOrd="1" destOrd="0" presId="urn:microsoft.com/office/officeart/2016/7/layout/BasicTimeline"/>
    <dgm:cxn modelId="{AA694CFA-3D35-47BF-85C1-88F642E98E4D}" type="presParOf" srcId="{0FE4B6D6-61B1-48D4-A9F7-2BE45C916206}" destId="{A33FA622-DEB1-486B-BA12-7DAB2D6B42E2}" srcOrd="2" destOrd="0" presId="urn:microsoft.com/office/officeart/2016/7/layout/BasicTimeline"/>
    <dgm:cxn modelId="{65FF7104-001B-406E-AB83-4A1D18E83AF1}" type="presParOf" srcId="{A33FA622-DEB1-486B-BA12-7DAB2D6B42E2}" destId="{3B951AA5-43BC-4882-BF99-47346417A212}" srcOrd="0" destOrd="0" presId="urn:microsoft.com/office/officeart/2016/7/layout/BasicTimeline"/>
    <dgm:cxn modelId="{98C6BC0C-77D6-45C3-9546-E12DE49B3892}" type="presParOf" srcId="{A33FA622-DEB1-486B-BA12-7DAB2D6B42E2}" destId="{5CE8E644-8CFD-47BE-A2DF-274CDE82D63B}" srcOrd="1" destOrd="0" presId="urn:microsoft.com/office/officeart/2016/7/layout/BasicTimeline"/>
    <dgm:cxn modelId="{1FCE2B95-0BBE-4AD7-A709-C857D585F35B}" type="presParOf" srcId="{5CE8E644-8CFD-47BE-A2DF-274CDE82D63B}" destId="{394716F8-BB0F-4059-AACD-E4D751EF0D5B}" srcOrd="0" destOrd="0" presId="urn:microsoft.com/office/officeart/2016/7/layout/BasicTimeline"/>
    <dgm:cxn modelId="{E1AF6E04-1410-4973-8965-81FF3D823285}" type="presParOf" srcId="{5CE8E644-8CFD-47BE-A2DF-274CDE82D63B}" destId="{CC00D8C5-D66B-49D4-ACC7-EDCC21021AE6}" srcOrd="1" destOrd="0" presId="urn:microsoft.com/office/officeart/2016/7/layout/BasicTimeline"/>
    <dgm:cxn modelId="{8027A58F-5412-480C-B644-6396321A4E51}" type="presParOf" srcId="{A33FA622-DEB1-486B-BA12-7DAB2D6B42E2}" destId="{75CFB6F6-0743-4EF8-ABBA-0EDC226BADD3}" srcOrd="2" destOrd="0" presId="urn:microsoft.com/office/officeart/2016/7/layout/BasicTimeline"/>
    <dgm:cxn modelId="{AFC23E7E-FEA1-4868-BE92-2E01700BDA5B}" type="presParOf" srcId="{A33FA622-DEB1-486B-BA12-7DAB2D6B42E2}" destId="{4229A4B2-63C5-4EB5-B2BB-49BED3D0EC92}" srcOrd="3" destOrd="0" presId="urn:microsoft.com/office/officeart/2016/7/layout/BasicTimeline"/>
    <dgm:cxn modelId="{AF3380C0-404F-4F97-9386-B0C8C50E57D0}" type="presParOf" srcId="{A33FA622-DEB1-486B-BA12-7DAB2D6B42E2}" destId="{ED475CE4-19EE-4E16-8475-EC3388E717CF}" srcOrd="4" destOrd="0" presId="urn:microsoft.com/office/officeart/2016/7/layout/BasicTimeline"/>
    <dgm:cxn modelId="{AE374D31-8FB1-4540-8EE2-ACF61B297E4A}" type="presParOf" srcId="{0FE4B6D6-61B1-48D4-A9F7-2BE45C916206}" destId="{DA89FD95-3C7A-4066-A01D-6DA144ABBAE8}" srcOrd="3" destOrd="0" presId="urn:microsoft.com/office/officeart/2016/7/layout/BasicTimeline"/>
    <dgm:cxn modelId="{6B3214C2-A29F-4CC1-8536-9E4F3D20A5F6}" type="presParOf" srcId="{0FE4B6D6-61B1-48D4-A9F7-2BE45C916206}" destId="{4E4DE27D-467A-426E-8A7C-DAE1CC8566B3}" srcOrd="4" destOrd="0" presId="urn:microsoft.com/office/officeart/2016/7/layout/BasicTimeline"/>
    <dgm:cxn modelId="{6B6B6665-EE9B-470D-B63B-7A308ACF9BBA}" type="presParOf" srcId="{4E4DE27D-467A-426E-8A7C-DAE1CC8566B3}" destId="{517519CF-597F-4E0E-B42A-20033C11A58B}" srcOrd="0" destOrd="0" presId="urn:microsoft.com/office/officeart/2016/7/layout/BasicTimeline"/>
    <dgm:cxn modelId="{D4790460-F487-4646-9D5C-B6014DDC1A63}" type="presParOf" srcId="{4E4DE27D-467A-426E-8A7C-DAE1CC8566B3}" destId="{270DEAE0-4409-459B-BE94-FC1179972E87}" srcOrd="1" destOrd="0" presId="urn:microsoft.com/office/officeart/2016/7/layout/BasicTimeline"/>
    <dgm:cxn modelId="{D4DAA57E-3522-4C47-9975-B3D247CB429D}" type="presParOf" srcId="{270DEAE0-4409-459B-BE94-FC1179972E87}" destId="{19A58835-F393-49CD-A84E-A15FF3F0C5EA}" srcOrd="0" destOrd="0" presId="urn:microsoft.com/office/officeart/2016/7/layout/BasicTimeline"/>
    <dgm:cxn modelId="{01EF492C-E345-4835-A3EF-EEC1EB7E8411}" type="presParOf" srcId="{270DEAE0-4409-459B-BE94-FC1179972E87}" destId="{320B83A6-A3F4-4D62-A6A9-A12DC14DB80D}" srcOrd="1" destOrd="0" presId="urn:microsoft.com/office/officeart/2016/7/layout/BasicTimeline"/>
    <dgm:cxn modelId="{DDD97E3A-592A-4906-B30D-E8803039796A}" type="presParOf" srcId="{4E4DE27D-467A-426E-8A7C-DAE1CC8566B3}" destId="{5F302BD3-CB43-4F82-96FD-659707D24BB8}" srcOrd="2" destOrd="0" presId="urn:microsoft.com/office/officeart/2016/7/layout/BasicTimeline"/>
    <dgm:cxn modelId="{711DCF78-531F-4BFC-8F61-C7F4D53914BA}" type="presParOf" srcId="{4E4DE27D-467A-426E-8A7C-DAE1CC8566B3}" destId="{6C406FA9-1009-42F2-B665-FC83E6F985D9}" srcOrd="3" destOrd="0" presId="urn:microsoft.com/office/officeart/2016/7/layout/BasicTimeline"/>
    <dgm:cxn modelId="{B50E748B-1583-49FC-9B3B-727F25F45FB7}" type="presParOf" srcId="{4E4DE27D-467A-426E-8A7C-DAE1CC8566B3}" destId="{7EBCAF2F-2AF8-44FF-8E87-D53826D99190}" srcOrd="4" destOrd="0" presId="urn:microsoft.com/office/officeart/2016/7/layout/Basic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28F4481-99FF-4CF0-B0DB-87C9F4E201BA}" type="doc">
      <dgm:prSet loTypeId="urn:microsoft.com/office/officeart/2016/7/layout/BasicTimeline" loCatId="timeline" qsTypeId="urn:microsoft.com/office/officeart/2005/8/quickstyle/simple1" qsCatId="simple" csTypeId="urn:microsoft.com/office/officeart/2005/8/colors/accent1_2" csCatId="accent1" phldr="1"/>
      <dgm:spPr/>
      <dgm:t>
        <a:bodyPr/>
        <a:lstStyle/>
        <a:p>
          <a:endParaRPr lang="en-US"/>
        </a:p>
      </dgm:t>
    </dgm:pt>
    <dgm:pt modelId="{6255F66C-0681-4623-B425-91D31ABC2A08}">
      <dgm:prSet phldrT="[Text]" phldr="0"/>
      <dgm:spPr/>
      <dgm:t>
        <a:bodyPr/>
        <a:lstStyle/>
        <a:p>
          <a:pPr rtl="0">
            <a:defRPr b="1"/>
          </a:pPr>
          <a:r>
            <a:rPr lang="en-US">
              <a:latin typeface="Calibri Light" panose="020F0302020204030204"/>
            </a:rPr>
            <a:t>Week 8(1-7 </a:t>
          </a:r>
          <a:r>
            <a:rPr lang="en-US" err="1">
              <a:latin typeface="Calibri Light" panose="020F0302020204030204"/>
            </a:rPr>
            <a:t>nov</a:t>
          </a:r>
          <a:r>
            <a:rPr lang="en-US">
              <a:latin typeface="Calibri Light" panose="020F0302020204030204"/>
            </a:rPr>
            <a:t>)</a:t>
          </a:r>
          <a:endParaRPr lang="en-US"/>
        </a:p>
      </dgm:t>
    </dgm:pt>
    <dgm:pt modelId="{6F3EE882-3B2E-408F-8F36-86F76948ED51}" type="parTrans" cxnId="{31463EAC-A65A-43B2-86D4-99B2524C38A7}">
      <dgm:prSet/>
      <dgm:spPr/>
      <dgm:t>
        <a:bodyPr/>
        <a:lstStyle/>
        <a:p>
          <a:endParaRPr lang="en-US"/>
        </a:p>
      </dgm:t>
    </dgm:pt>
    <dgm:pt modelId="{8629B7D8-DED4-4E06-B24F-B1262D7337F8}" type="sibTrans" cxnId="{31463EAC-A65A-43B2-86D4-99B2524C38A7}">
      <dgm:prSet/>
      <dgm:spPr/>
      <dgm:t>
        <a:bodyPr/>
        <a:lstStyle/>
        <a:p>
          <a:endParaRPr lang="en-US"/>
        </a:p>
      </dgm:t>
    </dgm:pt>
    <dgm:pt modelId="{3F5981ED-B895-4035-B409-44E3BB7FE328}">
      <dgm:prSet phldrT="[Text]" phldr="0" custT="1"/>
      <dgm:spPr/>
      <dgm:t>
        <a:bodyPr/>
        <a:lstStyle/>
        <a:p>
          <a:pPr rtl="0"/>
          <a:r>
            <a:rPr lang="en-US" sz="2000" b="1">
              <a:solidFill>
                <a:srgbClr val="C00000"/>
              </a:solidFill>
              <a:latin typeface="Calibri Light" panose="020F0302020204030204"/>
            </a:rPr>
            <a:t>End to End testing pre-deployment</a:t>
          </a:r>
          <a:endParaRPr lang="en-US" sz="2000" b="1">
            <a:solidFill>
              <a:srgbClr val="C00000"/>
            </a:solidFill>
          </a:endParaRPr>
        </a:p>
      </dgm:t>
    </dgm:pt>
    <dgm:pt modelId="{9BD72B1B-902E-45B9-ABEC-A4AAF2AE0A07}" type="parTrans" cxnId="{2AA36933-A2D6-46AB-9AE4-4A1BDBD1A569}">
      <dgm:prSet/>
      <dgm:spPr/>
      <dgm:t>
        <a:bodyPr/>
        <a:lstStyle/>
        <a:p>
          <a:endParaRPr lang="en-US"/>
        </a:p>
      </dgm:t>
    </dgm:pt>
    <dgm:pt modelId="{5C264BAD-16E9-4432-994E-6BC675FC1761}" type="sibTrans" cxnId="{2AA36933-A2D6-46AB-9AE4-4A1BDBD1A569}">
      <dgm:prSet/>
      <dgm:spPr/>
      <dgm:t>
        <a:bodyPr/>
        <a:lstStyle/>
        <a:p>
          <a:endParaRPr lang="en-US"/>
        </a:p>
      </dgm:t>
    </dgm:pt>
    <dgm:pt modelId="{BD60EBCC-21D8-41ED-921F-C7951BC11424}">
      <dgm:prSet phldrT="[Text]" phldr="0"/>
      <dgm:spPr/>
      <dgm:t>
        <a:bodyPr/>
        <a:lstStyle/>
        <a:p>
          <a:pPr rtl="0">
            <a:defRPr b="1"/>
          </a:pPr>
          <a:r>
            <a:rPr lang="en-US" sz="1100" b="0">
              <a:latin typeface="Calibri"/>
              <a:ea typeface="Calibri"/>
              <a:cs typeface="Calibri"/>
            </a:rPr>
            <a:t>Week 9(8- 14  </a:t>
          </a:r>
          <a:r>
            <a:rPr lang="en-US" sz="1100" b="0" err="1">
              <a:latin typeface="Calibri"/>
              <a:ea typeface="Calibri"/>
              <a:cs typeface="Calibri"/>
            </a:rPr>
            <a:t>nov</a:t>
          </a:r>
          <a:r>
            <a:rPr lang="en-US" sz="1100" b="0">
              <a:latin typeface="Calibri"/>
              <a:ea typeface="Calibri"/>
              <a:cs typeface="Calibri"/>
            </a:rPr>
            <a:t>)</a:t>
          </a:r>
          <a:endParaRPr lang="en-US"/>
        </a:p>
      </dgm:t>
    </dgm:pt>
    <dgm:pt modelId="{76DA2ED5-E83A-4283-950E-9C91E203246D}" type="parTrans" cxnId="{3E4E4E6E-BB39-47CF-80F2-2B5AC926F487}">
      <dgm:prSet/>
      <dgm:spPr/>
      <dgm:t>
        <a:bodyPr/>
        <a:lstStyle/>
        <a:p>
          <a:endParaRPr lang="en-US"/>
        </a:p>
      </dgm:t>
    </dgm:pt>
    <dgm:pt modelId="{10880E75-58AC-4193-8C9F-17FC3F2330C3}" type="sibTrans" cxnId="{3E4E4E6E-BB39-47CF-80F2-2B5AC926F487}">
      <dgm:prSet/>
      <dgm:spPr/>
      <dgm:t>
        <a:bodyPr/>
        <a:lstStyle/>
        <a:p>
          <a:endParaRPr lang="en-US"/>
        </a:p>
      </dgm:t>
    </dgm:pt>
    <dgm:pt modelId="{6B82D6A0-28A6-4F38-8EC3-DD01E695726B}">
      <dgm:prSet phldrT="[Text]" phldr="0" custT="1"/>
      <dgm:spPr/>
      <dgm:t>
        <a:bodyPr/>
        <a:lstStyle/>
        <a:p>
          <a:pPr rtl="0"/>
          <a:r>
            <a:rPr lang="en-US" sz="2000" b="1">
              <a:solidFill>
                <a:srgbClr val="C00000"/>
              </a:solidFill>
              <a:latin typeface="Calibri Light" panose="020F0302020204030204"/>
            </a:rPr>
            <a:t>Deployment on AWS</a:t>
          </a:r>
          <a:endParaRPr lang="en-US" sz="2000" b="1">
            <a:solidFill>
              <a:srgbClr val="C00000"/>
            </a:solidFill>
          </a:endParaRPr>
        </a:p>
      </dgm:t>
    </dgm:pt>
    <dgm:pt modelId="{CAD65EC9-2BB0-4B0C-98B2-E4E00B874526}" type="parTrans" cxnId="{C89E8657-CF20-49DA-9361-943EE264B50D}">
      <dgm:prSet/>
      <dgm:spPr/>
      <dgm:t>
        <a:bodyPr/>
        <a:lstStyle/>
        <a:p>
          <a:endParaRPr lang="en-US"/>
        </a:p>
      </dgm:t>
    </dgm:pt>
    <dgm:pt modelId="{047F212A-4004-4D50-A6C8-2ED6D717E8A8}" type="sibTrans" cxnId="{C89E8657-CF20-49DA-9361-943EE264B50D}">
      <dgm:prSet/>
      <dgm:spPr/>
      <dgm:t>
        <a:bodyPr/>
        <a:lstStyle/>
        <a:p>
          <a:endParaRPr lang="en-US"/>
        </a:p>
      </dgm:t>
    </dgm:pt>
    <dgm:pt modelId="{240BFC63-B855-45F6-9843-4A22DF1A6C3B}">
      <dgm:prSet phldrT="[Text]" phldr="0"/>
      <dgm:spPr/>
      <dgm:t>
        <a:bodyPr/>
        <a:lstStyle/>
        <a:p>
          <a:pPr rtl="0">
            <a:defRPr b="1"/>
          </a:pPr>
          <a:r>
            <a:rPr lang="en-US">
              <a:latin typeface="Calibri Light" panose="020F0302020204030204"/>
            </a:rPr>
            <a:t>Week 10(15 – 21 </a:t>
          </a:r>
          <a:r>
            <a:rPr lang="en-US" err="1">
              <a:latin typeface="Calibri Light" panose="020F0302020204030204"/>
            </a:rPr>
            <a:t>nov</a:t>
          </a:r>
          <a:r>
            <a:rPr lang="en-US">
              <a:latin typeface="Calibri Light" panose="020F0302020204030204"/>
            </a:rPr>
            <a:t>)</a:t>
          </a:r>
          <a:endParaRPr lang="en-US"/>
        </a:p>
      </dgm:t>
    </dgm:pt>
    <dgm:pt modelId="{2BFA4434-91CF-4D0B-99F4-CF473FA487C6}" type="parTrans" cxnId="{98C9350D-920A-4C2D-A821-A0BE5529367B}">
      <dgm:prSet/>
      <dgm:spPr/>
      <dgm:t>
        <a:bodyPr/>
        <a:lstStyle/>
        <a:p>
          <a:endParaRPr lang="en-US"/>
        </a:p>
      </dgm:t>
    </dgm:pt>
    <dgm:pt modelId="{E5C6AC21-0E8D-4CB7-A83E-3F1A7FE6594A}" type="sibTrans" cxnId="{98C9350D-920A-4C2D-A821-A0BE5529367B}">
      <dgm:prSet/>
      <dgm:spPr/>
      <dgm:t>
        <a:bodyPr/>
        <a:lstStyle/>
        <a:p>
          <a:endParaRPr lang="en-US"/>
        </a:p>
      </dgm:t>
    </dgm:pt>
    <dgm:pt modelId="{5F939C37-FF62-4818-A1D0-E603EFEA4E3E}">
      <dgm:prSet phldrT="[Text]" phldr="0" custT="1"/>
      <dgm:spPr/>
      <dgm:t>
        <a:bodyPr/>
        <a:lstStyle/>
        <a:p>
          <a:pPr rtl="0"/>
          <a:r>
            <a:rPr lang="en-US" sz="2000" b="1">
              <a:solidFill>
                <a:srgbClr val="C00000"/>
              </a:solidFill>
              <a:latin typeface="Calibri Light" panose="020F0302020204030204"/>
            </a:rPr>
            <a:t>Acceptance Testing + Final Submission</a:t>
          </a:r>
          <a:endParaRPr lang="en-US" sz="2000" b="1">
            <a:solidFill>
              <a:srgbClr val="C00000"/>
            </a:solidFill>
          </a:endParaRPr>
        </a:p>
      </dgm:t>
    </dgm:pt>
    <dgm:pt modelId="{62212EF8-0B19-41F4-BD84-BD2725DC4ED5}" type="parTrans" cxnId="{8C3BE461-95F1-40FF-A25B-49C852CF2F34}">
      <dgm:prSet/>
      <dgm:spPr/>
      <dgm:t>
        <a:bodyPr/>
        <a:lstStyle/>
        <a:p>
          <a:endParaRPr lang="en-US"/>
        </a:p>
      </dgm:t>
    </dgm:pt>
    <dgm:pt modelId="{B2B12A3C-3111-4595-A652-D04E56A3C81C}" type="sibTrans" cxnId="{8C3BE461-95F1-40FF-A25B-49C852CF2F34}">
      <dgm:prSet/>
      <dgm:spPr/>
      <dgm:t>
        <a:bodyPr/>
        <a:lstStyle/>
        <a:p>
          <a:endParaRPr lang="en-US"/>
        </a:p>
      </dgm:t>
    </dgm:pt>
    <dgm:pt modelId="{9C0B1984-ACD4-481E-896E-9542118B7FF2}" type="pres">
      <dgm:prSet presAssocID="{F28F4481-99FF-4CF0-B0DB-87C9F4E201BA}" presName="root" presStyleCnt="0">
        <dgm:presLayoutVars>
          <dgm:chMax/>
          <dgm:chPref/>
          <dgm:animLvl val="lvl"/>
        </dgm:presLayoutVars>
      </dgm:prSet>
      <dgm:spPr/>
    </dgm:pt>
    <dgm:pt modelId="{9F809189-1A89-4284-AD7B-FB185C470FC3}" type="pres">
      <dgm:prSet presAssocID="{F28F4481-99FF-4CF0-B0DB-87C9F4E201BA}" presName="divider" presStyleLbl="fgAccFollowNode1" presStyleIdx="0" presStyleCnt="1"/>
      <dgm:spPr>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tailEnd type="triangle" w="lg" len="lg"/>
        </a:ln>
        <a:effectLst/>
      </dgm:spPr>
    </dgm:pt>
    <dgm:pt modelId="{C1B0ABAA-CB60-48B9-832F-328076D48E45}" type="pres">
      <dgm:prSet presAssocID="{F28F4481-99FF-4CF0-B0DB-87C9F4E201BA}" presName="nodes" presStyleCnt="0">
        <dgm:presLayoutVars>
          <dgm:chMax/>
          <dgm:chPref/>
          <dgm:animLvl val="lvl"/>
        </dgm:presLayoutVars>
      </dgm:prSet>
      <dgm:spPr/>
    </dgm:pt>
    <dgm:pt modelId="{C54E6D19-E35B-4E7C-9C09-A14A91329A60}" type="pres">
      <dgm:prSet presAssocID="{6255F66C-0681-4623-B425-91D31ABC2A08}" presName="composite" presStyleCnt="0"/>
      <dgm:spPr/>
    </dgm:pt>
    <dgm:pt modelId="{A2A53906-C3C9-4782-918D-2475695F49CF}" type="pres">
      <dgm:prSet presAssocID="{6255F66C-0681-4623-B425-91D31ABC2A08}" presName="L1TextContainer" presStyleLbl="revTx" presStyleIdx="0" presStyleCnt="3">
        <dgm:presLayoutVars>
          <dgm:chMax val="1"/>
          <dgm:chPref val="1"/>
          <dgm:bulletEnabled val="1"/>
        </dgm:presLayoutVars>
      </dgm:prSet>
      <dgm:spPr/>
    </dgm:pt>
    <dgm:pt modelId="{0717ECEE-6572-4CEE-AB43-E97AF6521368}" type="pres">
      <dgm:prSet presAssocID="{6255F66C-0681-4623-B425-91D31ABC2A08}" presName="L2TextContainerWrapper" presStyleCnt="0">
        <dgm:presLayoutVars>
          <dgm:chMax val="0"/>
          <dgm:chPref val="0"/>
          <dgm:bulletEnabled val="1"/>
        </dgm:presLayoutVars>
      </dgm:prSet>
      <dgm:spPr/>
    </dgm:pt>
    <dgm:pt modelId="{A9A6BCD2-06DB-4B07-B797-53EA54349605}" type="pres">
      <dgm:prSet presAssocID="{6255F66C-0681-4623-B425-91D31ABC2A08}" presName="L2TextContainer" presStyleLbl="bgAcc1" presStyleIdx="0" presStyleCnt="3"/>
      <dgm:spPr/>
    </dgm:pt>
    <dgm:pt modelId="{C7F6D930-FE83-41C3-9D5B-F52E067DD255}" type="pres">
      <dgm:prSet presAssocID="{6255F66C-0681-4623-B425-91D31ABC2A08}" presName="FlexibleEmptyPlaceHolder" presStyleCnt="0"/>
      <dgm:spPr/>
    </dgm:pt>
    <dgm:pt modelId="{8C8C245E-6608-40A6-AACD-A7E9FF3EFDB9}" type="pres">
      <dgm:prSet presAssocID="{6255F66C-0681-4623-B425-91D31ABC2A08}" presName="ConnectLine" presStyleLbl="sibTrans1D1" presStyleIdx="0" presStyleCnt="3"/>
      <dgm:spPr>
        <a:noFill/>
        <a:ln w="6350" cap="flat" cmpd="sng" algn="ctr">
          <a:solidFill>
            <a:schemeClr val="accent1">
              <a:hueOff val="0"/>
              <a:satOff val="0"/>
              <a:lumOff val="0"/>
              <a:alphaOff val="0"/>
            </a:schemeClr>
          </a:solidFill>
          <a:prstDash val="dash"/>
          <a:miter lim="800000"/>
        </a:ln>
        <a:effectLst/>
      </dgm:spPr>
    </dgm:pt>
    <dgm:pt modelId="{897A92F0-0013-4A61-8E66-98DDBAAADB29}" type="pres">
      <dgm:prSet presAssocID="{6255F66C-0681-4623-B425-91D31ABC2A08}" presName="ConnectorPoint" presStyleLbl="alignNode1" presStyleIdx="0" presStyleCnt="3"/>
      <dgm:spPr/>
    </dgm:pt>
    <dgm:pt modelId="{B8DEE510-AC8F-425C-86AF-7866E8843FFF}" type="pres">
      <dgm:prSet presAssocID="{6255F66C-0681-4623-B425-91D31ABC2A08}" presName="EmptyPlaceHolder" presStyleCnt="0"/>
      <dgm:spPr/>
    </dgm:pt>
    <dgm:pt modelId="{65C6C693-B6F2-41A9-99D5-4F1931E18B98}" type="pres">
      <dgm:prSet presAssocID="{8629B7D8-DED4-4E06-B24F-B1262D7337F8}" presName="spaceBetweenRectangles" presStyleCnt="0"/>
      <dgm:spPr/>
    </dgm:pt>
    <dgm:pt modelId="{AE5CB198-A596-4E86-80B7-F9D71C5660D5}" type="pres">
      <dgm:prSet presAssocID="{BD60EBCC-21D8-41ED-921F-C7951BC11424}" presName="composite" presStyleCnt="0"/>
      <dgm:spPr/>
    </dgm:pt>
    <dgm:pt modelId="{74E79B2C-7A0C-43C2-B448-8937978B642A}" type="pres">
      <dgm:prSet presAssocID="{BD60EBCC-21D8-41ED-921F-C7951BC11424}" presName="L1TextContainer" presStyleLbl="revTx" presStyleIdx="1" presStyleCnt="3">
        <dgm:presLayoutVars>
          <dgm:chMax val="1"/>
          <dgm:chPref val="1"/>
          <dgm:bulletEnabled val="1"/>
        </dgm:presLayoutVars>
      </dgm:prSet>
      <dgm:spPr/>
    </dgm:pt>
    <dgm:pt modelId="{A3AFD61C-866D-420A-AAE6-2B461AEC44A9}" type="pres">
      <dgm:prSet presAssocID="{BD60EBCC-21D8-41ED-921F-C7951BC11424}" presName="L2TextContainerWrapper" presStyleCnt="0">
        <dgm:presLayoutVars>
          <dgm:chMax val="0"/>
          <dgm:chPref val="0"/>
          <dgm:bulletEnabled val="1"/>
        </dgm:presLayoutVars>
      </dgm:prSet>
      <dgm:spPr/>
    </dgm:pt>
    <dgm:pt modelId="{5FE9FC21-4EA4-412C-A105-9FE48283EF77}" type="pres">
      <dgm:prSet presAssocID="{BD60EBCC-21D8-41ED-921F-C7951BC11424}" presName="L2TextContainer" presStyleLbl="bgAcc1" presStyleIdx="1" presStyleCnt="3"/>
      <dgm:spPr/>
    </dgm:pt>
    <dgm:pt modelId="{64D5E0D5-BBE5-4F5D-AFB6-3449C52836B7}" type="pres">
      <dgm:prSet presAssocID="{BD60EBCC-21D8-41ED-921F-C7951BC11424}" presName="FlexibleEmptyPlaceHolder" presStyleCnt="0"/>
      <dgm:spPr/>
    </dgm:pt>
    <dgm:pt modelId="{3B9B6D68-48B5-49E2-AE60-A6BBA52C26A9}" type="pres">
      <dgm:prSet presAssocID="{BD60EBCC-21D8-41ED-921F-C7951BC11424}" presName="ConnectLine" presStyleLbl="sibTrans1D1" presStyleIdx="1" presStyleCnt="3"/>
      <dgm:spPr>
        <a:noFill/>
        <a:ln w="6350" cap="flat" cmpd="sng" algn="ctr">
          <a:solidFill>
            <a:schemeClr val="accent1">
              <a:hueOff val="0"/>
              <a:satOff val="0"/>
              <a:lumOff val="0"/>
              <a:alphaOff val="0"/>
            </a:schemeClr>
          </a:solidFill>
          <a:prstDash val="dash"/>
          <a:miter lim="800000"/>
        </a:ln>
        <a:effectLst/>
      </dgm:spPr>
    </dgm:pt>
    <dgm:pt modelId="{3C9C6583-60F2-42CD-AEED-5E9F57C52732}" type="pres">
      <dgm:prSet presAssocID="{BD60EBCC-21D8-41ED-921F-C7951BC11424}" presName="ConnectorPoint" presStyleLbl="alignNode1" presStyleIdx="1" presStyleCnt="3"/>
      <dgm:spPr/>
    </dgm:pt>
    <dgm:pt modelId="{0D2683D5-62FB-49FA-A976-BAC50588C504}" type="pres">
      <dgm:prSet presAssocID="{BD60EBCC-21D8-41ED-921F-C7951BC11424}" presName="EmptyPlaceHolder" presStyleCnt="0"/>
      <dgm:spPr/>
    </dgm:pt>
    <dgm:pt modelId="{B89B4824-E3AA-46FA-93A8-03C68EB69D3D}" type="pres">
      <dgm:prSet presAssocID="{10880E75-58AC-4193-8C9F-17FC3F2330C3}" presName="spaceBetweenRectangles" presStyleCnt="0"/>
      <dgm:spPr/>
    </dgm:pt>
    <dgm:pt modelId="{959A2BBA-2BC0-4AE9-A35C-922439E36831}" type="pres">
      <dgm:prSet presAssocID="{240BFC63-B855-45F6-9843-4A22DF1A6C3B}" presName="composite" presStyleCnt="0"/>
      <dgm:spPr/>
    </dgm:pt>
    <dgm:pt modelId="{FDB4122E-F5E5-48E5-AF49-6DBE37846D8F}" type="pres">
      <dgm:prSet presAssocID="{240BFC63-B855-45F6-9843-4A22DF1A6C3B}" presName="L1TextContainer" presStyleLbl="revTx" presStyleIdx="2" presStyleCnt="3">
        <dgm:presLayoutVars>
          <dgm:chMax val="1"/>
          <dgm:chPref val="1"/>
          <dgm:bulletEnabled val="1"/>
        </dgm:presLayoutVars>
      </dgm:prSet>
      <dgm:spPr/>
    </dgm:pt>
    <dgm:pt modelId="{59ECC9F6-7053-4F8C-9639-7AD63AA8D0C2}" type="pres">
      <dgm:prSet presAssocID="{240BFC63-B855-45F6-9843-4A22DF1A6C3B}" presName="L2TextContainerWrapper" presStyleCnt="0">
        <dgm:presLayoutVars>
          <dgm:chMax val="0"/>
          <dgm:chPref val="0"/>
          <dgm:bulletEnabled val="1"/>
        </dgm:presLayoutVars>
      </dgm:prSet>
      <dgm:spPr/>
    </dgm:pt>
    <dgm:pt modelId="{F2B9B4B6-0F4C-4AF8-A9E7-2709D6CDB5E7}" type="pres">
      <dgm:prSet presAssocID="{240BFC63-B855-45F6-9843-4A22DF1A6C3B}" presName="L2TextContainer" presStyleLbl="bgAcc1" presStyleIdx="2" presStyleCnt="3"/>
      <dgm:spPr/>
    </dgm:pt>
    <dgm:pt modelId="{08026AE9-32DD-4767-A99E-353C3F7A9411}" type="pres">
      <dgm:prSet presAssocID="{240BFC63-B855-45F6-9843-4A22DF1A6C3B}" presName="FlexibleEmptyPlaceHolder" presStyleCnt="0"/>
      <dgm:spPr/>
    </dgm:pt>
    <dgm:pt modelId="{E826534C-4969-4CD0-8FE9-8D2CF64483B4}" type="pres">
      <dgm:prSet presAssocID="{240BFC63-B855-45F6-9843-4A22DF1A6C3B}" presName="ConnectLine" presStyleLbl="sibTrans1D1" presStyleIdx="2" presStyleCnt="3"/>
      <dgm:spPr>
        <a:noFill/>
        <a:ln w="6350" cap="flat" cmpd="sng" algn="ctr">
          <a:solidFill>
            <a:schemeClr val="accent1">
              <a:hueOff val="0"/>
              <a:satOff val="0"/>
              <a:lumOff val="0"/>
              <a:alphaOff val="0"/>
            </a:schemeClr>
          </a:solidFill>
          <a:prstDash val="dash"/>
          <a:miter lim="800000"/>
        </a:ln>
        <a:effectLst/>
      </dgm:spPr>
    </dgm:pt>
    <dgm:pt modelId="{9D432C27-65D1-45C6-B9D3-3726F007F556}" type="pres">
      <dgm:prSet presAssocID="{240BFC63-B855-45F6-9843-4A22DF1A6C3B}" presName="ConnectorPoint" presStyleLbl="alignNode1" presStyleIdx="2" presStyleCnt="3"/>
      <dgm:spPr/>
    </dgm:pt>
    <dgm:pt modelId="{938807C8-F4B7-4998-BF20-6C557BE38EED}" type="pres">
      <dgm:prSet presAssocID="{240BFC63-B855-45F6-9843-4A22DF1A6C3B}" presName="EmptyPlaceHolder" presStyleCnt="0"/>
      <dgm:spPr/>
    </dgm:pt>
  </dgm:ptLst>
  <dgm:cxnLst>
    <dgm:cxn modelId="{5963CC07-B548-4764-89E7-A5E02E9F35AC}" type="presOf" srcId="{6B82D6A0-28A6-4F38-8EC3-DD01E695726B}" destId="{5FE9FC21-4EA4-412C-A105-9FE48283EF77}" srcOrd="0" destOrd="0" presId="urn:microsoft.com/office/officeart/2016/7/layout/BasicTimeline"/>
    <dgm:cxn modelId="{98C9350D-920A-4C2D-A821-A0BE5529367B}" srcId="{F28F4481-99FF-4CF0-B0DB-87C9F4E201BA}" destId="{240BFC63-B855-45F6-9843-4A22DF1A6C3B}" srcOrd="2" destOrd="0" parTransId="{2BFA4434-91CF-4D0B-99F4-CF473FA487C6}" sibTransId="{E5C6AC21-0E8D-4CB7-A83E-3F1A7FE6594A}"/>
    <dgm:cxn modelId="{FB7D6420-77E7-4880-B486-39677D605B1A}" type="presOf" srcId="{BD60EBCC-21D8-41ED-921F-C7951BC11424}" destId="{74E79B2C-7A0C-43C2-B448-8937978B642A}" srcOrd="0" destOrd="0" presId="urn:microsoft.com/office/officeart/2016/7/layout/BasicTimeline"/>
    <dgm:cxn modelId="{2AA36933-A2D6-46AB-9AE4-4A1BDBD1A569}" srcId="{6255F66C-0681-4623-B425-91D31ABC2A08}" destId="{3F5981ED-B895-4035-B409-44E3BB7FE328}" srcOrd="0" destOrd="0" parTransId="{9BD72B1B-902E-45B9-ABEC-A4AAF2AE0A07}" sibTransId="{5C264BAD-16E9-4432-994E-6BC675FC1761}"/>
    <dgm:cxn modelId="{DFBEE360-4C9D-4A73-BDB5-CE3D1260701F}" type="presOf" srcId="{F28F4481-99FF-4CF0-B0DB-87C9F4E201BA}" destId="{9C0B1984-ACD4-481E-896E-9542118B7FF2}" srcOrd="0" destOrd="0" presId="urn:microsoft.com/office/officeart/2016/7/layout/BasicTimeline"/>
    <dgm:cxn modelId="{8C3BE461-95F1-40FF-A25B-49C852CF2F34}" srcId="{240BFC63-B855-45F6-9843-4A22DF1A6C3B}" destId="{5F939C37-FF62-4818-A1D0-E603EFEA4E3E}" srcOrd="0" destOrd="0" parTransId="{62212EF8-0B19-41F4-BD84-BD2725DC4ED5}" sibTransId="{B2B12A3C-3111-4595-A652-D04E56A3C81C}"/>
    <dgm:cxn modelId="{3E618569-371E-435D-8C5F-BACA959D5DE1}" type="presOf" srcId="{6255F66C-0681-4623-B425-91D31ABC2A08}" destId="{A2A53906-C3C9-4782-918D-2475695F49CF}" srcOrd="0" destOrd="0" presId="urn:microsoft.com/office/officeart/2016/7/layout/BasicTimeline"/>
    <dgm:cxn modelId="{3E4E4E6E-BB39-47CF-80F2-2B5AC926F487}" srcId="{F28F4481-99FF-4CF0-B0DB-87C9F4E201BA}" destId="{BD60EBCC-21D8-41ED-921F-C7951BC11424}" srcOrd="1" destOrd="0" parTransId="{76DA2ED5-E83A-4283-950E-9C91E203246D}" sibTransId="{10880E75-58AC-4193-8C9F-17FC3F2330C3}"/>
    <dgm:cxn modelId="{C89E8657-CF20-49DA-9361-943EE264B50D}" srcId="{BD60EBCC-21D8-41ED-921F-C7951BC11424}" destId="{6B82D6A0-28A6-4F38-8EC3-DD01E695726B}" srcOrd="0" destOrd="0" parTransId="{CAD65EC9-2BB0-4B0C-98B2-E4E00B874526}" sibTransId="{047F212A-4004-4D50-A6C8-2ED6D717E8A8}"/>
    <dgm:cxn modelId="{6EE1FC90-24D7-4EDD-AD0F-B3CC270A2F64}" type="presOf" srcId="{240BFC63-B855-45F6-9843-4A22DF1A6C3B}" destId="{FDB4122E-F5E5-48E5-AF49-6DBE37846D8F}" srcOrd="0" destOrd="0" presId="urn:microsoft.com/office/officeart/2016/7/layout/BasicTimeline"/>
    <dgm:cxn modelId="{287E809B-4A6E-461F-94A3-CDF5E4576391}" type="presOf" srcId="{3F5981ED-B895-4035-B409-44E3BB7FE328}" destId="{A9A6BCD2-06DB-4B07-B797-53EA54349605}" srcOrd="0" destOrd="0" presId="urn:microsoft.com/office/officeart/2016/7/layout/BasicTimeline"/>
    <dgm:cxn modelId="{31463EAC-A65A-43B2-86D4-99B2524C38A7}" srcId="{F28F4481-99FF-4CF0-B0DB-87C9F4E201BA}" destId="{6255F66C-0681-4623-B425-91D31ABC2A08}" srcOrd="0" destOrd="0" parTransId="{6F3EE882-3B2E-408F-8F36-86F76948ED51}" sibTransId="{8629B7D8-DED4-4E06-B24F-B1262D7337F8}"/>
    <dgm:cxn modelId="{D315EEB7-4974-4078-8A8F-0587A785A372}" type="presOf" srcId="{5F939C37-FF62-4818-A1D0-E603EFEA4E3E}" destId="{F2B9B4B6-0F4C-4AF8-A9E7-2709D6CDB5E7}" srcOrd="0" destOrd="0" presId="urn:microsoft.com/office/officeart/2016/7/layout/BasicTimeline"/>
    <dgm:cxn modelId="{3CD933D9-06FB-4578-9600-702EE9C66D21}" type="presParOf" srcId="{9C0B1984-ACD4-481E-896E-9542118B7FF2}" destId="{9F809189-1A89-4284-AD7B-FB185C470FC3}" srcOrd="0" destOrd="0" presId="urn:microsoft.com/office/officeart/2016/7/layout/BasicTimeline"/>
    <dgm:cxn modelId="{8701EACD-C4A4-4DF8-B420-BC48CE3FB32D}" type="presParOf" srcId="{9C0B1984-ACD4-481E-896E-9542118B7FF2}" destId="{C1B0ABAA-CB60-48B9-832F-328076D48E45}" srcOrd="1" destOrd="0" presId="urn:microsoft.com/office/officeart/2016/7/layout/BasicTimeline"/>
    <dgm:cxn modelId="{8728D81C-BEE6-4399-91F9-C11D37DA0F7F}" type="presParOf" srcId="{C1B0ABAA-CB60-48B9-832F-328076D48E45}" destId="{C54E6D19-E35B-4E7C-9C09-A14A91329A60}" srcOrd="0" destOrd="0" presId="urn:microsoft.com/office/officeart/2016/7/layout/BasicTimeline"/>
    <dgm:cxn modelId="{BE2E9153-7AD6-42CA-A13C-01FF27D6ED03}" type="presParOf" srcId="{C54E6D19-E35B-4E7C-9C09-A14A91329A60}" destId="{A2A53906-C3C9-4782-918D-2475695F49CF}" srcOrd="0" destOrd="0" presId="urn:microsoft.com/office/officeart/2016/7/layout/BasicTimeline"/>
    <dgm:cxn modelId="{99F286A3-09E0-47D3-BB90-EB430F1307D6}" type="presParOf" srcId="{C54E6D19-E35B-4E7C-9C09-A14A91329A60}" destId="{0717ECEE-6572-4CEE-AB43-E97AF6521368}" srcOrd="1" destOrd="0" presId="urn:microsoft.com/office/officeart/2016/7/layout/BasicTimeline"/>
    <dgm:cxn modelId="{3AA6CE87-B412-4B83-AB2F-127BB42CB619}" type="presParOf" srcId="{0717ECEE-6572-4CEE-AB43-E97AF6521368}" destId="{A9A6BCD2-06DB-4B07-B797-53EA54349605}" srcOrd="0" destOrd="0" presId="urn:microsoft.com/office/officeart/2016/7/layout/BasicTimeline"/>
    <dgm:cxn modelId="{5914A781-B887-41DF-8AEA-8E1E7CBE5048}" type="presParOf" srcId="{0717ECEE-6572-4CEE-AB43-E97AF6521368}" destId="{C7F6D930-FE83-41C3-9D5B-F52E067DD255}" srcOrd="1" destOrd="0" presId="urn:microsoft.com/office/officeart/2016/7/layout/BasicTimeline"/>
    <dgm:cxn modelId="{3CAD44D3-1586-4DB0-B768-CFB224A8DEAF}" type="presParOf" srcId="{C54E6D19-E35B-4E7C-9C09-A14A91329A60}" destId="{8C8C245E-6608-40A6-AACD-A7E9FF3EFDB9}" srcOrd="2" destOrd="0" presId="urn:microsoft.com/office/officeart/2016/7/layout/BasicTimeline"/>
    <dgm:cxn modelId="{50BCDFDD-4031-49C5-A890-5AB18268883A}" type="presParOf" srcId="{C54E6D19-E35B-4E7C-9C09-A14A91329A60}" destId="{897A92F0-0013-4A61-8E66-98DDBAAADB29}" srcOrd="3" destOrd="0" presId="urn:microsoft.com/office/officeart/2016/7/layout/BasicTimeline"/>
    <dgm:cxn modelId="{F0347FFD-2B2E-400B-B89E-BA5A5E578512}" type="presParOf" srcId="{C54E6D19-E35B-4E7C-9C09-A14A91329A60}" destId="{B8DEE510-AC8F-425C-86AF-7866E8843FFF}" srcOrd="4" destOrd="0" presId="urn:microsoft.com/office/officeart/2016/7/layout/BasicTimeline"/>
    <dgm:cxn modelId="{C3179B39-9226-44B1-9445-05174FC45675}" type="presParOf" srcId="{C1B0ABAA-CB60-48B9-832F-328076D48E45}" destId="{65C6C693-B6F2-41A9-99D5-4F1931E18B98}" srcOrd="1" destOrd="0" presId="urn:microsoft.com/office/officeart/2016/7/layout/BasicTimeline"/>
    <dgm:cxn modelId="{27D35389-ADD1-4EF9-8FC1-AB8610DA527B}" type="presParOf" srcId="{C1B0ABAA-CB60-48B9-832F-328076D48E45}" destId="{AE5CB198-A596-4E86-80B7-F9D71C5660D5}" srcOrd="2" destOrd="0" presId="urn:microsoft.com/office/officeart/2016/7/layout/BasicTimeline"/>
    <dgm:cxn modelId="{2C34BD50-2AA1-4115-9690-7AFCDAEE0D05}" type="presParOf" srcId="{AE5CB198-A596-4E86-80B7-F9D71C5660D5}" destId="{74E79B2C-7A0C-43C2-B448-8937978B642A}" srcOrd="0" destOrd="0" presId="urn:microsoft.com/office/officeart/2016/7/layout/BasicTimeline"/>
    <dgm:cxn modelId="{3D744AA6-A2C1-4562-B6F9-FCF66BD9169D}" type="presParOf" srcId="{AE5CB198-A596-4E86-80B7-F9D71C5660D5}" destId="{A3AFD61C-866D-420A-AAE6-2B461AEC44A9}" srcOrd="1" destOrd="0" presId="urn:microsoft.com/office/officeart/2016/7/layout/BasicTimeline"/>
    <dgm:cxn modelId="{AA3C4094-5056-4167-A59E-F8300181BAC1}" type="presParOf" srcId="{A3AFD61C-866D-420A-AAE6-2B461AEC44A9}" destId="{5FE9FC21-4EA4-412C-A105-9FE48283EF77}" srcOrd="0" destOrd="0" presId="urn:microsoft.com/office/officeart/2016/7/layout/BasicTimeline"/>
    <dgm:cxn modelId="{7D658AA1-C5E5-42A8-83D3-A96B9E9472B8}" type="presParOf" srcId="{A3AFD61C-866D-420A-AAE6-2B461AEC44A9}" destId="{64D5E0D5-BBE5-4F5D-AFB6-3449C52836B7}" srcOrd="1" destOrd="0" presId="urn:microsoft.com/office/officeart/2016/7/layout/BasicTimeline"/>
    <dgm:cxn modelId="{72922B7A-F858-4C32-A4B8-8C0F1343AB52}" type="presParOf" srcId="{AE5CB198-A596-4E86-80B7-F9D71C5660D5}" destId="{3B9B6D68-48B5-49E2-AE60-A6BBA52C26A9}" srcOrd="2" destOrd="0" presId="urn:microsoft.com/office/officeart/2016/7/layout/BasicTimeline"/>
    <dgm:cxn modelId="{A725B9CC-C37E-49F0-BEA8-CCC89BAE426F}" type="presParOf" srcId="{AE5CB198-A596-4E86-80B7-F9D71C5660D5}" destId="{3C9C6583-60F2-42CD-AEED-5E9F57C52732}" srcOrd="3" destOrd="0" presId="urn:microsoft.com/office/officeart/2016/7/layout/BasicTimeline"/>
    <dgm:cxn modelId="{593483C2-D96C-4984-ADA7-711B2B58DEDA}" type="presParOf" srcId="{AE5CB198-A596-4E86-80B7-F9D71C5660D5}" destId="{0D2683D5-62FB-49FA-A976-BAC50588C504}" srcOrd="4" destOrd="0" presId="urn:microsoft.com/office/officeart/2016/7/layout/BasicTimeline"/>
    <dgm:cxn modelId="{229BB45E-3DF2-41D2-97E6-9339B469503B}" type="presParOf" srcId="{C1B0ABAA-CB60-48B9-832F-328076D48E45}" destId="{B89B4824-E3AA-46FA-93A8-03C68EB69D3D}" srcOrd="3" destOrd="0" presId="urn:microsoft.com/office/officeart/2016/7/layout/BasicTimeline"/>
    <dgm:cxn modelId="{ADCDC80D-8FE8-4F5B-9E28-BF780171431C}" type="presParOf" srcId="{C1B0ABAA-CB60-48B9-832F-328076D48E45}" destId="{959A2BBA-2BC0-4AE9-A35C-922439E36831}" srcOrd="4" destOrd="0" presId="urn:microsoft.com/office/officeart/2016/7/layout/BasicTimeline"/>
    <dgm:cxn modelId="{ABEAC208-2832-4DFC-AD23-A7FDBE86D999}" type="presParOf" srcId="{959A2BBA-2BC0-4AE9-A35C-922439E36831}" destId="{FDB4122E-F5E5-48E5-AF49-6DBE37846D8F}" srcOrd="0" destOrd="0" presId="urn:microsoft.com/office/officeart/2016/7/layout/BasicTimeline"/>
    <dgm:cxn modelId="{519E21BF-B28A-4A69-B649-D0B56FAEED50}" type="presParOf" srcId="{959A2BBA-2BC0-4AE9-A35C-922439E36831}" destId="{59ECC9F6-7053-4F8C-9639-7AD63AA8D0C2}" srcOrd="1" destOrd="0" presId="urn:microsoft.com/office/officeart/2016/7/layout/BasicTimeline"/>
    <dgm:cxn modelId="{E447645E-E82A-4AF7-914F-0B59BF5EAC5F}" type="presParOf" srcId="{59ECC9F6-7053-4F8C-9639-7AD63AA8D0C2}" destId="{F2B9B4B6-0F4C-4AF8-A9E7-2709D6CDB5E7}" srcOrd="0" destOrd="0" presId="urn:microsoft.com/office/officeart/2016/7/layout/BasicTimeline"/>
    <dgm:cxn modelId="{CDF7740F-377D-454F-8657-0A4BA8DF4C4D}" type="presParOf" srcId="{59ECC9F6-7053-4F8C-9639-7AD63AA8D0C2}" destId="{08026AE9-32DD-4767-A99E-353C3F7A9411}" srcOrd="1" destOrd="0" presId="urn:microsoft.com/office/officeart/2016/7/layout/BasicTimeline"/>
    <dgm:cxn modelId="{0DB4A0D1-4E4C-4CB5-B320-21369513FF0B}" type="presParOf" srcId="{959A2BBA-2BC0-4AE9-A35C-922439E36831}" destId="{E826534C-4969-4CD0-8FE9-8D2CF64483B4}" srcOrd="2" destOrd="0" presId="urn:microsoft.com/office/officeart/2016/7/layout/BasicTimeline"/>
    <dgm:cxn modelId="{3A9D6326-90AA-4967-8018-88DFF361D08B}" type="presParOf" srcId="{959A2BBA-2BC0-4AE9-A35C-922439E36831}" destId="{9D432C27-65D1-45C6-B9D3-3726F007F556}" srcOrd="3" destOrd="0" presId="urn:microsoft.com/office/officeart/2016/7/layout/BasicTimeline"/>
    <dgm:cxn modelId="{6A7E1679-A08F-4B98-8352-330C032D1402}" type="presParOf" srcId="{959A2BBA-2BC0-4AE9-A35C-922439E36831}" destId="{938807C8-F4B7-4998-BF20-6C557BE38EED}" srcOrd="4" destOrd="0" presId="urn:microsoft.com/office/officeart/2016/7/layout/BasicTimeline"/>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DBF12E-E90B-44FE-BA8F-75186AB20421}">
      <dsp:nvSpPr>
        <dsp:cNvPr id="0" name=""/>
        <dsp:cNvSpPr/>
      </dsp:nvSpPr>
      <dsp:spPr>
        <a:xfrm>
          <a:off x="0" y="2166425"/>
          <a:ext cx="6260121" cy="0"/>
        </a:xfrm>
        <a:prstGeom prst="line">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A8DFE19A-1D66-4CDD-8B64-4B7E76085D7C}">
      <dsp:nvSpPr>
        <dsp:cNvPr id="0" name=""/>
        <dsp:cNvSpPr/>
      </dsp:nvSpPr>
      <dsp:spPr>
        <a:xfrm>
          <a:off x="174354" y="2326740"/>
          <a:ext cx="2550021" cy="4896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a:latin typeface="Calibri Light" panose="020F0302020204030204"/>
            </a:rPr>
            <a:t>Week 5(11 – 17 oct)</a:t>
          </a:r>
          <a:endParaRPr lang="en-US" sz="2000" kern="1200"/>
        </a:p>
      </dsp:txBody>
      <dsp:txXfrm>
        <a:off x="174354" y="2326740"/>
        <a:ext cx="2550021" cy="489612"/>
      </dsp:txXfrm>
    </dsp:sp>
    <dsp:sp modelId="{89D2FABA-064C-4A05-9CDC-277C02CD570E}">
      <dsp:nvSpPr>
        <dsp:cNvPr id="0" name=""/>
        <dsp:cNvSpPr/>
      </dsp:nvSpPr>
      <dsp:spPr>
        <a:xfrm>
          <a:off x="489" y="327400"/>
          <a:ext cx="2897751" cy="1015782"/>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0" tIns="177800" rIns="177800" bIns="177800" numCol="1" spcCol="1270" anchor="ctr" anchorCtr="0">
          <a:noAutofit/>
        </a:bodyPr>
        <a:lstStyle/>
        <a:p>
          <a:pPr marL="0" lvl="0" indent="0" algn="l" defTabSz="889000" rtl="0">
            <a:lnSpc>
              <a:spcPct val="90000"/>
            </a:lnSpc>
            <a:spcBef>
              <a:spcPct val="0"/>
            </a:spcBef>
            <a:spcAft>
              <a:spcPct val="35000"/>
            </a:spcAft>
            <a:buNone/>
          </a:pPr>
          <a:r>
            <a:rPr lang="en-US" sz="2000" b="1" kern="1200">
              <a:solidFill>
                <a:srgbClr val="C00000"/>
              </a:solidFill>
              <a:latin typeface="Calibri Light" panose="020F0302020204030204"/>
            </a:rPr>
            <a:t>Co-Authorship graph + Paper summarization</a:t>
          </a:r>
          <a:endParaRPr lang="en-US" sz="2000" b="1" kern="1200">
            <a:solidFill>
              <a:srgbClr val="C00000"/>
            </a:solidFill>
          </a:endParaRPr>
        </a:p>
      </dsp:txBody>
      <dsp:txXfrm>
        <a:off x="50075" y="376986"/>
        <a:ext cx="2798579" cy="916610"/>
      </dsp:txXfrm>
    </dsp:sp>
    <dsp:sp modelId="{9F41DA29-1829-4EC7-B2A3-6A7F5982847F}">
      <dsp:nvSpPr>
        <dsp:cNvPr id="0" name=""/>
        <dsp:cNvSpPr/>
      </dsp:nvSpPr>
      <dsp:spPr>
        <a:xfrm>
          <a:off x="1449364" y="1343183"/>
          <a:ext cx="0" cy="823241"/>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3B951AA5-43BC-4882-BF99-47346417A212}">
      <dsp:nvSpPr>
        <dsp:cNvPr id="0" name=""/>
        <dsp:cNvSpPr/>
      </dsp:nvSpPr>
      <dsp:spPr>
        <a:xfrm>
          <a:off x="1855050" y="1516497"/>
          <a:ext cx="2550021" cy="4896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a:latin typeface="Calibri Light" panose="020F0302020204030204"/>
            </a:rPr>
            <a:t>Week 6(18 –24 oct)</a:t>
          </a:r>
          <a:endParaRPr lang="en-US" sz="2000" kern="1200"/>
        </a:p>
      </dsp:txBody>
      <dsp:txXfrm>
        <a:off x="1855050" y="1516497"/>
        <a:ext cx="2550021" cy="489612"/>
      </dsp:txXfrm>
    </dsp:sp>
    <dsp:sp modelId="{DCD354C2-788B-4430-851B-70AC47A023C9}">
      <dsp:nvSpPr>
        <dsp:cNvPr id="0" name=""/>
        <dsp:cNvSpPr/>
      </dsp:nvSpPr>
      <dsp:spPr>
        <a:xfrm>
          <a:off x="1416868" y="2133928"/>
          <a:ext cx="64992" cy="64992"/>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94716F8-BB0F-4059-AACD-E4D751EF0D5B}">
      <dsp:nvSpPr>
        <dsp:cNvPr id="0" name=""/>
        <dsp:cNvSpPr/>
      </dsp:nvSpPr>
      <dsp:spPr>
        <a:xfrm>
          <a:off x="1681185" y="2989666"/>
          <a:ext cx="2897751" cy="1338986"/>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0" tIns="177800" rIns="177800" bIns="177800" numCol="1" spcCol="1270" anchor="ctr" anchorCtr="0">
          <a:noAutofit/>
        </a:bodyPr>
        <a:lstStyle/>
        <a:p>
          <a:pPr marL="0" lvl="0" indent="0" algn="l" defTabSz="889000" rtl="0">
            <a:lnSpc>
              <a:spcPct val="90000"/>
            </a:lnSpc>
            <a:spcBef>
              <a:spcPct val="0"/>
            </a:spcBef>
            <a:spcAft>
              <a:spcPct val="35000"/>
            </a:spcAft>
            <a:buNone/>
          </a:pPr>
          <a:r>
            <a:rPr lang="en-US" sz="2000" b="1" kern="1200">
              <a:solidFill>
                <a:srgbClr val="C00000"/>
              </a:solidFill>
              <a:latin typeface="Calibri Light" panose="020F0302020204030204"/>
            </a:rPr>
            <a:t>Filters for search + Integrated Testing with extended dataset</a:t>
          </a:r>
          <a:endParaRPr lang="en-US" sz="2000" b="1" kern="1200">
            <a:solidFill>
              <a:srgbClr val="C00000"/>
            </a:solidFill>
          </a:endParaRPr>
        </a:p>
      </dsp:txBody>
      <dsp:txXfrm>
        <a:off x="1746549" y="3055030"/>
        <a:ext cx="2767023" cy="1208258"/>
      </dsp:txXfrm>
    </dsp:sp>
    <dsp:sp modelId="{75CFB6F6-0743-4EF8-ABBA-0EDC226BADD3}">
      <dsp:nvSpPr>
        <dsp:cNvPr id="0" name=""/>
        <dsp:cNvSpPr/>
      </dsp:nvSpPr>
      <dsp:spPr>
        <a:xfrm>
          <a:off x="3130061" y="2166424"/>
          <a:ext cx="0" cy="823241"/>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517519CF-597F-4E0E-B42A-20033C11A58B}">
      <dsp:nvSpPr>
        <dsp:cNvPr id="0" name=""/>
        <dsp:cNvSpPr/>
      </dsp:nvSpPr>
      <dsp:spPr>
        <a:xfrm>
          <a:off x="3535746" y="2326740"/>
          <a:ext cx="2550021" cy="4896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a:latin typeface="Calibri Light" panose="020F0302020204030204"/>
            </a:rPr>
            <a:t>Week 7(25-31 oct)</a:t>
          </a:r>
          <a:endParaRPr lang="en-US" sz="2000" kern="1200"/>
        </a:p>
      </dsp:txBody>
      <dsp:txXfrm>
        <a:off x="3535746" y="2326740"/>
        <a:ext cx="2550021" cy="489612"/>
      </dsp:txXfrm>
    </dsp:sp>
    <dsp:sp modelId="{4229A4B2-63C5-4EB5-B2BB-49BED3D0EC92}">
      <dsp:nvSpPr>
        <dsp:cNvPr id="0" name=""/>
        <dsp:cNvSpPr/>
      </dsp:nvSpPr>
      <dsp:spPr>
        <a:xfrm>
          <a:off x="3097564" y="2133928"/>
          <a:ext cx="64992" cy="64992"/>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9A58835-F393-49CD-A84E-A15FF3F0C5EA}">
      <dsp:nvSpPr>
        <dsp:cNvPr id="0" name=""/>
        <dsp:cNvSpPr/>
      </dsp:nvSpPr>
      <dsp:spPr>
        <a:xfrm>
          <a:off x="3361881" y="327400"/>
          <a:ext cx="2897751" cy="1015782"/>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0" tIns="177800" rIns="177800" bIns="177800" numCol="1" spcCol="1270" anchor="ctr" anchorCtr="0">
          <a:noAutofit/>
        </a:bodyPr>
        <a:lstStyle/>
        <a:p>
          <a:pPr marL="0" lvl="0" indent="0" algn="l" defTabSz="889000" rtl="0">
            <a:lnSpc>
              <a:spcPct val="90000"/>
            </a:lnSpc>
            <a:spcBef>
              <a:spcPct val="0"/>
            </a:spcBef>
            <a:spcAft>
              <a:spcPct val="35000"/>
            </a:spcAft>
            <a:buNone/>
          </a:pPr>
          <a:r>
            <a:rPr lang="en-US" sz="2000" b="1" kern="1200">
              <a:solidFill>
                <a:srgbClr val="C00000"/>
              </a:solidFill>
              <a:latin typeface="Calibri Light" panose="020F0302020204030204"/>
            </a:rPr>
            <a:t>UI polish + performance testing</a:t>
          </a:r>
          <a:endParaRPr lang="en-US" sz="2000" b="1" kern="1200">
            <a:solidFill>
              <a:srgbClr val="C00000"/>
            </a:solidFill>
          </a:endParaRPr>
        </a:p>
      </dsp:txBody>
      <dsp:txXfrm>
        <a:off x="3411467" y="376986"/>
        <a:ext cx="2798579" cy="916610"/>
      </dsp:txXfrm>
    </dsp:sp>
    <dsp:sp modelId="{5F302BD3-CB43-4F82-96FD-659707D24BB8}">
      <dsp:nvSpPr>
        <dsp:cNvPr id="0" name=""/>
        <dsp:cNvSpPr/>
      </dsp:nvSpPr>
      <dsp:spPr>
        <a:xfrm>
          <a:off x="4810757" y="1343183"/>
          <a:ext cx="0" cy="823241"/>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6C406FA9-1009-42F2-B665-FC83E6F985D9}">
      <dsp:nvSpPr>
        <dsp:cNvPr id="0" name=""/>
        <dsp:cNvSpPr/>
      </dsp:nvSpPr>
      <dsp:spPr>
        <a:xfrm>
          <a:off x="4778260" y="2133928"/>
          <a:ext cx="64992" cy="64992"/>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809189-1A89-4284-AD7B-FB185C470FC3}">
      <dsp:nvSpPr>
        <dsp:cNvPr id="0" name=""/>
        <dsp:cNvSpPr/>
      </dsp:nvSpPr>
      <dsp:spPr>
        <a:xfrm>
          <a:off x="0" y="2145323"/>
          <a:ext cx="5577840" cy="0"/>
        </a:xfrm>
        <a:prstGeom prst="line">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A2A53906-C3C9-4782-918D-2475695F49CF}">
      <dsp:nvSpPr>
        <dsp:cNvPr id="0" name=""/>
        <dsp:cNvSpPr/>
      </dsp:nvSpPr>
      <dsp:spPr>
        <a:xfrm>
          <a:off x="155351" y="2304076"/>
          <a:ext cx="2272098" cy="4848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rtl="0">
            <a:lnSpc>
              <a:spcPct val="90000"/>
            </a:lnSpc>
            <a:spcBef>
              <a:spcPct val="0"/>
            </a:spcBef>
            <a:spcAft>
              <a:spcPct val="35000"/>
            </a:spcAft>
            <a:buNone/>
            <a:defRPr b="1"/>
          </a:pPr>
          <a:r>
            <a:rPr lang="en-US" sz="2000" kern="1200">
              <a:latin typeface="Calibri Light" panose="020F0302020204030204"/>
            </a:rPr>
            <a:t>Week 8(1-7 </a:t>
          </a:r>
          <a:r>
            <a:rPr lang="en-US" sz="2000" kern="1200" err="1">
              <a:latin typeface="Calibri Light" panose="020F0302020204030204"/>
            </a:rPr>
            <a:t>nov</a:t>
          </a:r>
          <a:r>
            <a:rPr lang="en-US" sz="2000" kern="1200">
              <a:latin typeface="Calibri Light" panose="020F0302020204030204"/>
            </a:rPr>
            <a:t>)</a:t>
          </a:r>
          <a:endParaRPr lang="en-US" sz="2000" kern="1200"/>
        </a:p>
      </dsp:txBody>
      <dsp:txXfrm>
        <a:off x="155351" y="2304076"/>
        <a:ext cx="2272098" cy="484842"/>
      </dsp:txXfrm>
    </dsp:sp>
    <dsp:sp modelId="{A9A6BCD2-06DB-4B07-B797-53EA54349605}">
      <dsp:nvSpPr>
        <dsp:cNvPr id="0" name=""/>
        <dsp:cNvSpPr/>
      </dsp:nvSpPr>
      <dsp:spPr>
        <a:xfrm>
          <a:off x="435" y="301350"/>
          <a:ext cx="2581929" cy="1028749"/>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0" tIns="177800" rIns="177800" bIns="177800" numCol="1" spcCol="1270" anchor="ctr" anchorCtr="0">
          <a:noAutofit/>
        </a:bodyPr>
        <a:lstStyle/>
        <a:p>
          <a:pPr marL="0" lvl="0" indent="0" algn="l" defTabSz="889000" rtl="0">
            <a:lnSpc>
              <a:spcPct val="90000"/>
            </a:lnSpc>
            <a:spcBef>
              <a:spcPct val="0"/>
            </a:spcBef>
            <a:spcAft>
              <a:spcPct val="35000"/>
            </a:spcAft>
            <a:buNone/>
          </a:pPr>
          <a:r>
            <a:rPr lang="en-US" sz="2000" b="1" kern="1200">
              <a:solidFill>
                <a:srgbClr val="C00000"/>
              </a:solidFill>
              <a:latin typeface="Calibri Light" panose="020F0302020204030204"/>
            </a:rPr>
            <a:t>End to End testing pre-deployment</a:t>
          </a:r>
          <a:endParaRPr lang="en-US" sz="2000" b="1" kern="1200">
            <a:solidFill>
              <a:srgbClr val="C00000"/>
            </a:solidFill>
          </a:endParaRPr>
        </a:p>
      </dsp:txBody>
      <dsp:txXfrm>
        <a:off x="50654" y="351569"/>
        <a:ext cx="2481491" cy="928311"/>
      </dsp:txXfrm>
    </dsp:sp>
    <dsp:sp modelId="{8C8C245E-6608-40A6-AACD-A7E9FF3EFDB9}">
      <dsp:nvSpPr>
        <dsp:cNvPr id="0" name=""/>
        <dsp:cNvSpPr/>
      </dsp:nvSpPr>
      <dsp:spPr>
        <a:xfrm>
          <a:off x="1291400" y="1330100"/>
          <a:ext cx="0" cy="815222"/>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74E79B2C-7A0C-43C2-B448-8937978B642A}">
      <dsp:nvSpPr>
        <dsp:cNvPr id="0" name=""/>
        <dsp:cNvSpPr/>
      </dsp:nvSpPr>
      <dsp:spPr>
        <a:xfrm>
          <a:off x="1652870" y="1501726"/>
          <a:ext cx="2272098" cy="4848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rtl="0">
            <a:lnSpc>
              <a:spcPct val="90000"/>
            </a:lnSpc>
            <a:spcBef>
              <a:spcPct val="0"/>
            </a:spcBef>
            <a:spcAft>
              <a:spcPct val="35000"/>
            </a:spcAft>
            <a:buNone/>
            <a:defRPr b="1"/>
          </a:pPr>
          <a:r>
            <a:rPr lang="en-US" sz="2000" b="0" kern="1200">
              <a:latin typeface="Calibri"/>
              <a:ea typeface="Calibri"/>
              <a:cs typeface="Calibri"/>
            </a:rPr>
            <a:t>Week 9(8- 14  </a:t>
          </a:r>
          <a:r>
            <a:rPr lang="en-US" sz="2000" b="0" kern="1200" err="1">
              <a:latin typeface="Calibri"/>
              <a:ea typeface="Calibri"/>
              <a:cs typeface="Calibri"/>
            </a:rPr>
            <a:t>nov</a:t>
          </a:r>
          <a:r>
            <a:rPr lang="en-US" sz="2000" b="0" kern="1200">
              <a:latin typeface="Calibri"/>
              <a:ea typeface="Calibri"/>
              <a:cs typeface="Calibri"/>
            </a:rPr>
            <a:t>)</a:t>
          </a:r>
          <a:endParaRPr lang="en-US" sz="2000" kern="1200"/>
        </a:p>
      </dsp:txBody>
      <dsp:txXfrm>
        <a:off x="1652870" y="1501726"/>
        <a:ext cx="2272098" cy="484842"/>
      </dsp:txXfrm>
    </dsp:sp>
    <dsp:sp modelId="{897A92F0-0013-4A61-8E66-98DDBAAADB29}">
      <dsp:nvSpPr>
        <dsp:cNvPr id="0" name=""/>
        <dsp:cNvSpPr/>
      </dsp:nvSpPr>
      <dsp:spPr>
        <a:xfrm>
          <a:off x="1259220" y="2113143"/>
          <a:ext cx="64359" cy="64359"/>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FE9FC21-4EA4-412C-A105-9FE48283EF77}">
      <dsp:nvSpPr>
        <dsp:cNvPr id="0" name=""/>
        <dsp:cNvSpPr/>
      </dsp:nvSpPr>
      <dsp:spPr>
        <a:xfrm>
          <a:off x="1497955" y="2960545"/>
          <a:ext cx="2581929" cy="731555"/>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0" tIns="177800" rIns="177800" bIns="177800" numCol="1" spcCol="1270" anchor="ctr" anchorCtr="0">
          <a:noAutofit/>
        </a:bodyPr>
        <a:lstStyle/>
        <a:p>
          <a:pPr marL="0" lvl="0" indent="0" algn="l" defTabSz="889000" rtl="0">
            <a:lnSpc>
              <a:spcPct val="90000"/>
            </a:lnSpc>
            <a:spcBef>
              <a:spcPct val="0"/>
            </a:spcBef>
            <a:spcAft>
              <a:spcPct val="35000"/>
            </a:spcAft>
            <a:buNone/>
          </a:pPr>
          <a:r>
            <a:rPr lang="en-US" sz="2000" b="1" kern="1200">
              <a:solidFill>
                <a:srgbClr val="C00000"/>
              </a:solidFill>
              <a:latin typeface="Calibri Light" panose="020F0302020204030204"/>
            </a:rPr>
            <a:t>Deployment on AWS</a:t>
          </a:r>
          <a:endParaRPr lang="en-US" sz="2000" b="1" kern="1200">
            <a:solidFill>
              <a:srgbClr val="C00000"/>
            </a:solidFill>
          </a:endParaRPr>
        </a:p>
      </dsp:txBody>
      <dsp:txXfrm>
        <a:off x="1533667" y="2996257"/>
        <a:ext cx="2510505" cy="660131"/>
      </dsp:txXfrm>
    </dsp:sp>
    <dsp:sp modelId="{3B9B6D68-48B5-49E2-AE60-A6BBA52C26A9}">
      <dsp:nvSpPr>
        <dsp:cNvPr id="0" name=""/>
        <dsp:cNvSpPr/>
      </dsp:nvSpPr>
      <dsp:spPr>
        <a:xfrm>
          <a:off x="2788920" y="2145322"/>
          <a:ext cx="0" cy="815222"/>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FDB4122E-F5E5-48E5-AF49-6DBE37846D8F}">
      <dsp:nvSpPr>
        <dsp:cNvPr id="0" name=""/>
        <dsp:cNvSpPr/>
      </dsp:nvSpPr>
      <dsp:spPr>
        <a:xfrm>
          <a:off x="3150390" y="2304076"/>
          <a:ext cx="2272098" cy="4848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rtl="0">
            <a:lnSpc>
              <a:spcPct val="90000"/>
            </a:lnSpc>
            <a:spcBef>
              <a:spcPct val="0"/>
            </a:spcBef>
            <a:spcAft>
              <a:spcPct val="35000"/>
            </a:spcAft>
            <a:buNone/>
            <a:defRPr b="1"/>
          </a:pPr>
          <a:r>
            <a:rPr lang="en-US" sz="2000" kern="1200">
              <a:latin typeface="Calibri Light" panose="020F0302020204030204"/>
            </a:rPr>
            <a:t>Week 10(15 – 21 </a:t>
          </a:r>
          <a:r>
            <a:rPr lang="en-US" sz="2000" kern="1200" err="1">
              <a:latin typeface="Calibri Light" panose="020F0302020204030204"/>
            </a:rPr>
            <a:t>nov</a:t>
          </a:r>
          <a:r>
            <a:rPr lang="en-US" sz="2000" kern="1200">
              <a:latin typeface="Calibri Light" panose="020F0302020204030204"/>
            </a:rPr>
            <a:t>)</a:t>
          </a:r>
          <a:endParaRPr lang="en-US" sz="2000" kern="1200"/>
        </a:p>
      </dsp:txBody>
      <dsp:txXfrm>
        <a:off x="3150390" y="2304076"/>
        <a:ext cx="2272098" cy="484842"/>
      </dsp:txXfrm>
    </dsp:sp>
    <dsp:sp modelId="{3C9C6583-60F2-42CD-AEED-5E9F57C52732}">
      <dsp:nvSpPr>
        <dsp:cNvPr id="0" name=""/>
        <dsp:cNvSpPr/>
      </dsp:nvSpPr>
      <dsp:spPr>
        <a:xfrm>
          <a:off x="2756740" y="2113143"/>
          <a:ext cx="64359" cy="64359"/>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2B9B4B6-0F4C-4AF8-A9E7-2709D6CDB5E7}">
      <dsp:nvSpPr>
        <dsp:cNvPr id="0" name=""/>
        <dsp:cNvSpPr/>
      </dsp:nvSpPr>
      <dsp:spPr>
        <a:xfrm>
          <a:off x="2995474" y="301350"/>
          <a:ext cx="2581929" cy="1028749"/>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0" tIns="177800" rIns="177800" bIns="177800" numCol="1" spcCol="1270" anchor="ctr" anchorCtr="0">
          <a:noAutofit/>
        </a:bodyPr>
        <a:lstStyle/>
        <a:p>
          <a:pPr marL="0" lvl="0" indent="0" algn="l" defTabSz="889000" rtl="0">
            <a:lnSpc>
              <a:spcPct val="90000"/>
            </a:lnSpc>
            <a:spcBef>
              <a:spcPct val="0"/>
            </a:spcBef>
            <a:spcAft>
              <a:spcPct val="35000"/>
            </a:spcAft>
            <a:buNone/>
          </a:pPr>
          <a:r>
            <a:rPr lang="en-US" sz="2000" b="1" kern="1200">
              <a:solidFill>
                <a:srgbClr val="C00000"/>
              </a:solidFill>
              <a:latin typeface="Calibri Light" panose="020F0302020204030204"/>
            </a:rPr>
            <a:t>Acceptance Testing + Final Submission</a:t>
          </a:r>
          <a:endParaRPr lang="en-US" sz="2000" b="1" kern="1200">
            <a:solidFill>
              <a:srgbClr val="C00000"/>
            </a:solidFill>
          </a:endParaRPr>
        </a:p>
      </dsp:txBody>
      <dsp:txXfrm>
        <a:off x="3045693" y="351569"/>
        <a:ext cx="2481491" cy="928311"/>
      </dsp:txXfrm>
    </dsp:sp>
    <dsp:sp modelId="{E826534C-4969-4CD0-8FE9-8D2CF64483B4}">
      <dsp:nvSpPr>
        <dsp:cNvPr id="0" name=""/>
        <dsp:cNvSpPr/>
      </dsp:nvSpPr>
      <dsp:spPr>
        <a:xfrm>
          <a:off x="4286439" y="1330100"/>
          <a:ext cx="0" cy="815222"/>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9D432C27-65D1-45C6-B9D3-3726F007F556}">
      <dsp:nvSpPr>
        <dsp:cNvPr id="0" name=""/>
        <dsp:cNvSpPr/>
      </dsp:nvSpPr>
      <dsp:spPr>
        <a:xfrm>
          <a:off x="4254259" y="2113143"/>
          <a:ext cx="64359" cy="64359"/>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layout2.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565525" cy="7334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660900" y="0"/>
            <a:ext cx="3567113" cy="733425"/>
          </a:xfrm>
          <a:prstGeom prst="rect">
            <a:avLst/>
          </a:prstGeom>
        </p:spPr>
        <p:txBody>
          <a:bodyPr vert="horz" lIns="91440" tIns="45720" rIns="91440" bIns="45720" rtlCol="0"/>
          <a:lstStyle>
            <a:lvl1pPr algn="r">
              <a:defRPr sz="1200"/>
            </a:lvl1pPr>
          </a:lstStyle>
          <a:p>
            <a:fld id="{FA282F8E-E901-4353-BB1F-FD822372C0D8}" type="datetimeFigureOut">
              <a:t>10/10/2025</a:t>
            </a:fld>
            <a:endParaRPr lang="en-US"/>
          </a:p>
        </p:txBody>
      </p:sp>
      <p:sp>
        <p:nvSpPr>
          <p:cNvPr id="4" name="Slide Image Placeholder 3"/>
          <p:cNvSpPr>
            <a:spLocks noGrp="1" noRot="1" noChangeAspect="1"/>
          </p:cNvSpPr>
          <p:nvPr>
            <p:ph type="sldImg" idx="2"/>
          </p:nvPr>
        </p:nvSpPr>
        <p:spPr>
          <a:xfrm>
            <a:off x="-273050" y="1828800"/>
            <a:ext cx="8775700" cy="49371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822325" y="7040563"/>
            <a:ext cx="6584950" cy="57610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3896975"/>
            <a:ext cx="3565525" cy="7334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660900" y="13896975"/>
            <a:ext cx="3567113" cy="733425"/>
          </a:xfrm>
          <a:prstGeom prst="rect">
            <a:avLst/>
          </a:prstGeom>
        </p:spPr>
        <p:txBody>
          <a:bodyPr vert="horz" lIns="91440" tIns="45720" rIns="91440" bIns="45720" rtlCol="0" anchor="b"/>
          <a:lstStyle>
            <a:lvl1pPr algn="r">
              <a:defRPr sz="1200"/>
            </a:lvl1pPr>
          </a:lstStyle>
          <a:p>
            <a:fld id="{FC8420AF-DE14-41EE-8702-A2E3635CF64F}" type="slidenum">
              <a:t>‹#›</a:t>
            </a:fld>
            <a:endParaRPr lang="en-US"/>
          </a:p>
        </p:txBody>
      </p:sp>
    </p:spTree>
    <p:extLst>
      <p:ext uri="{BB962C8B-B14F-4D97-AF65-F5344CB8AC3E}">
        <p14:creationId xmlns:p14="http://schemas.microsoft.com/office/powerpoint/2010/main" val="26653278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79E6E-D8D0-AC90-F3EE-ABF7454F3C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13295C-1ABF-38F7-3EC5-B4EDE1D213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6C2B8D-3FEC-F54D-E5CF-1562AB8745C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5C6D841-18D7-E487-CA18-C8BA7B40154B}"/>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312498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FAF89-7619-F8DC-7170-37340F9E8F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CF755F-9B3C-B355-E7E0-8B4D0DDEB9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AF8495-34F4-90F4-1148-8F24FA6C0A1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E3E99F2-4D5D-D975-F53A-8DDA6DC9B4E1}"/>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0242119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8CFFF-6BD5-6F04-7B4E-B9D72B5189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0C0A85-275E-D8B4-9C77-9A6089EB1D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4808F4-65A3-32C5-EA9A-7E39C3D9E5F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B132728-16C1-DA2A-F702-58B91A2C3241}"/>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780164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1CDC7-7F20-A5B1-C75C-DE3104B8AA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BFD36F-19DE-F84A-1518-60D65049A9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1F02A2-C18B-83A7-5335-2AAB55386E4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25E7BCE-4FF6-75FE-9760-C01A942A2C39}"/>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6207286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4A214E-E468-5EE9-2944-564A696A32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434DE1-12EF-90AD-D515-9FD939294C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19E9BF-A8DB-41C7-E9CA-8D567E7A944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8F2760E-748C-162E-44AD-B5041E3C4237}"/>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4388174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798E9-7ECF-7539-CE7B-63655D9E14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09B1F0-74F9-9713-49D4-6ED9D1A777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156568-39B5-6AC8-AA0A-D40358AE818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F5EC78B-F45C-B5F5-0F15-3A99FF13B785}"/>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6019102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15816-EC3F-0E56-61E0-1954224231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19D49F-177B-4658-09B9-CEB7C87C62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86B6F0-C9EF-544B-3E75-B10CE90E932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A50305E-EBAB-AFB4-1AC1-CBA54D0647FC}"/>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31357445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FD7D0-C73E-7419-A571-275F34B024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C365DD-6AD4-7DB2-7E2F-88F41F26EC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E74B43-821C-8045-FD18-F6BFE279B9D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F5A4065-F977-D290-90D4-C099DC8D6BCF}"/>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9204918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D5A8A-39BA-A962-E269-E78BB322CD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DEC519-C8E2-CCCC-49DC-071AC31B39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336543-E830-4A69-6A63-6C7EFA50C73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EAFB9EA-C899-08F2-20FA-F7090E4BCC86}"/>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8844564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41F46-299E-BA2E-4AAE-893DF5B9BB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1F1019-7772-E2C2-CF64-B49B5D35BE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8794F0-BB2F-EF8D-8091-471B3375667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FC864BA-EE80-962E-8E5F-58BEF633677A}"/>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38186116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B98AE-0DBE-097F-AA4E-0AA654A4C2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75F6C5-8038-01B2-7BFD-651A7C7D64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E83960-9BC6-C45A-368D-CAC4B7535D4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609201C-3681-B277-77D4-C1CD68D3860A}"/>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22312809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9.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5.xml"/><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21.xml"/><Relationship Id="rId1" Type="http://schemas.openxmlformats.org/officeDocument/2006/relationships/slideLayout" Target="../slideLayouts/slideLayout5.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1644491" y="2469832"/>
            <a:ext cx="11341298" cy="1417677"/>
          </a:xfrm>
          <a:prstGeom prst="rect">
            <a:avLst/>
          </a:prstGeom>
          <a:noFill/>
          <a:ln/>
        </p:spPr>
        <p:txBody>
          <a:bodyPr wrap="none" lIns="0" tIns="0" rIns="0" bIns="0" rtlCol="0" anchor="t"/>
          <a:lstStyle/>
          <a:p>
            <a:pPr marL="0" indent="0" algn="ctr">
              <a:lnSpc>
                <a:spcPts val="11150"/>
              </a:lnSpc>
              <a:buNone/>
            </a:pPr>
            <a:r>
              <a:rPr lang="en-US" sz="8900" b="1">
                <a:solidFill>
                  <a:srgbClr val="282824"/>
                </a:solidFill>
                <a:latin typeface="Lato Bold" pitchFamily="34" charset="0"/>
                <a:ea typeface="Lato Bold" pitchFamily="34" charset="-122"/>
                <a:cs typeface="Lato Bold" pitchFamily="34" charset="-120"/>
              </a:rPr>
              <a:t>ScholarSphere</a:t>
            </a:r>
            <a:endParaRPr lang="en-US" sz="8900"/>
          </a:p>
        </p:txBody>
      </p:sp>
      <p:sp>
        <p:nvSpPr>
          <p:cNvPr id="3" name="Text 1"/>
          <p:cNvSpPr/>
          <p:nvPr/>
        </p:nvSpPr>
        <p:spPr>
          <a:xfrm>
            <a:off x="1133951" y="4596289"/>
            <a:ext cx="12702659" cy="362903"/>
          </a:xfrm>
          <a:prstGeom prst="rect">
            <a:avLst/>
          </a:prstGeom>
          <a:noFill/>
          <a:ln/>
        </p:spPr>
        <p:txBody>
          <a:bodyPr wrap="none" lIns="0" tIns="0" rIns="0" bIns="0" rtlCol="0" anchor="t"/>
          <a:lstStyle/>
          <a:p>
            <a:pPr marL="0" indent="0" algn="ctr">
              <a:lnSpc>
                <a:spcPts val="2850"/>
              </a:lnSpc>
              <a:buNone/>
            </a:pPr>
            <a:r>
              <a:rPr lang="en-US" sz="2000">
                <a:solidFill>
                  <a:srgbClr val="4A4A45"/>
                </a:solidFill>
                <a:latin typeface="Lato"/>
                <a:ea typeface="Lato"/>
                <a:cs typeface="Lato"/>
              </a:rPr>
              <a:t>A graphical exploration and AI summarization for researchers</a:t>
            </a:r>
            <a:endParaRPr lang="en-US" sz="2000">
              <a:latin typeface="Lato"/>
              <a:ea typeface="Lato"/>
              <a:cs typeface="Lato"/>
            </a:endParaRPr>
          </a:p>
        </p:txBody>
      </p:sp>
      <p:sp>
        <p:nvSpPr>
          <p:cNvPr id="5" name="Text 3"/>
          <p:cNvSpPr/>
          <p:nvPr/>
        </p:nvSpPr>
        <p:spPr>
          <a:xfrm>
            <a:off x="793790" y="5469493"/>
            <a:ext cx="13042821" cy="290274"/>
          </a:xfrm>
          <a:prstGeom prst="rect">
            <a:avLst/>
          </a:prstGeom>
          <a:noFill/>
          <a:ln/>
        </p:spPr>
        <p:txBody>
          <a:bodyPr wrap="none" lIns="0" tIns="0" rIns="0" bIns="0" rtlCol="0" anchor="t"/>
          <a:lstStyle/>
          <a:p>
            <a:pPr marL="0" indent="0" algn="ctr">
              <a:lnSpc>
                <a:spcPts val="2250"/>
              </a:lnSpc>
              <a:buNone/>
            </a:pPr>
            <a:r>
              <a:rPr lang="en-US" sz="1600">
                <a:solidFill>
                  <a:srgbClr val="4A4A45"/>
                </a:solidFill>
                <a:latin typeface="Lato"/>
                <a:ea typeface="Lato"/>
                <a:cs typeface="Lato"/>
              </a:rPr>
              <a:t>Members: Annu, Kunal, Paul, Ikshita</a:t>
            </a:r>
            <a:endParaRPr lang="en-US" sz="1600">
              <a:latin typeface="Lato"/>
              <a:ea typeface="Lato"/>
              <a:cs typeface="Lato"/>
            </a:endParaRPr>
          </a:p>
        </p:txBody>
      </p:sp>
      <p:sp>
        <p:nvSpPr>
          <p:cNvPr id="6" name="Rectangle 5">
            <a:extLst>
              <a:ext uri="{FF2B5EF4-FFF2-40B4-BE49-F238E27FC236}">
                <a16:creationId xmlns:a16="http://schemas.microsoft.com/office/drawing/2014/main" id="{219A7A68-017D-A710-F999-2C68E3CECBE8}"/>
              </a:ext>
            </a:extLst>
          </p:cNvPr>
          <p:cNvSpPr/>
          <p:nvPr/>
        </p:nvSpPr>
        <p:spPr>
          <a:xfrm>
            <a:off x="11251477" y="7145944"/>
            <a:ext cx="3462689" cy="108586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368046" y="668655"/>
            <a:ext cx="5894308" cy="708779"/>
          </a:xfrm>
          <a:prstGeom prst="rect">
            <a:avLst/>
          </a:prstGeom>
          <a:noFill/>
          <a:ln/>
        </p:spPr>
        <p:txBody>
          <a:bodyPr wrap="none" lIns="0" tIns="0" rIns="0" bIns="0" rtlCol="0" anchor="t"/>
          <a:lstStyle/>
          <a:p>
            <a:pPr marL="0" indent="0" algn="ctr">
              <a:lnSpc>
                <a:spcPts val="5550"/>
              </a:lnSpc>
              <a:buNone/>
            </a:pPr>
            <a:r>
              <a:rPr lang="en-US" sz="4450" b="1">
                <a:solidFill>
                  <a:srgbClr val="282824"/>
                </a:solidFill>
                <a:latin typeface="Lato Bold" pitchFamily="34" charset="0"/>
                <a:ea typeface="Lato Bold" pitchFamily="34" charset="-122"/>
                <a:cs typeface="Lato Bold" pitchFamily="34" charset="-120"/>
              </a:rPr>
              <a:t>Presentation Overview</a:t>
            </a:r>
            <a:endParaRPr lang="en-US" sz="4450"/>
          </a:p>
        </p:txBody>
      </p:sp>
      <p:sp>
        <p:nvSpPr>
          <p:cNvPr id="3" name="Text 1"/>
          <p:cNvSpPr/>
          <p:nvPr/>
        </p:nvSpPr>
        <p:spPr>
          <a:xfrm>
            <a:off x="793790" y="1831062"/>
            <a:ext cx="13042821" cy="362903"/>
          </a:xfrm>
          <a:prstGeom prst="rect">
            <a:avLst/>
          </a:prstGeom>
          <a:noFill/>
          <a:ln/>
        </p:spPr>
        <p:txBody>
          <a:bodyPr wrap="none" lIns="0" tIns="0" rIns="0" bIns="0" rtlCol="0" anchor="t"/>
          <a:lstStyle/>
          <a:p>
            <a:pPr marL="0" indent="0" algn="l">
              <a:lnSpc>
                <a:spcPts val="2850"/>
              </a:lnSpc>
              <a:buNone/>
            </a:pPr>
            <a:endParaRPr lang="en-US" sz="1750"/>
          </a:p>
        </p:txBody>
      </p:sp>
      <p:pic>
        <p:nvPicPr>
          <p:cNvPr id="4" name="Image 0" descr="preencoded.png"/>
          <p:cNvPicPr>
            <a:picLocks noChangeAspect="1"/>
          </p:cNvPicPr>
          <p:nvPr/>
        </p:nvPicPr>
        <p:blipFill>
          <a:blip r:embed="rId3"/>
          <a:stretch>
            <a:fillRect/>
          </a:stretch>
        </p:blipFill>
        <p:spPr>
          <a:xfrm>
            <a:off x="793790" y="2449116"/>
            <a:ext cx="226814" cy="283488"/>
          </a:xfrm>
          <a:prstGeom prst="rect">
            <a:avLst/>
          </a:prstGeom>
        </p:spPr>
      </p:pic>
      <p:sp>
        <p:nvSpPr>
          <p:cNvPr id="5" name="Shape 2"/>
          <p:cNvSpPr/>
          <p:nvPr/>
        </p:nvSpPr>
        <p:spPr>
          <a:xfrm>
            <a:off x="793790" y="2804160"/>
            <a:ext cx="6407944" cy="30480"/>
          </a:xfrm>
          <a:prstGeom prst="rect">
            <a:avLst/>
          </a:prstGeom>
          <a:solidFill>
            <a:srgbClr val="282824"/>
          </a:solidFill>
          <a:ln/>
        </p:spPr>
      </p:sp>
      <p:sp>
        <p:nvSpPr>
          <p:cNvPr id="6" name="Text 3"/>
          <p:cNvSpPr/>
          <p:nvPr/>
        </p:nvSpPr>
        <p:spPr>
          <a:xfrm>
            <a:off x="1163441" y="2407779"/>
            <a:ext cx="2835235" cy="354330"/>
          </a:xfrm>
          <a:prstGeom prst="rect">
            <a:avLst/>
          </a:prstGeom>
          <a:noFill/>
          <a:ln/>
        </p:spPr>
        <p:txBody>
          <a:bodyPr wrap="none" lIns="0" tIns="0" rIns="0" bIns="0" rtlCol="0" anchor="t"/>
          <a:lstStyle/>
          <a:p>
            <a:pPr marL="0" indent="0" algn="l">
              <a:lnSpc>
                <a:spcPts val="2750"/>
              </a:lnSpc>
              <a:buNone/>
            </a:pPr>
            <a:r>
              <a:rPr lang="en-US" sz="2200" b="1">
                <a:solidFill>
                  <a:srgbClr val="4A4A45"/>
                </a:solidFill>
                <a:latin typeface="Lato Bold" pitchFamily="34" charset="0"/>
                <a:ea typeface="Lato Bold" pitchFamily="34" charset="-122"/>
                <a:cs typeface="Lato Bold" pitchFamily="34" charset="-120"/>
              </a:rPr>
              <a:t>Problem Statement</a:t>
            </a:r>
            <a:endParaRPr lang="en-US" sz="2200"/>
          </a:p>
        </p:txBody>
      </p:sp>
      <p:sp>
        <p:nvSpPr>
          <p:cNvPr id="7" name="Text 4"/>
          <p:cNvSpPr/>
          <p:nvPr/>
        </p:nvSpPr>
        <p:spPr>
          <a:xfrm>
            <a:off x="793790" y="2988988"/>
            <a:ext cx="6407944" cy="362903"/>
          </a:xfrm>
          <a:prstGeom prst="rect">
            <a:avLst/>
          </a:prstGeom>
          <a:noFill/>
          <a:ln/>
        </p:spPr>
        <p:txBody>
          <a:bodyPr wrap="none" lIns="0" tIns="0" rIns="0" bIns="0" rtlCol="0" anchor="t"/>
          <a:lstStyle/>
          <a:p>
            <a:pPr marL="0" indent="0" algn="l">
              <a:lnSpc>
                <a:spcPts val="2850"/>
              </a:lnSpc>
              <a:buNone/>
            </a:pPr>
            <a:r>
              <a:rPr lang="en-US">
                <a:solidFill>
                  <a:srgbClr val="4A4A45"/>
                </a:solidFill>
                <a:latin typeface="Lato"/>
                <a:ea typeface="Lato"/>
                <a:cs typeface="Lato"/>
              </a:rPr>
              <a:t>Identifying the core challenges faced by researchers.</a:t>
            </a:r>
            <a:endParaRPr lang="en-US">
              <a:latin typeface="Lato"/>
              <a:ea typeface="Lato"/>
              <a:cs typeface="Lato"/>
            </a:endParaRPr>
          </a:p>
        </p:txBody>
      </p:sp>
      <p:pic>
        <p:nvPicPr>
          <p:cNvPr id="8" name="Image 1" descr="preencoded.png"/>
          <p:cNvPicPr>
            <a:picLocks noChangeAspect="1"/>
          </p:cNvPicPr>
          <p:nvPr/>
        </p:nvPicPr>
        <p:blipFill>
          <a:blip r:embed="rId4"/>
          <a:stretch>
            <a:fillRect/>
          </a:stretch>
        </p:blipFill>
        <p:spPr>
          <a:xfrm>
            <a:off x="7428548" y="2449116"/>
            <a:ext cx="226814" cy="283488"/>
          </a:xfrm>
          <a:prstGeom prst="rect">
            <a:avLst/>
          </a:prstGeom>
        </p:spPr>
      </p:pic>
      <p:sp>
        <p:nvSpPr>
          <p:cNvPr id="9" name="Shape 5"/>
          <p:cNvSpPr/>
          <p:nvPr/>
        </p:nvSpPr>
        <p:spPr>
          <a:xfrm>
            <a:off x="7428548" y="2804160"/>
            <a:ext cx="6408063" cy="30480"/>
          </a:xfrm>
          <a:prstGeom prst="rect">
            <a:avLst/>
          </a:prstGeom>
          <a:solidFill>
            <a:srgbClr val="282824"/>
          </a:solidFill>
          <a:ln/>
        </p:spPr>
      </p:sp>
      <p:sp>
        <p:nvSpPr>
          <p:cNvPr id="10" name="Text 6"/>
          <p:cNvSpPr/>
          <p:nvPr/>
        </p:nvSpPr>
        <p:spPr>
          <a:xfrm>
            <a:off x="7791714" y="2407779"/>
            <a:ext cx="2835235" cy="354330"/>
          </a:xfrm>
          <a:prstGeom prst="rect">
            <a:avLst/>
          </a:prstGeom>
          <a:noFill/>
          <a:ln/>
        </p:spPr>
        <p:txBody>
          <a:bodyPr wrap="none" lIns="0" tIns="0" rIns="0" bIns="0" rtlCol="0" anchor="t"/>
          <a:lstStyle/>
          <a:p>
            <a:pPr marL="0" indent="0" algn="l">
              <a:lnSpc>
                <a:spcPts val="2750"/>
              </a:lnSpc>
              <a:buNone/>
            </a:pPr>
            <a:r>
              <a:rPr lang="en-US" sz="2200" b="1">
                <a:solidFill>
                  <a:srgbClr val="4A4A45"/>
                </a:solidFill>
                <a:latin typeface="Lato Bold" pitchFamily="34" charset="0"/>
                <a:ea typeface="Lato Bold" pitchFamily="34" charset="-122"/>
                <a:cs typeface="Lato Bold" pitchFamily="34" charset="-120"/>
              </a:rPr>
              <a:t>Proposition</a:t>
            </a:r>
            <a:endParaRPr lang="en-US" sz="2200"/>
          </a:p>
        </p:txBody>
      </p:sp>
      <p:sp>
        <p:nvSpPr>
          <p:cNvPr id="11" name="Text 7"/>
          <p:cNvSpPr/>
          <p:nvPr/>
        </p:nvSpPr>
        <p:spPr>
          <a:xfrm>
            <a:off x="7428548" y="2988988"/>
            <a:ext cx="6408063" cy="362903"/>
          </a:xfrm>
          <a:prstGeom prst="rect">
            <a:avLst/>
          </a:prstGeom>
          <a:noFill/>
          <a:ln/>
        </p:spPr>
        <p:txBody>
          <a:bodyPr wrap="none" lIns="0" tIns="0" rIns="0" bIns="0" rtlCol="0" anchor="t"/>
          <a:lstStyle/>
          <a:p>
            <a:pPr marL="0" indent="0" algn="l">
              <a:lnSpc>
                <a:spcPts val="2850"/>
              </a:lnSpc>
              <a:buNone/>
            </a:pPr>
            <a:r>
              <a:rPr lang="en-US">
                <a:solidFill>
                  <a:srgbClr val="4A4A45"/>
                </a:solidFill>
                <a:latin typeface="Lato"/>
                <a:ea typeface="Lato"/>
                <a:cs typeface="Lato"/>
              </a:rPr>
              <a:t>Our  solution to address these challenges.</a:t>
            </a:r>
            <a:endParaRPr lang="en-US">
              <a:latin typeface="Lato"/>
              <a:ea typeface="Lato"/>
              <a:cs typeface="Lato"/>
            </a:endParaRPr>
          </a:p>
        </p:txBody>
      </p:sp>
      <p:pic>
        <p:nvPicPr>
          <p:cNvPr id="12" name="Image 2" descr="preencoded.png"/>
          <p:cNvPicPr>
            <a:picLocks noChangeAspect="1"/>
          </p:cNvPicPr>
          <p:nvPr/>
        </p:nvPicPr>
        <p:blipFill>
          <a:blip r:embed="rId5"/>
          <a:stretch>
            <a:fillRect/>
          </a:stretch>
        </p:blipFill>
        <p:spPr>
          <a:xfrm>
            <a:off x="793790" y="4228624"/>
            <a:ext cx="226814" cy="283488"/>
          </a:xfrm>
          <a:prstGeom prst="rect">
            <a:avLst/>
          </a:prstGeom>
        </p:spPr>
      </p:pic>
      <p:sp>
        <p:nvSpPr>
          <p:cNvPr id="13" name="Shape 8"/>
          <p:cNvSpPr/>
          <p:nvPr/>
        </p:nvSpPr>
        <p:spPr>
          <a:xfrm>
            <a:off x="793790" y="4583668"/>
            <a:ext cx="6407944" cy="30480"/>
          </a:xfrm>
          <a:prstGeom prst="rect">
            <a:avLst/>
          </a:prstGeom>
          <a:solidFill>
            <a:srgbClr val="282824"/>
          </a:solidFill>
          <a:ln/>
        </p:spPr>
      </p:sp>
      <p:sp>
        <p:nvSpPr>
          <p:cNvPr id="14" name="Text 9"/>
          <p:cNvSpPr/>
          <p:nvPr/>
        </p:nvSpPr>
        <p:spPr>
          <a:xfrm>
            <a:off x="1163441" y="4193772"/>
            <a:ext cx="2835235" cy="354330"/>
          </a:xfrm>
          <a:prstGeom prst="rect">
            <a:avLst/>
          </a:prstGeom>
          <a:noFill/>
          <a:ln/>
        </p:spPr>
        <p:txBody>
          <a:bodyPr wrap="none" lIns="0" tIns="0" rIns="0" bIns="0" rtlCol="0" anchor="t"/>
          <a:lstStyle/>
          <a:p>
            <a:pPr marL="0" indent="0" algn="l">
              <a:lnSpc>
                <a:spcPts val="2750"/>
              </a:lnSpc>
              <a:buNone/>
            </a:pPr>
            <a:r>
              <a:rPr lang="en-US" sz="2200" b="1">
                <a:solidFill>
                  <a:srgbClr val="4A4A45"/>
                </a:solidFill>
                <a:latin typeface="Lato Bold" pitchFamily="34" charset="0"/>
                <a:ea typeface="Lato Bold" pitchFamily="34" charset="-122"/>
                <a:cs typeface="Lato Bold" pitchFamily="34" charset="-120"/>
              </a:rPr>
              <a:t>Key Features</a:t>
            </a:r>
            <a:endParaRPr lang="en-US" sz="2200"/>
          </a:p>
        </p:txBody>
      </p:sp>
      <p:sp>
        <p:nvSpPr>
          <p:cNvPr id="15" name="Text 10"/>
          <p:cNvSpPr/>
          <p:nvPr/>
        </p:nvSpPr>
        <p:spPr>
          <a:xfrm>
            <a:off x="793790" y="4742556"/>
            <a:ext cx="6407944" cy="362903"/>
          </a:xfrm>
          <a:prstGeom prst="rect">
            <a:avLst/>
          </a:prstGeom>
          <a:noFill/>
          <a:ln/>
        </p:spPr>
        <p:txBody>
          <a:bodyPr wrap="none" lIns="0" tIns="0" rIns="0" bIns="0" rtlCol="0" anchor="t"/>
          <a:lstStyle/>
          <a:p>
            <a:pPr>
              <a:lnSpc>
                <a:spcPts val="2850"/>
              </a:lnSpc>
            </a:pPr>
            <a:r>
              <a:rPr lang="en-US">
                <a:solidFill>
                  <a:srgbClr val="4A4A45"/>
                </a:solidFill>
                <a:latin typeface="Lato"/>
                <a:ea typeface="Lato"/>
                <a:cs typeface="Lato"/>
              </a:rPr>
              <a:t>Highlighting the functionalities of </a:t>
            </a:r>
            <a:r>
              <a:rPr lang="en-US" err="1">
                <a:solidFill>
                  <a:srgbClr val="4A4A45"/>
                </a:solidFill>
                <a:latin typeface="Lato"/>
                <a:ea typeface="Lato"/>
                <a:cs typeface="Lato"/>
              </a:rPr>
              <a:t>ScholarSphere</a:t>
            </a:r>
            <a:r>
              <a:rPr lang="en-US">
                <a:solidFill>
                  <a:srgbClr val="4A4A45"/>
                </a:solidFill>
                <a:latin typeface="Lato"/>
                <a:ea typeface="Lato"/>
                <a:cs typeface="Lato"/>
              </a:rPr>
              <a:t>.</a:t>
            </a:r>
            <a:endParaRPr lang="en-US">
              <a:latin typeface="Lato"/>
              <a:ea typeface="Lato"/>
              <a:cs typeface="Lato"/>
            </a:endParaRPr>
          </a:p>
        </p:txBody>
      </p:sp>
      <p:pic>
        <p:nvPicPr>
          <p:cNvPr id="16" name="Image 3" descr="preencoded.png"/>
          <p:cNvPicPr>
            <a:picLocks noChangeAspect="1"/>
          </p:cNvPicPr>
          <p:nvPr/>
        </p:nvPicPr>
        <p:blipFill>
          <a:blip r:embed="rId6"/>
          <a:stretch>
            <a:fillRect/>
          </a:stretch>
        </p:blipFill>
        <p:spPr>
          <a:xfrm>
            <a:off x="7428548" y="4228624"/>
            <a:ext cx="226814" cy="283488"/>
          </a:xfrm>
          <a:prstGeom prst="rect">
            <a:avLst/>
          </a:prstGeom>
        </p:spPr>
      </p:pic>
      <p:sp>
        <p:nvSpPr>
          <p:cNvPr id="17" name="Shape 11"/>
          <p:cNvSpPr/>
          <p:nvPr/>
        </p:nvSpPr>
        <p:spPr>
          <a:xfrm>
            <a:off x="7428548" y="4583668"/>
            <a:ext cx="6408063" cy="30480"/>
          </a:xfrm>
          <a:prstGeom prst="rect">
            <a:avLst/>
          </a:prstGeom>
          <a:solidFill>
            <a:srgbClr val="282824"/>
          </a:solidFill>
          <a:ln/>
        </p:spPr>
      </p:sp>
      <p:sp>
        <p:nvSpPr>
          <p:cNvPr id="18" name="Text 12"/>
          <p:cNvSpPr/>
          <p:nvPr/>
        </p:nvSpPr>
        <p:spPr>
          <a:xfrm>
            <a:off x="7791714" y="4193772"/>
            <a:ext cx="2922865" cy="354330"/>
          </a:xfrm>
          <a:prstGeom prst="rect">
            <a:avLst/>
          </a:prstGeom>
          <a:noFill/>
          <a:ln/>
        </p:spPr>
        <p:txBody>
          <a:bodyPr wrap="none" lIns="0" tIns="0" rIns="0" bIns="0" rtlCol="0" anchor="t"/>
          <a:lstStyle/>
          <a:p>
            <a:pPr marL="0" indent="0" algn="l">
              <a:lnSpc>
                <a:spcPts val="2750"/>
              </a:lnSpc>
              <a:buNone/>
            </a:pPr>
            <a:r>
              <a:rPr lang="en-US" sz="2200" b="1">
                <a:solidFill>
                  <a:srgbClr val="4A4A45"/>
                </a:solidFill>
                <a:latin typeface="Lato Bold" pitchFamily="34" charset="0"/>
                <a:ea typeface="Lato Bold" pitchFamily="34" charset="-122"/>
                <a:cs typeface="Lato Bold" pitchFamily="34" charset="-120"/>
              </a:rPr>
              <a:t>Architecture Overview</a:t>
            </a:r>
            <a:endParaRPr lang="en-US" sz="2200"/>
          </a:p>
        </p:txBody>
      </p:sp>
      <p:sp>
        <p:nvSpPr>
          <p:cNvPr id="19" name="Text 13"/>
          <p:cNvSpPr/>
          <p:nvPr/>
        </p:nvSpPr>
        <p:spPr>
          <a:xfrm>
            <a:off x="7428548" y="4742556"/>
            <a:ext cx="6408063" cy="362903"/>
          </a:xfrm>
          <a:prstGeom prst="rect">
            <a:avLst/>
          </a:prstGeom>
          <a:noFill/>
          <a:ln/>
        </p:spPr>
        <p:txBody>
          <a:bodyPr wrap="none" lIns="0" tIns="0" rIns="0" bIns="0" rtlCol="0" anchor="t"/>
          <a:lstStyle/>
          <a:p>
            <a:pPr marL="0" indent="0" algn="l">
              <a:lnSpc>
                <a:spcPts val="2850"/>
              </a:lnSpc>
              <a:buNone/>
            </a:pPr>
            <a:r>
              <a:rPr lang="en-US">
                <a:solidFill>
                  <a:srgbClr val="4A4A45"/>
                </a:solidFill>
                <a:latin typeface="Lato"/>
                <a:ea typeface="Lato"/>
                <a:cs typeface="Lato"/>
              </a:rPr>
              <a:t>Understanding the system's underlying structure.</a:t>
            </a:r>
            <a:endParaRPr lang="en-US">
              <a:latin typeface="Lato"/>
              <a:ea typeface="Lato"/>
              <a:cs typeface="Lato"/>
            </a:endParaRPr>
          </a:p>
        </p:txBody>
      </p:sp>
      <p:pic>
        <p:nvPicPr>
          <p:cNvPr id="20" name="Image 4" descr="preencoded.png"/>
          <p:cNvPicPr>
            <a:picLocks noChangeAspect="1"/>
          </p:cNvPicPr>
          <p:nvPr/>
        </p:nvPicPr>
        <p:blipFill>
          <a:blip r:embed="rId7"/>
          <a:stretch>
            <a:fillRect/>
          </a:stretch>
        </p:blipFill>
        <p:spPr>
          <a:xfrm>
            <a:off x="793790" y="6008132"/>
            <a:ext cx="226814" cy="283488"/>
          </a:xfrm>
          <a:prstGeom prst="rect">
            <a:avLst/>
          </a:prstGeom>
        </p:spPr>
      </p:pic>
      <p:sp>
        <p:nvSpPr>
          <p:cNvPr id="21" name="Shape 14"/>
          <p:cNvSpPr/>
          <p:nvPr/>
        </p:nvSpPr>
        <p:spPr>
          <a:xfrm>
            <a:off x="793790" y="6363176"/>
            <a:ext cx="6407944" cy="30480"/>
          </a:xfrm>
          <a:prstGeom prst="rect">
            <a:avLst/>
          </a:prstGeom>
          <a:solidFill>
            <a:srgbClr val="282824"/>
          </a:solidFill>
          <a:ln/>
        </p:spPr>
      </p:sp>
      <p:sp>
        <p:nvSpPr>
          <p:cNvPr id="22" name="Text 15"/>
          <p:cNvSpPr/>
          <p:nvPr/>
        </p:nvSpPr>
        <p:spPr>
          <a:xfrm>
            <a:off x="1163441" y="5973280"/>
            <a:ext cx="2835235" cy="354330"/>
          </a:xfrm>
          <a:prstGeom prst="rect">
            <a:avLst/>
          </a:prstGeom>
          <a:noFill/>
          <a:ln/>
        </p:spPr>
        <p:txBody>
          <a:bodyPr wrap="none" lIns="0" tIns="0" rIns="0" bIns="0" rtlCol="0" anchor="t"/>
          <a:lstStyle/>
          <a:p>
            <a:pPr marL="0" indent="0" algn="l">
              <a:lnSpc>
                <a:spcPts val="2750"/>
              </a:lnSpc>
              <a:buNone/>
            </a:pPr>
            <a:r>
              <a:rPr lang="en-US" sz="2200" b="1">
                <a:solidFill>
                  <a:srgbClr val="4A4A45"/>
                </a:solidFill>
                <a:latin typeface="Lato Bold"/>
                <a:ea typeface="Lato Bold"/>
                <a:cs typeface="Lato Bold"/>
              </a:rPr>
              <a:t>Workflow</a:t>
            </a:r>
          </a:p>
        </p:txBody>
      </p:sp>
      <p:sp>
        <p:nvSpPr>
          <p:cNvPr id="23" name="Text 16"/>
          <p:cNvSpPr/>
          <p:nvPr/>
        </p:nvSpPr>
        <p:spPr>
          <a:xfrm>
            <a:off x="793790" y="6548004"/>
            <a:ext cx="6407944" cy="362903"/>
          </a:xfrm>
          <a:prstGeom prst="rect">
            <a:avLst/>
          </a:prstGeom>
          <a:noFill/>
          <a:ln/>
        </p:spPr>
        <p:txBody>
          <a:bodyPr wrap="none" lIns="0" tIns="0" rIns="0" bIns="0" rtlCol="0" anchor="t"/>
          <a:lstStyle/>
          <a:p>
            <a:pPr>
              <a:lnSpc>
                <a:spcPts val="2850"/>
              </a:lnSpc>
            </a:pPr>
            <a:r>
              <a:rPr lang="en-US">
                <a:solidFill>
                  <a:srgbClr val="4A4A45"/>
                </a:solidFill>
                <a:latin typeface="Lato"/>
                <a:ea typeface="Lato"/>
                <a:cs typeface="Lato"/>
              </a:rPr>
              <a:t>How </a:t>
            </a:r>
            <a:r>
              <a:rPr lang="en-US" err="1">
                <a:solidFill>
                  <a:srgbClr val="4A4A45"/>
                </a:solidFill>
                <a:latin typeface="Lato"/>
                <a:ea typeface="Lato"/>
                <a:cs typeface="Lato"/>
              </a:rPr>
              <a:t>ScholarSphere</a:t>
            </a:r>
            <a:r>
              <a:rPr lang="en-US">
                <a:solidFill>
                  <a:srgbClr val="4A4A45"/>
                </a:solidFill>
                <a:latin typeface="Lato"/>
                <a:ea typeface="Lato"/>
                <a:cs typeface="Lato"/>
              </a:rPr>
              <a:t> will work.</a:t>
            </a:r>
            <a:endParaRPr lang="en-US">
              <a:latin typeface="Lato"/>
              <a:ea typeface="Lato"/>
              <a:cs typeface="Lato"/>
            </a:endParaRPr>
          </a:p>
        </p:txBody>
      </p:sp>
      <p:pic>
        <p:nvPicPr>
          <p:cNvPr id="24" name="Image 5" descr="preencoded.png"/>
          <p:cNvPicPr>
            <a:picLocks noChangeAspect="1"/>
          </p:cNvPicPr>
          <p:nvPr/>
        </p:nvPicPr>
        <p:blipFill>
          <a:blip r:embed="rId8"/>
          <a:stretch>
            <a:fillRect/>
          </a:stretch>
        </p:blipFill>
        <p:spPr>
          <a:xfrm>
            <a:off x="7428548" y="6008132"/>
            <a:ext cx="226814" cy="283488"/>
          </a:xfrm>
          <a:prstGeom prst="rect">
            <a:avLst/>
          </a:prstGeom>
        </p:spPr>
      </p:pic>
      <p:sp>
        <p:nvSpPr>
          <p:cNvPr id="25" name="Shape 17"/>
          <p:cNvSpPr/>
          <p:nvPr/>
        </p:nvSpPr>
        <p:spPr>
          <a:xfrm>
            <a:off x="7428548" y="6363176"/>
            <a:ext cx="6408063" cy="30480"/>
          </a:xfrm>
          <a:prstGeom prst="rect">
            <a:avLst/>
          </a:prstGeom>
          <a:solidFill>
            <a:srgbClr val="282824"/>
          </a:solidFill>
          <a:ln/>
        </p:spPr>
      </p:sp>
      <p:sp>
        <p:nvSpPr>
          <p:cNvPr id="26" name="Text 18"/>
          <p:cNvSpPr/>
          <p:nvPr/>
        </p:nvSpPr>
        <p:spPr>
          <a:xfrm>
            <a:off x="7791714" y="5973280"/>
            <a:ext cx="2835235" cy="354330"/>
          </a:xfrm>
          <a:prstGeom prst="rect">
            <a:avLst/>
          </a:prstGeom>
          <a:noFill/>
          <a:ln/>
        </p:spPr>
        <p:txBody>
          <a:bodyPr wrap="none" lIns="0" tIns="0" rIns="0" bIns="0" rtlCol="0" anchor="t"/>
          <a:lstStyle/>
          <a:p>
            <a:pPr marL="0" indent="0" algn="l">
              <a:lnSpc>
                <a:spcPts val="2750"/>
              </a:lnSpc>
              <a:buNone/>
            </a:pPr>
            <a:r>
              <a:rPr lang="en-US" sz="2200" b="1">
                <a:solidFill>
                  <a:srgbClr val="4A4A45"/>
                </a:solidFill>
                <a:latin typeface="Lato Bold" pitchFamily="34" charset="0"/>
                <a:ea typeface="Lato Bold" pitchFamily="34" charset="-122"/>
                <a:cs typeface="Lato Bold" pitchFamily="34" charset="-120"/>
              </a:rPr>
              <a:t>Technology Stack</a:t>
            </a:r>
            <a:endParaRPr lang="en-US" sz="2200"/>
          </a:p>
        </p:txBody>
      </p:sp>
      <p:sp>
        <p:nvSpPr>
          <p:cNvPr id="27" name="Text 19"/>
          <p:cNvSpPr/>
          <p:nvPr/>
        </p:nvSpPr>
        <p:spPr>
          <a:xfrm>
            <a:off x="7428548" y="6548004"/>
            <a:ext cx="6408063" cy="362903"/>
          </a:xfrm>
          <a:prstGeom prst="rect">
            <a:avLst/>
          </a:prstGeom>
          <a:noFill/>
          <a:ln/>
        </p:spPr>
        <p:txBody>
          <a:bodyPr wrap="none" lIns="0" tIns="0" rIns="0" bIns="0" rtlCol="0" anchor="t"/>
          <a:lstStyle/>
          <a:p>
            <a:pPr>
              <a:lnSpc>
                <a:spcPts val="2850"/>
              </a:lnSpc>
            </a:pPr>
            <a:r>
              <a:rPr lang="en-US">
                <a:solidFill>
                  <a:srgbClr val="4A4A45"/>
                </a:solidFill>
                <a:latin typeface="Lato"/>
                <a:ea typeface="Lato"/>
                <a:cs typeface="Lato"/>
              </a:rPr>
              <a:t>The tools and frameworks to be used.</a:t>
            </a:r>
            <a:endParaRPr lang="en-US">
              <a:latin typeface="Calibri" panose="020F0502020204030204"/>
              <a:ea typeface="Calibri" panose="020F0502020204030204"/>
              <a:cs typeface="Calibri" panose="020F0502020204030204"/>
            </a:endParaRPr>
          </a:p>
        </p:txBody>
      </p:sp>
      <p:sp>
        <p:nvSpPr>
          <p:cNvPr id="29" name="Rectangle 28">
            <a:extLst>
              <a:ext uri="{FF2B5EF4-FFF2-40B4-BE49-F238E27FC236}">
                <a16:creationId xmlns:a16="http://schemas.microsoft.com/office/drawing/2014/main" id="{CB1CA1EB-2D6D-1A9D-8C92-CF3DD1979828}"/>
              </a:ext>
            </a:extLst>
          </p:cNvPr>
          <p:cNvSpPr/>
          <p:nvPr/>
        </p:nvSpPr>
        <p:spPr>
          <a:xfrm>
            <a:off x="11251477" y="7145944"/>
            <a:ext cx="3462689" cy="108586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3807023" y="2177653"/>
            <a:ext cx="7016234" cy="708779"/>
          </a:xfrm>
          <a:prstGeom prst="rect">
            <a:avLst/>
          </a:prstGeom>
          <a:noFill/>
          <a:ln/>
        </p:spPr>
        <p:txBody>
          <a:bodyPr wrap="none" lIns="0" tIns="0" rIns="0" bIns="0" rtlCol="0" anchor="t"/>
          <a:lstStyle/>
          <a:p>
            <a:pPr marL="0" indent="0" algn="ctr">
              <a:lnSpc>
                <a:spcPts val="5550"/>
              </a:lnSpc>
              <a:buNone/>
            </a:pPr>
            <a:r>
              <a:rPr lang="en-US" sz="4450" b="1">
                <a:solidFill>
                  <a:srgbClr val="282824"/>
                </a:solidFill>
                <a:latin typeface="Lato Bold" pitchFamily="34" charset="0"/>
                <a:ea typeface="Lato Bold" pitchFamily="34" charset="-122"/>
                <a:cs typeface="Lato Bold" pitchFamily="34" charset="-120"/>
              </a:rPr>
              <a:t> Key Challenges in Research</a:t>
            </a:r>
            <a:endParaRPr lang="en-US" sz="4450"/>
          </a:p>
        </p:txBody>
      </p:sp>
      <p:sp>
        <p:nvSpPr>
          <p:cNvPr id="3" name="Text 1"/>
          <p:cNvSpPr/>
          <p:nvPr/>
        </p:nvSpPr>
        <p:spPr>
          <a:xfrm>
            <a:off x="793790" y="3340060"/>
            <a:ext cx="13042821" cy="362903"/>
          </a:xfrm>
          <a:prstGeom prst="rect">
            <a:avLst/>
          </a:prstGeom>
          <a:noFill/>
          <a:ln/>
        </p:spPr>
        <p:txBody>
          <a:bodyPr wrap="none" lIns="0" tIns="0" rIns="0" bIns="0" rtlCol="0" anchor="t"/>
          <a:lstStyle/>
          <a:p>
            <a:pPr marL="0" indent="0" algn="l">
              <a:lnSpc>
                <a:spcPts val="2850"/>
              </a:lnSpc>
              <a:buNone/>
            </a:pPr>
            <a:endParaRPr lang="en-US" sz="1750"/>
          </a:p>
        </p:txBody>
      </p:sp>
      <p:sp>
        <p:nvSpPr>
          <p:cNvPr id="4" name="Shape 2"/>
          <p:cNvSpPr/>
          <p:nvPr/>
        </p:nvSpPr>
        <p:spPr>
          <a:xfrm>
            <a:off x="793790" y="3958114"/>
            <a:ext cx="4196358" cy="2093714"/>
          </a:xfrm>
          <a:prstGeom prst="roundRect">
            <a:avLst>
              <a:gd name="adj" fmla="val 6988"/>
            </a:avLst>
          </a:prstGeom>
          <a:solidFill>
            <a:srgbClr val="EFECE6"/>
          </a:solidFill>
          <a:ln w="30480">
            <a:solidFill>
              <a:srgbClr val="CBC5B8"/>
            </a:solidFill>
            <a:prstDash val="solid"/>
          </a:ln>
        </p:spPr>
      </p:sp>
      <p:sp>
        <p:nvSpPr>
          <p:cNvPr id="5" name="Shape 3"/>
          <p:cNvSpPr/>
          <p:nvPr/>
        </p:nvSpPr>
        <p:spPr>
          <a:xfrm>
            <a:off x="763310" y="3958114"/>
            <a:ext cx="121920" cy="2093714"/>
          </a:xfrm>
          <a:prstGeom prst="roundRect">
            <a:avLst>
              <a:gd name="adj" fmla="val 27907"/>
            </a:avLst>
          </a:prstGeom>
          <a:solidFill>
            <a:srgbClr val="282824"/>
          </a:solidFill>
          <a:ln/>
        </p:spPr>
      </p:sp>
      <p:sp>
        <p:nvSpPr>
          <p:cNvPr id="6" name="Text 4"/>
          <p:cNvSpPr/>
          <p:nvPr/>
        </p:nvSpPr>
        <p:spPr>
          <a:xfrm>
            <a:off x="1142524" y="4215408"/>
            <a:ext cx="3395067" cy="354330"/>
          </a:xfrm>
          <a:prstGeom prst="rect">
            <a:avLst/>
          </a:prstGeom>
          <a:noFill/>
          <a:ln/>
        </p:spPr>
        <p:txBody>
          <a:bodyPr wrap="none" lIns="0" tIns="0" rIns="0" bIns="0" rtlCol="0" anchor="t"/>
          <a:lstStyle/>
          <a:p>
            <a:pPr marL="0" indent="0" algn="l">
              <a:lnSpc>
                <a:spcPts val="2750"/>
              </a:lnSpc>
              <a:buNone/>
            </a:pPr>
            <a:r>
              <a:rPr lang="en-US" sz="2200" b="1">
                <a:solidFill>
                  <a:srgbClr val="4A4A45"/>
                </a:solidFill>
                <a:latin typeface="Lato Bold" pitchFamily="34" charset="0"/>
                <a:ea typeface="Lato Bold" pitchFamily="34" charset="-122"/>
                <a:cs typeface="Lato Bold" pitchFamily="34" charset="-120"/>
              </a:rPr>
              <a:t>Explore Publication Trends</a:t>
            </a:r>
            <a:endParaRPr lang="en-US" sz="2200"/>
          </a:p>
        </p:txBody>
      </p:sp>
      <p:sp>
        <p:nvSpPr>
          <p:cNvPr id="7" name="Text 5"/>
          <p:cNvSpPr/>
          <p:nvPr/>
        </p:nvSpPr>
        <p:spPr>
          <a:xfrm>
            <a:off x="1142524" y="4705826"/>
            <a:ext cx="3590330" cy="1088708"/>
          </a:xfrm>
          <a:prstGeom prst="rect">
            <a:avLst/>
          </a:prstGeom>
          <a:noFill/>
          <a:ln/>
        </p:spPr>
        <p:txBody>
          <a:bodyPr wrap="square" lIns="0" tIns="0" rIns="0" bIns="0" rtlCol="0" anchor="t"/>
          <a:lstStyle/>
          <a:p>
            <a:pPr marL="0" indent="0" algn="l">
              <a:lnSpc>
                <a:spcPts val="2850"/>
              </a:lnSpc>
              <a:buNone/>
            </a:pPr>
            <a:r>
              <a:rPr lang="en-US" sz="1750">
                <a:solidFill>
                  <a:srgbClr val="4A4A45"/>
                </a:solidFill>
                <a:latin typeface="Lato" pitchFamily="34" charset="0"/>
                <a:ea typeface="Lato" pitchFamily="34" charset="-122"/>
                <a:cs typeface="Lato" pitchFamily="34" charset="-120"/>
              </a:rPr>
              <a:t>Difficulty understanding who worked with whom and in what years.</a:t>
            </a:r>
            <a:endParaRPr lang="en-US" sz="1750"/>
          </a:p>
        </p:txBody>
      </p:sp>
      <p:sp>
        <p:nvSpPr>
          <p:cNvPr id="8" name="Shape 6"/>
          <p:cNvSpPr/>
          <p:nvPr/>
        </p:nvSpPr>
        <p:spPr>
          <a:xfrm>
            <a:off x="5216962" y="3958114"/>
            <a:ext cx="4196358" cy="2093714"/>
          </a:xfrm>
          <a:prstGeom prst="roundRect">
            <a:avLst>
              <a:gd name="adj" fmla="val 6988"/>
            </a:avLst>
          </a:prstGeom>
          <a:solidFill>
            <a:srgbClr val="EFECE6"/>
          </a:solidFill>
          <a:ln w="30480">
            <a:solidFill>
              <a:srgbClr val="CBC5B8"/>
            </a:solidFill>
            <a:prstDash val="solid"/>
          </a:ln>
        </p:spPr>
      </p:sp>
      <p:sp>
        <p:nvSpPr>
          <p:cNvPr id="9" name="Shape 7"/>
          <p:cNvSpPr/>
          <p:nvPr/>
        </p:nvSpPr>
        <p:spPr>
          <a:xfrm>
            <a:off x="5186482" y="3958114"/>
            <a:ext cx="121920" cy="2093714"/>
          </a:xfrm>
          <a:prstGeom prst="roundRect">
            <a:avLst>
              <a:gd name="adj" fmla="val 27907"/>
            </a:avLst>
          </a:prstGeom>
          <a:solidFill>
            <a:srgbClr val="282824"/>
          </a:solidFill>
          <a:ln/>
        </p:spPr>
      </p:sp>
      <p:sp>
        <p:nvSpPr>
          <p:cNvPr id="10" name="Text 8"/>
          <p:cNvSpPr/>
          <p:nvPr/>
        </p:nvSpPr>
        <p:spPr>
          <a:xfrm>
            <a:off x="5565696" y="4215408"/>
            <a:ext cx="3011091" cy="354330"/>
          </a:xfrm>
          <a:prstGeom prst="rect">
            <a:avLst/>
          </a:prstGeom>
          <a:noFill/>
          <a:ln/>
        </p:spPr>
        <p:txBody>
          <a:bodyPr wrap="none" lIns="0" tIns="0" rIns="0" bIns="0" rtlCol="0" anchor="t"/>
          <a:lstStyle/>
          <a:p>
            <a:pPr marL="0" indent="0" algn="l">
              <a:lnSpc>
                <a:spcPts val="2750"/>
              </a:lnSpc>
              <a:buNone/>
            </a:pPr>
            <a:r>
              <a:rPr lang="en-US" sz="2200" b="1">
                <a:solidFill>
                  <a:srgbClr val="4A4A45"/>
                </a:solidFill>
                <a:latin typeface="Lato Bold"/>
                <a:ea typeface="Lato Bold"/>
                <a:cs typeface="Lato Bold"/>
              </a:rPr>
              <a:t>Assess Paper quickly</a:t>
            </a:r>
            <a:endParaRPr lang="en-US" sz="2200"/>
          </a:p>
        </p:txBody>
      </p:sp>
      <p:sp>
        <p:nvSpPr>
          <p:cNvPr id="11" name="Text 9"/>
          <p:cNvSpPr/>
          <p:nvPr/>
        </p:nvSpPr>
        <p:spPr>
          <a:xfrm>
            <a:off x="5565696" y="4705826"/>
            <a:ext cx="3590330" cy="1088708"/>
          </a:xfrm>
          <a:prstGeom prst="rect">
            <a:avLst/>
          </a:prstGeom>
          <a:noFill/>
          <a:ln/>
        </p:spPr>
        <p:txBody>
          <a:bodyPr wrap="square" lIns="0" tIns="0" rIns="0" bIns="0" rtlCol="0" anchor="t"/>
          <a:lstStyle/>
          <a:p>
            <a:pPr marL="0" indent="0" algn="l">
              <a:lnSpc>
                <a:spcPts val="2850"/>
              </a:lnSpc>
              <a:buNone/>
            </a:pPr>
            <a:r>
              <a:rPr lang="en-US" sz="1750">
                <a:solidFill>
                  <a:srgbClr val="4A4A45"/>
                </a:solidFill>
                <a:latin typeface="Lato" pitchFamily="34" charset="0"/>
                <a:ea typeface="Lato" pitchFamily="34" charset="-122"/>
                <a:cs typeface="Lato" pitchFamily="34" charset="-120"/>
              </a:rPr>
              <a:t>Need to read papers fully to determine relevance without quick summarization.</a:t>
            </a:r>
            <a:endParaRPr lang="en-US" sz="1750"/>
          </a:p>
        </p:txBody>
      </p:sp>
      <p:sp>
        <p:nvSpPr>
          <p:cNvPr id="12" name="Shape 10"/>
          <p:cNvSpPr/>
          <p:nvPr/>
        </p:nvSpPr>
        <p:spPr>
          <a:xfrm>
            <a:off x="9640133" y="3958114"/>
            <a:ext cx="4196358" cy="2093714"/>
          </a:xfrm>
          <a:prstGeom prst="roundRect">
            <a:avLst>
              <a:gd name="adj" fmla="val 6988"/>
            </a:avLst>
          </a:prstGeom>
          <a:solidFill>
            <a:srgbClr val="EFECE6"/>
          </a:solidFill>
          <a:ln w="30480">
            <a:solidFill>
              <a:srgbClr val="CBC5B8"/>
            </a:solidFill>
            <a:prstDash val="solid"/>
          </a:ln>
        </p:spPr>
      </p:sp>
      <p:sp>
        <p:nvSpPr>
          <p:cNvPr id="13" name="Shape 11"/>
          <p:cNvSpPr/>
          <p:nvPr/>
        </p:nvSpPr>
        <p:spPr>
          <a:xfrm>
            <a:off x="9609653" y="3958114"/>
            <a:ext cx="121920" cy="2093714"/>
          </a:xfrm>
          <a:prstGeom prst="roundRect">
            <a:avLst>
              <a:gd name="adj" fmla="val 27907"/>
            </a:avLst>
          </a:prstGeom>
          <a:solidFill>
            <a:srgbClr val="282824"/>
          </a:solidFill>
          <a:ln/>
        </p:spPr>
      </p:sp>
      <p:sp>
        <p:nvSpPr>
          <p:cNvPr id="14" name="Text 12"/>
          <p:cNvSpPr/>
          <p:nvPr/>
        </p:nvSpPr>
        <p:spPr>
          <a:xfrm>
            <a:off x="9988868" y="4215408"/>
            <a:ext cx="3013591" cy="354330"/>
          </a:xfrm>
          <a:prstGeom prst="rect">
            <a:avLst/>
          </a:prstGeom>
          <a:noFill/>
          <a:ln/>
        </p:spPr>
        <p:txBody>
          <a:bodyPr wrap="none" lIns="0" tIns="0" rIns="0" bIns="0" rtlCol="0" anchor="t"/>
          <a:lstStyle/>
          <a:p>
            <a:pPr marL="0" indent="0" algn="l">
              <a:lnSpc>
                <a:spcPts val="2750"/>
              </a:lnSpc>
              <a:buNone/>
            </a:pPr>
            <a:r>
              <a:rPr lang="en-US" sz="2200" b="1">
                <a:solidFill>
                  <a:srgbClr val="4A4A45"/>
                </a:solidFill>
                <a:latin typeface="Lato Bold" pitchFamily="34" charset="0"/>
                <a:ea typeface="Lato Bold" pitchFamily="34" charset="-122"/>
                <a:cs typeface="Lato Bold" pitchFamily="34" charset="-120"/>
              </a:rPr>
              <a:t>Explore Faculty Profiles</a:t>
            </a:r>
            <a:endParaRPr lang="en-US" sz="2200"/>
          </a:p>
        </p:txBody>
      </p:sp>
      <p:sp>
        <p:nvSpPr>
          <p:cNvPr id="15" name="Text 13"/>
          <p:cNvSpPr/>
          <p:nvPr/>
        </p:nvSpPr>
        <p:spPr>
          <a:xfrm>
            <a:off x="9988868" y="4705826"/>
            <a:ext cx="3590330" cy="725805"/>
          </a:xfrm>
          <a:prstGeom prst="rect">
            <a:avLst/>
          </a:prstGeom>
          <a:noFill/>
          <a:ln/>
        </p:spPr>
        <p:txBody>
          <a:bodyPr wrap="square" lIns="0" tIns="0" rIns="0" bIns="0" rtlCol="0" anchor="t"/>
          <a:lstStyle/>
          <a:p>
            <a:pPr marL="0" indent="0" algn="l">
              <a:lnSpc>
                <a:spcPts val="2850"/>
              </a:lnSpc>
              <a:buNone/>
            </a:pPr>
            <a:r>
              <a:rPr lang="en-US" sz="1750">
                <a:solidFill>
                  <a:srgbClr val="4A4A45"/>
                </a:solidFill>
                <a:latin typeface="Lato" pitchFamily="34" charset="0"/>
                <a:ea typeface="Lato" pitchFamily="34" charset="-122"/>
                <a:cs typeface="Lato" pitchFamily="34" charset="-120"/>
              </a:rPr>
              <a:t>Difficulty accessing comprehensive faculty profile information.</a:t>
            </a:r>
            <a:endParaRPr lang="en-US" sz="1750"/>
          </a:p>
        </p:txBody>
      </p:sp>
      <p:sp>
        <p:nvSpPr>
          <p:cNvPr id="17" name="Rectangle 16">
            <a:extLst>
              <a:ext uri="{FF2B5EF4-FFF2-40B4-BE49-F238E27FC236}">
                <a16:creationId xmlns:a16="http://schemas.microsoft.com/office/drawing/2014/main" id="{8F83778C-DD2B-1DAE-25EE-D864E27FA34E}"/>
              </a:ext>
            </a:extLst>
          </p:cNvPr>
          <p:cNvSpPr/>
          <p:nvPr/>
        </p:nvSpPr>
        <p:spPr>
          <a:xfrm>
            <a:off x="11251477" y="7145944"/>
            <a:ext cx="3462689" cy="108586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2316956" y="2208133"/>
            <a:ext cx="9996368" cy="708779"/>
          </a:xfrm>
          <a:prstGeom prst="rect">
            <a:avLst/>
          </a:prstGeom>
          <a:noFill/>
          <a:ln/>
        </p:spPr>
        <p:txBody>
          <a:bodyPr wrap="none" lIns="0" tIns="0" rIns="0" bIns="0" rtlCol="0" anchor="t"/>
          <a:lstStyle/>
          <a:p>
            <a:pPr marL="0" indent="0" algn="ctr">
              <a:lnSpc>
                <a:spcPts val="5550"/>
              </a:lnSpc>
              <a:buNone/>
            </a:pPr>
            <a:r>
              <a:rPr lang="en-US" sz="4450" b="1">
                <a:solidFill>
                  <a:srgbClr val="282824"/>
                </a:solidFill>
                <a:latin typeface="Lato Bold" pitchFamily="34" charset="0"/>
                <a:ea typeface="Lato Bold" pitchFamily="34" charset="-122"/>
                <a:cs typeface="Lato Bold" pitchFamily="34" charset="-120"/>
              </a:rPr>
              <a:t>ScholarSphere: Our Innovative Solution</a:t>
            </a:r>
            <a:endParaRPr lang="en-US" sz="4450"/>
          </a:p>
        </p:txBody>
      </p:sp>
      <p:sp>
        <p:nvSpPr>
          <p:cNvPr id="4" name="Shape 2"/>
          <p:cNvSpPr/>
          <p:nvPr/>
        </p:nvSpPr>
        <p:spPr>
          <a:xfrm>
            <a:off x="793790" y="3988594"/>
            <a:ext cx="4196358" cy="2032754"/>
          </a:xfrm>
          <a:prstGeom prst="roundRect">
            <a:avLst>
              <a:gd name="adj" fmla="val 26781"/>
            </a:avLst>
          </a:prstGeom>
          <a:solidFill>
            <a:srgbClr val="E5DFD2"/>
          </a:solidFill>
          <a:ln/>
        </p:spPr>
      </p:sp>
      <p:sp>
        <p:nvSpPr>
          <p:cNvPr id="5" name="Text 3"/>
          <p:cNvSpPr/>
          <p:nvPr/>
        </p:nvSpPr>
        <p:spPr>
          <a:xfrm>
            <a:off x="1020604" y="4215408"/>
            <a:ext cx="2966085" cy="354330"/>
          </a:xfrm>
          <a:prstGeom prst="rect">
            <a:avLst/>
          </a:prstGeom>
          <a:noFill/>
          <a:ln/>
        </p:spPr>
        <p:txBody>
          <a:bodyPr wrap="none" lIns="0" tIns="0" rIns="0" bIns="0" rtlCol="0" anchor="t"/>
          <a:lstStyle/>
          <a:p>
            <a:pPr marL="0" indent="0" algn="l">
              <a:lnSpc>
                <a:spcPts val="2750"/>
              </a:lnSpc>
              <a:buNone/>
            </a:pPr>
            <a:r>
              <a:rPr lang="en-US" sz="2200" b="1">
                <a:solidFill>
                  <a:srgbClr val="4A4A45"/>
                </a:solidFill>
                <a:latin typeface="Lato Bold" pitchFamily="34" charset="0"/>
                <a:ea typeface="Lato Bold" pitchFamily="34" charset="-122"/>
                <a:cs typeface="Lato Bold" pitchFamily="34" charset="-120"/>
              </a:rPr>
              <a:t>Aggregated Knowledge</a:t>
            </a:r>
            <a:endParaRPr lang="en-US" sz="2200"/>
          </a:p>
        </p:txBody>
      </p:sp>
      <p:sp>
        <p:nvSpPr>
          <p:cNvPr id="6" name="Text 4"/>
          <p:cNvSpPr/>
          <p:nvPr/>
        </p:nvSpPr>
        <p:spPr>
          <a:xfrm>
            <a:off x="1020604" y="4705826"/>
            <a:ext cx="3742730" cy="1088708"/>
          </a:xfrm>
          <a:prstGeom prst="rect">
            <a:avLst/>
          </a:prstGeom>
          <a:noFill/>
          <a:ln/>
        </p:spPr>
        <p:txBody>
          <a:bodyPr wrap="square" lIns="0" tIns="0" rIns="0" bIns="0" rtlCol="0" anchor="t"/>
          <a:lstStyle/>
          <a:p>
            <a:pPr>
              <a:lnSpc>
                <a:spcPts val="2850"/>
              </a:lnSpc>
            </a:pPr>
            <a:r>
              <a:rPr lang="en-US" sz="1750">
                <a:solidFill>
                  <a:srgbClr val="4A4A45"/>
                </a:solidFill>
                <a:latin typeface="Lato"/>
                <a:ea typeface="Lato"/>
                <a:cs typeface="Lato"/>
              </a:rPr>
              <a:t>Unifies faculty publication data from sources like DBLP, ORCID, OpenAlex, etc.</a:t>
            </a:r>
            <a:endParaRPr lang="en-US" sz="1750">
              <a:latin typeface="Lato"/>
              <a:ea typeface="Lato"/>
              <a:cs typeface="Lato"/>
            </a:endParaRPr>
          </a:p>
        </p:txBody>
      </p:sp>
      <p:sp>
        <p:nvSpPr>
          <p:cNvPr id="7" name="Shape 5"/>
          <p:cNvSpPr/>
          <p:nvPr/>
        </p:nvSpPr>
        <p:spPr>
          <a:xfrm>
            <a:off x="5216962" y="3988594"/>
            <a:ext cx="4196358" cy="2032754"/>
          </a:xfrm>
          <a:prstGeom prst="roundRect">
            <a:avLst>
              <a:gd name="adj" fmla="val 26781"/>
            </a:avLst>
          </a:prstGeom>
          <a:solidFill>
            <a:srgbClr val="E5DFD2"/>
          </a:solidFill>
          <a:ln/>
        </p:spPr>
      </p:sp>
      <p:sp>
        <p:nvSpPr>
          <p:cNvPr id="8" name="Text 6"/>
          <p:cNvSpPr/>
          <p:nvPr/>
        </p:nvSpPr>
        <p:spPr>
          <a:xfrm>
            <a:off x="5443776" y="4215408"/>
            <a:ext cx="3100388" cy="354330"/>
          </a:xfrm>
          <a:prstGeom prst="rect">
            <a:avLst/>
          </a:prstGeom>
          <a:noFill/>
          <a:ln/>
        </p:spPr>
        <p:txBody>
          <a:bodyPr wrap="none" lIns="0" tIns="0" rIns="0" bIns="0" rtlCol="0" anchor="t"/>
          <a:lstStyle/>
          <a:p>
            <a:pPr marL="0" indent="0" algn="l">
              <a:lnSpc>
                <a:spcPts val="2750"/>
              </a:lnSpc>
              <a:buNone/>
            </a:pPr>
            <a:r>
              <a:rPr lang="en-US" sz="2200" b="1">
                <a:solidFill>
                  <a:srgbClr val="4A4A45"/>
                </a:solidFill>
                <a:latin typeface="Lato Bold" pitchFamily="34" charset="0"/>
                <a:ea typeface="Lato Bold" pitchFamily="34" charset="-122"/>
                <a:cs typeface="Lato Bold" pitchFamily="34" charset="-120"/>
              </a:rPr>
              <a:t>Interactive Visualization</a:t>
            </a:r>
            <a:endParaRPr lang="en-US" sz="2200"/>
          </a:p>
        </p:txBody>
      </p:sp>
      <p:sp>
        <p:nvSpPr>
          <p:cNvPr id="9" name="Text 7"/>
          <p:cNvSpPr/>
          <p:nvPr/>
        </p:nvSpPr>
        <p:spPr>
          <a:xfrm>
            <a:off x="5443776" y="4705826"/>
            <a:ext cx="3742730" cy="1088708"/>
          </a:xfrm>
          <a:prstGeom prst="rect">
            <a:avLst/>
          </a:prstGeom>
          <a:noFill/>
          <a:ln/>
        </p:spPr>
        <p:txBody>
          <a:bodyPr wrap="square" lIns="0" tIns="0" rIns="0" bIns="0" rtlCol="0" anchor="t"/>
          <a:lstStyle/>
          <a:p>
            <a:pPr marL="0" indent="0" algn="l">
              <a:lnSpc>
                <a:spcPts val="2850"/>
              </a:lnSpc>
              <a:buNone/>
            </a:pPr>
            <a:r>
              <a:rPr lang="en-US" sz="1750">
                <a:solidFill>
                  <a:srgbClr val="4A4A45"/>
                </a:solidFill>
                <a:latin typeface="Lato" pitchFamily="34" charset="0"/>
                <a:ea typeface="Lato" pitchFamily="34" charset="-122"/>
                <a:cs typeface="Lato" pitchFamily="34" charset="-120"/>
              </a:rPr>
              <a:t>Builds a knowledge graph to visually map the relationships between faculty and their work.</a:t>
            </a:r>
            <a:endParaRPr lang="en-US" sz="1750"/>
          </a:p>
        </p:txBody>
      </p:sp>
      <p:sp>
        <p:nvSpPr>
          <p:cNvPr id="10" name="Shape 8"/>
          <p:cNvSpPr/>
          <p:nvPr/>
        </p:nvSpPr>
        <p:spPr>
          <a:xfrm>
            <a:off x="9640133" y="3988594"/>
            <a:ext cx="4196358" cy="2032754"/>
          </a:xfrm>
          <a:prstGeom prst="roundRect">
            <a:avLst>
              <a:gd name="adj" fmla="val 26781"/>
            </a:avLst>
          </a:prstGeom>
          <a:solidFill>
            <a:srgbClr val="E5DFD2"/>
          </a:solidFill>
          <a:ln/>
        </p:spPr>
      </p:sp>
      <p:sp>
        <p:nvSpPr>
          <p:cNvPr id="11" name="Text 9"/>
          <p:cNvSpPr/>
          <p:nvPr/>
        </p:nvSpPr>
        <p:spPr>
          <a:xfrm>
            <a:off x="9866948" y="4215408"/>
            <a:ext cx="2991445" cy="354330"/>
          </a:xfrm>
          <a:prstGeom prst="rect">
            <a:avLst/>
          </a:prstGeom>
          <a:noFill/>
          <a:ln/>
        </p:spPr>
        <p:txBody>
          <a:bodyPr wrap="none" lIns="0" tIns="0" rIns="0" bIns="0" rtlCol="0" anchor="t"/>
          <a:lstStyle/>
          <a:p>
            <a:pPr marL="0" indent="0" algn="l">
              <a:lnSpc>
                <a:spcPts val="2750"/>
              </a:lnSpc>
              <a:buNone/>
            </a:pPr>
            <a:r>
              <a:rPr lang="en-US" sz="2200" b="1">
                <a:solidFill>
                  <a:srgbClr val="4A4A45"/>
                </a:solidFill>
                <a:latin typeface="Lato Bold" pitchFamily="34" charset="0"/>
                <a:ea typeface="Lato Bold" pitchFamily="34" charset="-122"/>
                <a:cs typeface="Lato Bold" pitchFamily="34" charset="-120"/>
              </a:rPr>
              <a:t>AI-Powered Summaries</a:t>
            </a:r>
            <a:endParaRPr lang="en-US" sz="2200"/>
          </a:p>
        </p:txBody>
      </p:sp>
      <p:sp>
        <p:nvSpPr>
          <p:cNvPr id="12" name="Text 10"/>
          <p:cNvSpPr/>
          <p:nvPr/>
        </p:nvSpPr>
        <p:spPr>
          <a:xfrm>
            <a:off x="9866948" y="4705826"/>
            <a:ext cx="3742730" cy="1088708"/>
          </a:xfrm>
          <a:prstGeom prst="rect">
            <a:avLst/>
          </a:prstGeom>
          <a:noFill/>
          <a:ln/>
        </p:spPr>
        <p:txBody>
          <a:bodyPr wrap="square" lIns="0" tIns="0" rIns="0" bIns="0" rtlCol="0" anchor="t"/>
          <a:lstStyle/>
          <a:p>
            <a:pPr marL="0" indent="0" algn="l">
              <a:lnSpc>
                <a:spcPts val="2850"/>
              </a:lnSpc>
              <a:buNone/>
            </a:pPr>
            <a:r>
              <a:rPr lang="en-US" sz="1750">
                <a:solidFill>
                  <a:srgbClr val="4A4A45"/>
                </a:solidFill>
                <a:latin typeface="Lato" pitchFamily="34" charset="0"/>
                <a:ea typeface="Lato" pitchFamily="34" charset="-122"/>
                <a:cs typeface="Lato" pitchFamily="34" charset="-120"/>
              </a:rPr>
              <a:t>Delivers instant, AI-generated summaries of research papers and faculty profiles.</a:t>
            </a:r>
            <a:endParaRPr lang="en-US" sz="1750"/>
          </a:p>
        </p:txBody>
      </p:sp>
      <p:sp>
        <p:nvSpPr>
          <p:cNvPr id="14" name="Rectangle 13">
            <a:extLst>
              <a:ext uri="{FF2B5EF4-FFF2-40B4-BE49-F238E27FC236}">
                <a16:creationId xmlns:a16="http://schemas.microsoft.com/office/drawing/2014/main" id="{88812CE9-98CF-22B1-5315-BD660F4821A0}"/>
              </a:ext>
            </a:extLst>
          </p:cNvPr>
          <p:cNvSpPr/>
          <p:nvPr/>
        </p:nvSpPr>
        <p:spPr>
          <a:xfrm>
            <a:off x="11251477" y="7145944"/>
            <a:ext cx="3462689" cy="108586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3760351" y="460296"/>
            <a:ext cx="7109698" cy="523042"/>
          </a:xfrm>
          <a:prstGeom prst="rect">
            <a:avLst/>
          </a:prstGeom>
          <a:noFill/>
          <a:ln/>
        </p:spPr>
        <p:txBody>
          <a:bodyPr wrap="none" lIns="0" tIns="0" rIns="0" bIns="0" rtlCol="0" anchor="t"/>
          <a:lstStyle/>
          <a:p>
            <a:pPr marL="0" indent="0" algn="ctr">
              <a:lnSpc>
                <a:spcPts val="4100"/>
              </a:lnSpc>
              <a:buNone/>
            </a:pPr>
            <a:r>
              <a:rPr lang="en-US" sz="3250" b="1">
                <a:solidFill>
                  <a:srgbClr val="282824"/>
                </a:solidFill>
                <a:latin typeface="Lato Bold" pitchFamily="34" charset="0"/>
                <a:ea typeface="Lato Bold" pitchFamily="34" charset="-122"/>
                <a:cs typeface="Lato Bold" pitchFamily="34" charset="-120"/>
              </a:rPr>
              <a:t>Key Features: Visualizing Connections</a:t>
            </a:r>
            <a:endParaRPr lang="en-US" sz="3250"/>
          </a:p>
        </p:txBody>
      </p:sp>
      <p:pic>
        <p:nvPicPr>
          <p:cNvPr id="3" name="Image 0" descr="preencoded.png"/>
          <p:cNvPicPr>
            <a:picLocks noChangeAspect="1"/>
          </p:cNvPicPr>
          <p:nvPr/>
        </p:nvPicPr>
        <p:blipFill>
          <a:blip r:embed="rId3"/>
          <a:stretch>
            <a:fillRect/>
          </a:stretch>
        </p:blipFill>
        <p:spPr>
          <a:xfrm>
            <a:off x="585907" y="1156776"/>
            <a:ext cx="12806243" cy="6214705"/>
          </a:xfrm>
          <a:prstGeom prst="rect">
            <a:avLst/>
          </a:prstGeom>
        </p:spPr>
      </p:pic>
      <p:sp>
        <p:nvSpPr>
          <p:cNvPr id="4" name="Text 1"/>
          <p:cNvSpPr/>
          <p:nvPr/>
        </p:nvSpPr>
        <p:spPr>
          <a:xfrm>
            <a:off x="585907" y="7576579"/>
            <a:ext cx="12783754" cy="417107"/>
          </a:xfrm>
          <a:prstGeom prst="rect">
            <a:avLst/>
          </a:prstGeom>
          <a:noFill/>
          <a:ln/>
        </p:spPr>
        <p:txBody>
          <a:bodyPr wrap="none" lIns="0" tIns="0" rIns="0" bIns="0" rtlCol="0" anchor="t"/>
          <a:lstStyle/>
          <a:p>
            <a:pPr algn="ctr">
              <a:lnSpc>
                <a:spcPts val="2050"/>
              </a:lnSpc>
            </a:pPr>
            <a:r>
              <a:rPr lang="en-US" sz="1600" b="1">
                <a:solidFill>
                  <a:srgbClr val="282824"/>
                </a:solidFill>
                <a:latin typeface="Lato Bold"/>
                <a:ea typeface="Lato Bold"/>
                <a:cs typeface="Lato Bold"/>
              </a:rPr>
              <a:t>Model of Graph: </a:t>
            </a:r>
            <a:r>
              <a:rPr lang="en-US" sz="1600">
                <a:solidFill>
                  <a:srgbClr val="4A4A45"/>
                </a:solidFill>
                <a:latin typeface="Lato"/>
                <a:ea typeface="Lato"/>
                <a:cs typeface="Lato"/>
              </a:rPr>
              <a:t>The interactive graph allows users to explore connections by clicking on nodes.</a:t>
            </a:r>
            <a:endParaRPr lang="en-US" sz="1600">
              <a:solidFill>
                <a:srgbClr val="282824"/>
              </a:solidFill>
              <a:latin typeface="Lato"/>
              <a:ea typeface="Lato"/>
              <a:cs typeface="Lato"/>
            </a:endParaRPr>
          </a:p>
          <a:p>
            <a:pPr marL="0" indent="0" algn="l">
              <a:lnSpc>
                <a:spcPts val="2050"/>
              </a:lnSpc>
              <a:buNone/>
            </a:pPr>
            <a:endParaRPr lang="en-US" sz="1600" b="1">
              <a:solidFill>
                <a:srgbClr val="282824"/>
              </a:solidFill>
              <a:latin typeface="Lato Bold"/>
              <a:ea typeface="Lato Bold"/>
              <a:cs typeface="Lato Bold"/>
            </a:endParaRPr>
          </a:p>
        </p:txBody>
      </p:sp>
      <p:sp>
        <p:nvSpPr>
          <p:cNvPr id="6" name="Rectangle 5">
            <a:extLst>
              <a:ext uri="{FF2B5EF4-FFF2-40B4-BE49-F238E27FC236}">
                <a16:creationId xmlns:a16="http://schemas.microsoft.com/office/drawing/2014/main" id="{E14D5F2B-C223-2C18-B914-EF483E951945}"/>
              </a:ext>
            </a:extLst>
          </p:cNvPr>
          <p:cNvSpPr/>
          <p:nvPr/>
        </p:nvSpPr>
        <p:spPr>
          <a:xfrm>
            <a:off x="12434818" y="7543976"/>
            <a:ext cx="2247076" cy="68782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109F0E6-8A88-CFED-8B3F-C097BF95AFD3}"/>
              </a:ext>
            </a:extLst>
          </p:cNvPr>
          <p:cNvSpPr/>
          <p:nvPr/>
        </p:nvSpPr>
        <p:spPr>
          <a:xfrm>
            <a:off x="7563061" y="-7342"/>
            <a:ext cx="7074962" cy="82320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p:cNvSpPr/>
          <p:nvPr/>
        </p:nvSpPr>
        <p:spPr>
          <a:xfrm>
            <a:off x="290484" y="760095"/>
            <a:ext cx="7024687" cy="552093"/>
          </a:xfrm>
          <a:prstGeom prst="rect">
            <a:avLst/>
          </a:prstGeom>
          <a:noFill/>
          <a:ln/>
        </p:spPr>
        <p:txBody>
          <a:bodyPr wrap="none" lIns="0" tIns="0" rIns="0" bIns="0" rtlCol="0" anchor="t"/>
          <a:lstStyle/>
          <a:p>
            <a:pPr marL="0" indent="0" algn="ctr">
              <a:lnSpc>
                <a:spcPts val="4300"/>
              </a:lnSpc>
              <a:buNone/>
            </a:pPr>
            <a:r>
              <a:rPr lang="en-US" sz="2800" b="1">
                <a:solidFill>
                  <a:srgbClr val="282824"/>
                </a:solidFill>
                <a:latin typeface="Lato Bold"/>
                <a:ea typeface="Lato Bold"/>
                <a:cs typeface="Lato Bold"/>
              </a:rPr>
              <a:t>Key Features: Paper Summarization</a:t>
            </a:r>
            <a:endParaRPr lang="en-US" sz="2800">
              <a:latin typeface="Calibri"/>
              <a:ea typeface="Calibri"/>
              <a:cs typeface="Calibri"/>
            </a:endParaRPr>
          </a:p>
        </p:txBody>
      </p:sp>
      <p:sp>
        <p:nvSpPr>
          <p:cNvPr id="6" name="Text 4"/>
          <p:cNvSpPr/>
          <p:nvPr/>
        </p:nvSpPr>
        <p:spPr>
          <a:xfrm>
            <a:off x="618292" y="1934614"/>
            <a:ext cx="6481405" cy="565309"/>
          </a:xfrm>
          <a:prstGeom prst="rect">
            <a:avLst/>
          </a:prstGeom>
          <a:noFill/>
          <a:ln/>
        </p:spPr>
        <p:txBody>
          <a:bodyPr wrap="square" lIns="0" tIns="0" rIns="0" bIns="0" rtlCol="0" anchor="t"/>
          <a:lstStyle/>
          <a:p>
            <a:pPr marL="0" indent="0" algn="l">
              <a:lnSpc>
                <a:spcPts val="2200"/>
              </a:lnSpc>
              <a:buNone/>
            </a:pPr>
            <a:r>
              <a:rPr lang="en-US" sz="2000">
                <a:solidFill>
                  <a:srgbClr val="4A4A45"/>
                </a:solidFill>
                <a:latin typeface="Lato"/>
                <a:ea typeface="Lato"/>
                <a:cs typeface="Lato"/>
              </a:rPr>
              <a:t>When a user clicks on a paper node, ScholarSphere provides a concise summary and metadata :</a:t>
            </a:r>
            <a:endParaRPr lang="en-US" sz="1350">
              <a:latin typeface="Calibri" panose="020F0502020204030204"/>
              <a:ea typeface="Calibri" panose="020F0502020204030204"/>
              <a:cs typeface="Calibri" panose="020F0502020204030204"/>
            </a:endParaRPr>
          </a:p>
        </p:txBody>
      </p:sp>
      <p:sp>
        <p:nvSpPr>
          <p:cNvPr id="7" name="Text 5"/>
          <p:cNvSpPr/>
          <p:nvPr/>
        </p:nvSpPr>
        <p:spPr>
          <a:xfrm>
            <a:off x="883206" y="2698638"/>
            <a:ext cx="6216491" cy="282654"/>
          </a:xfrm>
          <a:prstGeom prst="rect">
            <a:avLst/>
          </a:prstGeom>
          <a:noFill/>
          <a:ln/>
        </p:spPr>
        <p:txBody>
          <a:bodyPr wrap="none" lIns="0" tIns="0" rIns="0" bIns="0" rtlCol="0" anchor="t"/>
          <a:lstStyle/>
          <a:p>
            <a:pPr marL="0" indent="0" algn="l">
              <a:lnSpc>
                <a:spcPts val="2200"/>
              </a:lnSpc>
              <a:buNone/>
            </a:pPr>
            <a:endParaRPr lang="en-US" sz="1350"/>
          </a:p>
        </p:txBody>
      </p:sp>
      <p:sp>
        <p:nvSpPr>
          <p:cNvPr id="8" name="Text 6"/>
          <p:cNvSpPr/>
          <p:nvPr/>
        </p:nvSpPr>
        <p:spPr>
          <a:xfrm>
            <a:off x="883206" y="2841926"/>
            <a:ext cx="6216491" cy="282654"/>
          </a:xfrm>
          <a:prstGeom prst="rect">
            <a:avLst/>
          </a:prstGeom>
          <a:noFill/>
          <a:ln/>
        </p:spPr>
        <p:txBody>
          <a:bodyPr wrap="none" lIns="0" tIns="0" rIns="0" bIns="0" rtlCol="0" anchor="t"/>
          <a:lstStyle/>
          <a:p>
            <a:pPr marL="342900" indent="-342900" algn="l">
              <a:lnSpc>
                <a:spcPts val="2200"/>
              </a:lnSpc>
              <a:buSzPct val="100000"/>
              <a:buChar char="•"/>
            </a:pPr>
            <a:r>
              <a:rPr lang="en-US">
                <a:solidFill>
                  <a:srgbClr val="4A4A45"/>
                </a:solidFill>
                <a:latin typeface="Lato"/>
                <a:ea typeface="Lato"/>
                <a:cs typeface="Lato"/>
              </a:rPr>
              <a:t>Paper title</a:t>
            </a:r>
            <a:endParaRPr lang="en-US">
              <a:latin typeface="Lato"/>
              <a:ea typeface="Lato"/>
              <a:cs typeface="Lato"/>
            </a:endParaRPr>
          </a:p>
        </p:txBody>
      </p:sp>
      <p:sp>
        <p:nvSpPr>
          <p:cNvPr id="9" name="Text 7"/>
          <p:cNvSpPr/>
          <p:nvPr/>
        </p:nvSpPr>
        <p:spPr>
          <a:xfrm>
            <a:off x="883206" y="3264194"/>
            <a:ext cx="6216491" cy="282654"/>
          </a:xfrm>
          <a:prstGeom prst="rect">
            <a:avLst/>
          </a:prstGeom>
          <a:noFill/>
          <a:ln/>
        </p:spPr>
        <p:txBody>
          <a:bodyPr wrap="none" lIns="0" tIns="0" rIns="0" bIns="0" rtlCol="0" anchor="t"/>
          <a:lstStyle/>
          <a:p>
            <a:pPr marL="342900" indent="-342900" algn="l">
              <a:lnSpc>
                <a:spcPts val="2200"/>
              </a:lnSpc>
              <a:buSzPct val="100000"/>
              <a:buChar char="•"/>
            </a:pPr>
            <a:r>
              <a:rPr lang="en-US">
                <a:solidFill>
                  <a:srgbClr val="4A4A45"/>
                </a:solidFill>
                <a:latin typeface="Lato"/>
                <a:ea typeface="Lato"/>
                <a:cs typeface="Lato"/>
              </a:rPr>
              <a:t>Authors</a:t>
            </a:r>
            <a:endParaRPr lang="en-US">
              <a:latin typeface="Lato"/>
              <a:ea typeface="Lato"/>
              <a:cs typeface="Lato"/>
            </a:endParaRPr>
          </a:p>
        </p:txBody>
      </p:sp>
      <p:sp>
        <p:nvSpPr>
          <p:cNvPr id="10" name="Text 8"/>
          <p:cNvSpPr/>
          <p:nvPr/>
        </p:nvSpPr>
        <p:spPr>
          <a:xfrm>
            <a:off x="883206" y="3667008"/>
            <a:ext cx="6216491" cy="282654"/>
          </a:xfrm>
          <a:prstGeom prst="rect">
            <a:avLst/>
          </a:prstGeom>
          <a:noFill/>
          <a:ln/>
        </p:spPr>
        <p:txBody>
          <a:bodyPr wrap="none" lIns="0" tIns="0" rIns="0" bIns="0" rtlCol="0" anchor="t"/>
          <a:lstStyle/>
          <a:p>
            <a:pPr marL="342900" indent="-342900" algn="l">
              <a:lnSpc>
                <a:spcPts val="2200"/>
              </a:lnSpc>
              <a:buSzPct val="100000"/>
              <a:buChar char="•"/>
            </a:pPr>
            <a:r>
              <a:rPr lang="en-US">
                <a:solidFill>
                  <a:srgbClr val="4A4A45"/>
                </a:solidFill>
                <a:latin typeface="Lato"/>
                <a:ea typeface="Lato"/>
                <a:cs typeface="Lato"/>
              </a:rPr>
              <a:t>Publication Date</a:t>
            </a:r>
            <a:endParaRPr lang="en-US">
              <a:latin typeface="Lato"/>
              <a:ea typeface="Lato"/>
              <a:cs typeface="Lato"/>
            </a:endParaRPr>
          </a:p>
        </p:txBody>
      </p:sp>
      <p:sp>
        <p:nvSpPr>
          <p:cNvPr id="11" name="Text 9"/>
          <p:cNvSpPr/>
          <p:nvPr/>
        </p:nvSpPr>
        <p:spPr>
          <a:xfrm>
            <a:off x="883206" y="4102248"/>
            <a:ext cx="6216491" cy="282654"/>
          </a:xfrm>
          <a:prstGeom prst="rect">
            <a:avLst/>
          </a:prstGeom>
          <a:noFill/>
          <a:ln/>
        </p:spPr>
        <p:txBody>
          <a:bodyPr wrap="none" lIns="0" tIns="0" rIns="0" bIns="0" rtlCol="0" anchor="t"/>
          <a:lstStyle/>
          <a:p>
            <a:pPr marL="342900" indent="-342900" algn="l">
              <a:lnSpc>
                <a:spcPts val="2200"/>
              </a:lnSpc>
              <a:buSzPct val="100000"/>
              <a:buChar char="•"/>
            </a:pPr>
            <a:r>
              <a:rPr lang="en-US">
                <a:solidFill>
                  <a:srgbClr val="4A4A45"/>
                </a:solidFill>
                <a:latin typeface="Lato"/>
                <a:ea typeface="Lato"/>
                <a:cs typeface="Lato"/>
              </a:rPr>
              <a:t>Conference</a:t>
            </a:r>
            <a:endParaRPr lang="en-US">
              <a:latin typeface="Lato"/>
              <a:ea typeface="Lato"/>
              <a:cs typeface="Lato"/>
            </a:endParaRPr>
          </a:p>
        </p:txBody>
      </p:sp>
      <p:sp>
        <p:nvSpPr>
          <p:cNvPr id="12" name="Shape 10"/>
          <p:cNvSpPr/>
          <p:nvPr/>
        </p:nvSpPr>
        <p:spPr>
          <a:xfrm>
            <a:off x="618292" y="2698638"/>
            <a:ext cx="22860" cy="1757601"/>
          </a:xfrm>
          <a:prstGeom prst="rect">
            <a:avLst/>
          </a:prstGeom>
          <a:solidFill>
            <a:srgbClr val="282824"/>
          </a:solidFill>
          <a:ln/>
        </p:spPr>
      </p:sp>
      <p:pic>
        <p:nvPicPr>
          <p:cNvPr id="15" name="Picture 14" descr="A screenshot of a phone&#10;&#10;AI-generated content may be incorrect.">
            <a:extLst>
              <a:ext uri="{FF2B5EF4-FFF2-40B4-BE49-F238E27FC236}">
                <a16:creationId xmlns:a16="http://schemas.microsoft.com/office/drawing/2014/main" id="{1C7BB531-9492-E664-9FB1-B845C76990ED}"/>
              </a:ext>
            </a:extLst>
          </p:cNvPr>
          <p:cNvPicPr>
            <a:picLocks noChangeAspect="1"/>
          </p:cNvPicPr>
          <p:nvPr/>
        </p:nvPicPr>
        <p:blipFill>
          <a:blip r:embed="rId3"/>
          <a:stretch>
            <a:fillRect/>
          </a:stretch>
        </p:blipFill>
        <p:spPr>
          <a:xfrm>
            <a:off x="9029040" y="637547"/>
            <a:ext cx="4141659" cy="7042827"/>
          </a:xfrm>
          <a:prstGeom prst="roundRect">
            <a:avLst>
              <a:gd name="adj" fmla="val 8594"/>
            </a:avLst>
          </a:prstGeom>
          <a:solidFill>
            <a:srgbClr val="FFFFFF">
              <a:shade val="85000"/>
            </a:srgbClr>
          </a:solidFill>
          <a:ln>
            <a:noFill/>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65DAA66-24B2-DB7D-E916-A67710443ADE}"/>
              </a:ext>
            </a:extLst>
          </p:cNvPr>
          <p:cNvSpPr/>
          <p:nvPr/>
        </p:nvSpPr>
        <p:spPr>
          <a:xfrm>
            <a:off x="7563061" y="5015"/>
            <a:ext cx="7074962" cy="82320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p:cNvSpPr/>
          <p:nvPr/>
        </p:nvSpPr>
        <p:spPr>
          <a:xfrm>
            <a:off x="609" y="790932"/>
            <a:ext cx="7297726" cy="586621"/>
          </a:xfrm>
          <a:prstGeom prst="rect">
            <a:avLst/>
          </a:prstGeom>
          <a:noFill/>
          <a:ln/>
        </p:spPr>
        <p:txBody>
          <a:bodyPr wrap="none" lIns="0" tIns="0" rIns="0" bIns="0" rtlCol="0" anchor="t"/>
          <a:lstStyle/>
          <a:p>
            <a:pPr marL="0" indent="0" algn="ctr">
              <a:lnSpc>
                <a:spcPts val="4600"/>
              </a:lnSpc>
              <a:buNone/>
            </a:pPr>
            <a:r>
              <a:rPr lang="en-US" sz="2400" b="1">
                <a:solidFill>
                  <a:srgbClr val="282824"/>
                </a:solidFill>
                <a:latin typeface="Lato Bold"/>
                <a:ea typeface="Lato Bold"/>
                <a:cs typeface="Lato Bold"/>
              </a:rPr>
              <a:t>Key Features: Faculty profile Summarization</a:t>
            </a:r>
            <a:endParaRPr lang="en-US" sz="2400">
              <a:latin typeface="Lato Bold"/>
              <a:ea typeface="Lato Bold"/>
              <a:cs typeface="Lato Bold"/>
            </a:endParaRPr>
          </a:p>
        </p:txBody>
      </p:sp>
      <p:sp>
        <p:nvSpPr>
          <p:cNvPr id="3" name="Text 1"/>
          <p:cNvSpPr/>
          <p:nvPr/>
        </p:nvSpPr>
        <p:spPr>
          <a:xfrm>
            <a:off x="650502" y="2756436"/>
            <a:ext cx="6429256" cy="600789"/>
          </a:xfrm>
          <a:prstGeom prst="rect">
            <a:avLst/>
          </a:prstGeom>
          <a:noFill/>
          <a:ln/>
        </p:spPr>
        <p:txBody>
          <a:bodyPr wrap="square" lIns="0" tIns="0" rIns="0" bIns="0" rtlCol="0" anchor="t"/>
          <a:lstStyle/>
          <a:p>
            <a:pPr marL="0" indent="0" algn="l">
              <a:lnSpc>
                <a:spcPts val="2350"/>
              </a:lnSpc>
              <a:buNone/>
            </a:pPr>
            <a:r>
              <a:rPr lang="en-US" sz="2000">
                <a:solidFill>
                  <a:srgbClr val="4A4A45"/>
                </a:solidFill>
                <a:latin typeface="Lato"/>
                <a:ea typeface="Lato"/>
                <a:cs typeface="Lato"/>
              </a:rPr>
              <a:t>When a user clicks on a faculty node, ScholarSphere provides a concise summary and metadata:</a:t>
            </a:r>
            <a:endParaRPr lang="en-US" sz="2000">
              <a:latin typeface="Lato"/>
              <a:ea typeface="Lato"/>
              <a:cs typeface="Lato"/>
            </a:endParaRPr>
          </a:p>
        </p:txBody>
      </p:sp>
      <p:sp>
        <p:nvSpPr>
          <p:cNvPr id="4" name="Text 2"/>
          <p:cNvSpPr/>
          <p:nvPr/>
        </p:nvSpPr>
        <p:spPr>
          <a:xfrm>
            <a:off x="938451" y="3808273"/>
            <a:ext cx="6147792" cy="300395"/>
          </a:xfrm>
          <a:prstGeom prst="rect">
            <a:avLst/>
          </a:prstGeom>
          <a:noFill/>
          <a:ln/>
        </p:spPr>
        <p:txBody>
          <a:bodyPr wrap="none" lIns="0" tIns="0" rIns="0" bIns="0" rtlCol="0" anchor="t"/>
          <a:lstStyle/>
          <a:p>
            <a:pPr marL="285750" indent="-285750" algn="l">
              <a:lnSpc>
                <a:spcPts val="2350"/>
              </a:lnSpc>
              <a:buFont typeface="Arial"/>
              <a:buChar char="•"/>
            </a:pPr>
            <a:r>
              <a:rPr lang="en-US">
                <a:solidFill>
                  <a:srgbClr val="4A4A45"/>
                </a:solidFill>
                <a:latin typeface="Lato"/>
                <a:ea typeface="Lato"/>
                <a:cs typeface="Lato"/>
              </a:rPr>
              <a:t>Name of faculty</a:t>
            </a:r>
            <a:endParaRPr lang="en-US" sz="1450">
              <a:latin typeface="Calibri" panose="020F0502020204030204"/>
              <a:ea typeface="Calibri" panose="020F0502020204030204"/>
              <a:cs typeface="Calibri" panose="020F0502020204030204"/>
            </a:endParaRPr>
          </a:p>
        </p:txBody>
      </p:sp>
      <p:sp>
        <p:nvSpPr>
          <p:cNvPr id="5" name="Text 3"/>
          <p:cNvSpPr/>
          <p:nvPr/>
        </p:nvSpPr>
        <p:spPr>
          <a:xfrm>
            <a:off x="938451" y="4167251"/>
            <a:ext cx="6147792" cy="300395"/>
          </a:xfrm>
          <a:prstGeom prst="rect">
            <a:avLst/>
          </a:prstGeom>
          <a:noFill/>
          <a:ln/>
        </p:spPr>
        <p:txBody>
          <a:bodyPr wrap="none" lIns="0" tIns="0" rIns="0" bIns="0" rtlCol="0" anchor="t"/>
          <a:lstStyle/>
          <a:p>
            <a:pPr marL="285750" indent="-285750" algn="l">
              <a:lnSpc>
                <a:spcPts val="2350"/>
              </a:lnSpc>
              <a:buFont typeface="Arial"/>
              <a:buChar char="•"/>
            </a:pPr>
            <a:r>
              <a:rPr lang="en-US">
                <a:solidFill>
                  <a:srgbClr val="4A4A45"/>
                </a:solidFill>
                <a:latin typeface="Lato"/>
                <a:ea typeface="Lato"/>
                <a:cs typeface="Lato"/>
              </a:rPr>
              <a:t>Department</a:t>
            </a:r>
            <a:endParaRPr lang="en-US">
              <a:latin typeface="Lato"/>
              <a:ea typeface="Lato"/>
              <a:cs typeface="Lato"/>
            </a:endParaRPr>
          </a:p>
        </p:txBody>
      </p:sp>
      <p:sp>
        <p:nvSpPr>
          <p:cNvPr id="6" name="Text 4"/>
          <p:cNvSpPr/>
          <p:nvPr/>
        </p:nvSpPr>
        <p:spPr>
          <a:xfrm>
            <a:off x="938451" y="4565140"/>
            <a:ext cx="6147792" cy="300395"/>
          </a:xfrm>
          <a:prstGeom prst="rect">
            <a:avLst/>
          </a:prstGeom>
          <a:noFill/>
          <a:ln/>
        </p:spPr>
        <p:txBody>
          <a:bodyPr wrap="none" lIns="0" tIns="0" rIns="0" bIns="0" rtlCol="0" anchor="t"/>
          <a:lstStyle/>
          <a:p>
            <a:pPr marL="285750" indent="-285750" algn="l">
              <a:lnSpc>
                <a:spcPts val="2350"/>
              </a:lnSpc>
              <a:buFont typeface="Arial"/>
              <a:buChar char="•"/>
            </a:pPr>
            <a:r>
              <a:rPr lang="en-US">
                <a:solidFill>
                  <a:srgbClr val="4A4A45"/>
                </a:solidFill>
                <a:latin typeface="Lato"/>
                <a:ea typeface="Lato"/>
                <a:cs typeface="Lato"/>
              </a:rPr>
              <a:t>Research areas</a:t>
            </a:r>
            <a:endParaRPr lang="en-US">
              <a:latin typeface="Lato"/>
              <a:ea typeface="Lato"/>
              <a:cs typeface="Lato"/>
            </a:endParaRPr>
          </a:p>
        </p:txBody>
      </p:sp>
      <p:sp>
        <p:nvSpPr>
          <p:cNvPr id="7" name="Shape 5"/>
          <p:cNvSpPr/>
          <p:nvPr/>
        </p:nvSpPr>
        <p:spPr>
          <a:xfrm>
            <a:off x="650502" y="3808273"/>
            <a:ext cx="22860" cy="1238845"/>
          </a:xfrm>
          <a:prstGeom prst="rect">
            <a:avLst/>
          </a:prstGeom>
          <a:solidFill>
            <a:srgbClr val="282824"/>
          </a:solidFill>
          <a:ln/>
        </p:spPr>
      </p:sp>
      <p:pic>
        <p:nvPicPr>
          <p:cNvPr id="9" name="Picture 8">
            <a:extLst>
              <a:ext uri="{FF2B5EF4-FFF2-40B4-BE49-F238E27FC236}">
                <a16:creationId xmlns:a16="http://schemas.microsoft.com/office/drawing/2014/main" id="{3C1269FD-91C9-2B35-4CF3-A92D9684AEFC}"/>
              </a:ext>
            </a:extLst>
          </p:cNvPr>
          <p:cNvPicPr>
            <a:picLocks noChangeAspect="1"/>
          </p:cNvPicPr>
          <p:nvPr/>
        </p:nvPicPr>
        <p:blipFill>
          <a:blip r:embed="rId3"/>
          <a:stretch>
            <a:fillRect/>
          </a:stretch>
        </p:blipFill>
        <p:spPr>
          <a:xfrm>
            <a:off x="9016578" y="664074"/>
            <a:ext cx="4160253" cy="6981198"/>
          </a:xfrm>
          <a:prstGeom prst="roundRect">
            <a:avLst>
              <a:gd name="adj" fmla="val 8594"/>
            </a:avLst>
          </a:prstGeom>
          <a:solidFill>
            <a:srgbClr val="FFFFFF">
              <a:shade val="85000"/>
            </a:srgbClr>
          </a:solidFill>
          <a:ln>
            <a:noFill/>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95280" y="486966"/>
            <a:ext cx="4439722" cy="551378"/>
          </a:xfrm>
          <a:prstGeom prst="rect">
            <a:avLst/>
          </a:prstGeom>
          <a:noFill/>
          <a:ln/>
        </p:spPr>
        <p:txBody>
          <a:bodyPr wrap="none" lIns="0" tIns="0" rIns="0" bIns="0" rtlCol="0" anchor="t"/>
          <a:lstStyle/>
          <a:p>
            <a:pPr marL="0" indent="0" algn="ctr">
              <a:lnSpc>
                <a:spcPts val="4300"/>
              </a:lnSpc>
              <a:buNone/>
            </a:pPr>
            <a:r>
              <a:rPr lang="en-US" sz="4450" b="1">
                <a:solidFill>
                  <a:srgbClr val="282824"/>
                </a:solidFill>
                <a:latin typeface="Lato Bold"/>
                <a:ea typeface="Lato Bold"/>
                <a:cs typeface="Lato Bold"/>
              </a:rPr>
              <a:t>Architecture overview</a:t>
            </a:r>
            <a:endParaRPr lang="en-US" sz="4450">
              <a:latin typeface="Calibri"/>
              <a:ea typeface="Calibri"/>
              <a:cs typeface="Calibri"/>
            </a:endParaRPr>
          </a:p>
        </p:txBody>
      </p:sp>
      <p:pic>
        <p:nvPicPr>
          <p:cNvPr id="3" name="Image 0" descr="preencoded.png"/>
          <p:cNvPicPr>
            <a:picLocks noChangeAspect="1"/>
          </p:cNvPicPr>
          <p:nvPr/>
        </p:nvPicPr>
        <p:blipFill>
          <a:blip r:embed="rId3"/>
          <a:stretch>
            <a:fillRect/>
          </a:stretch>
        </p:blipFill>
        <p:spPr>
          <a:xfrm>
            <a:off x="1015491" y="1391126"/>
            <a:ext cx="882134" cy="1058585"/>
          </a:xfrm>
          <a:prstGeom prst="rect">
            <a:avLst/>
          </a:prstGeom>
        </p:spPr>
      </p:pic>
      <p:sp>
        <p:nvSpPr>
          <p:cNvPr id="4" name="Text 1"/>
          <p:cNvSpPr/>
          <p:nvPr/>
        </p:nvSpPr>
        <p:spPr>
          <a:xfrm>
            <a:off x="2073957" y="1567458"/>
            <a:ext cx="3966815" cy="243205"/>
          </a:xfrm>
          <a:prstGeom prst="rect">
            <a:avLst/>
          </a:prstGeom>
          <a:noFill/>
          <a:ln/>
        </p:spPr>
        <p:txBody>
          <a:bodyPr wrap="none" lIns="0" tIns="0" rIns="0" bIns="0" rtlCol="0" anchor="t"/>
          <a:lstStyle/>
          <a:p>
            <a:pPr marL="0" indent="0" algn="l">
              <a:lnSpc>
                <a:spcPts val="2150"/>
              </a:lnSpc>
              <a:buNone/>
            </a:pPr>
            <a:r>
              <a:rPr lang="en-US" sz="2000" b="1">
                <a:solidFill>
                  <a:srgbClr val="4A4A45"/>
                </a:solidFill>
                <a:latin typeface="Lato Bold"/>
                <a:ea typeface="Lato Bold"/>
                <a:cs typeface="Lato Bold"/>
              </a:rPr>
              <a:t>Data Acquisition from sources</a:t>
            </a:r>
            <a:endParaRPr lang="en-US" sz="2000">
              <a:latin typeface="Lato Bold"/>
              <a:ea typeface="Lato Bold"/>
              <a:cs typeface="Lato Bold"/>
            </a:endParaRPr>
          </a:p>
        </p:txBody>
      </p:sp>
      <p:sp>
        <p:nvSpPr>
          <p:cNvPr id="5" name="Text 2"/>
          <p:cNvSpPr/>
          <p:nvPr/>
        </p:nvSpPr>
        <p:spPr>
          <a:xfrm>
            <a:off x="2073957" y="1948934"/>
            <a:ext cx="12337018" cy="282297"/>
          </a:xfrm>
          <a:prstGeom prst="rect">
            <a:avLst/>
          </a:prstGeom>
          <a:noFill/>
          <a:ln/>
        </p:spPr>
        <p:txBody>
          <a:bodyPr wrap="none" lIns="0" tIns="0" rIns="0" bIns="0" rtlCol="0" anchor="t"/>
          <a:lstStyle/>
          <a:p>
            <a:pPr marL="0" indent="0" algn="l">
              <a:lnSpc>
                <a:spcPts val="2200"/>
              </a:lnSpc>
              <a:buNone/>
            </a:pPr>
            <a:r>
              <a:rPr lang="en-US">
                <a:solidFill>
                  <a:srgbClr val="4A4A45"/>
                </a:solidFill>
                <a:latin typeface="Lato"/>
                <a:ea typeface="Lato"/>
                <a:cs typeface="Lato"/>
              </a:rPr>
              <a:t>DBLP, ORCID, </a:t>
            </a:r>
            <a:r>
              <a:rPr lang="en-US" err="1">
                <a:solidFill>
                  <a:srgbClr val="4A4A45"/>
                </a:solidFill>
                <a:latin typeface="Lato"/>
                <a:ea typeface="Lato"/>
                <a:cs typeface="Lato"/>
              </a:rPr>
              <a:t>OpenAlex</a:t>
            </a:r>
            <a:r>
              <a:rPr lang="en-US">
                <a:solidFill>
                  <a:srgbClr val="4A4A45"/>
                </a:solidFill>
                <a:latin typeface="Lato"/>
                <a:ea typeface="Lato"/>
                <a:cs typeface="Lato"/>
              </a:rPr>
              <a:t>, etc.</a:t>
            </a:r>
            <a:endParaRPr lang="en-US">
              <a:latin typeface="Lato"/>
              <a:ea typeface="Lato"/>
              <a:cs typeface="Lato"/>
            </a:endParaRPr>
          </a:p>
        </p:txBody>
      </p:sp>
      <p:pic>
        <p:nvPicPr>
          <p:cNvPr id="6" name="Image 1" descr="preencoded.png"/>
          <p:cNvPicPr>
            <a:picLocks noChangeAspect="1"/>
          </p:cNvPicPr>
          <p:nvPr/>
        </p:nvPicPr>
        <p:blipFill>
          <a:blip r:embed="rId4"/>
          <a:stretch>
            <a:fillRect/>
          </a:stretch>
        </p:blipFill>
        <p:spPr>
          <a:xfrm>
            <a:off x="1015491" y="2449711"/>
            <a:ext cx="882134" cy="1058585"/>
          </a:xfrm>
          <a:prstGeom prst="rect">
            <a:avLst/>
          </a:prstGeom>
        </p:spPr>
      </p:pic>
      <p:sp>
        <p:nvSpPr>
          <p:cNvPr id="7" name="Text 3"/>
          <p:cNvSpPr/>
          <p:nvPr/>
        </p:nvSpPr>
        <p:spPr>
          <a:xfrm>
            <a:off x="2073957" y="2626043"/>
            <a:ext cx="2205514" cy="275630"/>
          </a:xfrm>
          <a:prstGeom prst="rect">
            <a:avLst/>
          </a:prstGeom>
          <a:noFill/>
          <a:ln/>
        </p:spPr>
        <p:txBody>
          <a:bodyPr wrap="none" lIns="0" tIns="0" rIns="0" bIns="0" rtlCol="0" anchor="t"/>
          <a:lstStyle/>
          <a:p>
            <a:pPr marL="0" indent="0" algn="l">
              <a:lnSpc>
                <a:spcPts val="2150"/>
              </a:lnSpc>
              <a:buNone/>
            </a:pPr>
            <a:r>
              <a:rPr lang="en-US" sz="2000" b="1">
                <a:solidFill>
                  <a:srgbClr val="4A4A45"/>
                </a:solidFill>
                <a:latin typeface="Lato Bold"/>
                <a:ea typeface="Lato Bold"/>
                <a:cs typeface="Lato Bold"/>
              </a:rPr>
              <a:t>Scraper Service</a:t>
            </a:r>
            <a:endParaRPr lang="en-US" sz="2000">
              <a:latin typeface="Lato Bold"/>
              <a:ea typeface="Lato Bold"/>
              <a:cs typeface="Lato Bold"/>
            </a:endParaRPr>
          </a:p>
        </p:txBody>
      </p:sp>
      <p:sp>
        <p:nvSpPr>
          <p:cNvPr id="8" name="Text 4"/>
          <p:cNvSpPr/>
          <p:nvPr/>
        </p:nvSpPr>
        <p:spPr>
          <a:xfrm>
            <a:off x="2073957" y="3007519"/>
            <a:ext cx="12337018" cy="282297"/>
          </a:xfrm>
          <a:prstGeom prst="rect">
            <a:avLst/>
          </a:prstGeom>
          <a:noFill/>
          <a:ln/>
        </p:spPr>
        <p:txBody>
          <a:bodyPr wrap="none" lIns="0" tIns="0" rIns="0" bIns="0" rtlCol="0" anchor="t"/>
          <a:lstStyle/>
          <a:p>
            <a:pPr marL="0" indent="0" algn="l">
              <a:lnSpc>
                <a:spcPts val="2200"/>
              </a:lnSpc>
              <a:buNone/>
            </a:pPr>
            <a:r>
              <a:rPr lang="en-US">
                <a:solidFill>
                  <a:srgbClr val="4A4A45"/>
                </a:solidFill>
                <a:latin typeface="Lato"/>
                <a:ea typeface="Lato"/>
                <a:cs typeface="Lato"/>
              </a:rPr>
              <a:t>Periodic data collection and cleaning.</a:t>
            </a:r>
            <a:endParaRPr lang="en-US">
              <a:latin typeface="Lato"/>
              <a:ea typeface="Lato"/>
              <a:cs typeface="Lato"/>
            </a:endParaRPr>
          </a:p>
        </p:txBody>
      </p:sp>
      <p:pic>
        <p:nvPicPr>
          <p:cNvPr id="9" name="Image 2" descr="preencoded.png"/>
          <p:cNvPicPr>
            <a:picLocks noChangeAspect="1"/>
          </p:cNvPicPr>
          <p:nvPr/>
        </p:nvPicPr>
        <p:blipFill>
          <a:blip r:embed="rId5"/>
          <a:stretch>
            <a:fillRect/>
          </a:stretch>
        </p:blipFill>
        <p:spPr>
          <a:xfrm>
            <a:off x="1015491" y="3508296"/>
            <a:ext cx="882134" cy="1058585"/>
          </a:xfrm>
          <a:prstGeom prst="rect">
            <a:avLst/>
          </a:prstGeom>
        </p:spPr>
      </p:pic>
      <p:sp>
        <p:nvSpPr>
          <p:cNvPr id="10" name="Text 5"/>
          <p:cNvSpPr/>
          <p:nvPr/>
        </p:nvSpPr>
        <p:spPr>
          <a:xfrm>
            <a:off x="2073957" y="3684627"/>
            <a:ext cx="2205514" cy="275630"/>
          </a:xfrm>
          <a:prstGeom prst="rect">
            <a:avLst/>
          </a:prstGeom>
          <a:noFill/>
          <a:ln/>
        </p:spPr>
        <p:txBody>
          <a:bodyPr wrap="none" lIns="0" tIns="0" rIns="0" bIns="0" rtlCol="0" anchor="t"/>
          <a:lstStyle/>
          <a:p>
            <a:pPr marL="0" indent="0" algn="l">
              <a:lnSpc>
                <a:spcPts val="2150"/>
              </a:lnSpc>
              <a:buNone/>
            </a:pPr>
            <a:r>
              <a:rPr lang="en-US" sz="2000" b="1">
                <a:solidFill>
                  <a:srgbClr val="4A4A45"/>
                </a:solidFill>
                <a:latin typeface="Lato Bold"/>
                <a:ea typeface="Lato Bold"/>
                <a:cs typeface="Lato Bold"/>
              </a:rPr>
              <a:t>Database Layer</a:t>
            </a:r>
            <a:endParaRPr lang="en-US" sz="2000">
              <a:latin typeface="Lato Bold"/>
              <a:ea typeface="Lato Bold"/>
              <a:cs typeface="Lato Bold"/>
            </a:endParaRPr>
          </a:p>
        </p:txBody>
      </p:sp>
      <p:sp>
        <p:nvSpPr>
          <p:cNvPr id="11" name="Text 6"/>
          <p:cNvSpPr/>
          <p:nvPr/>
        </p:nvSpPr>
        <p:spPr>
          <a:xfrm>
            <a:off x="2073957" y="4066103"/>
            <a:ext cx="12337018" cy="282297"/>
          </a:xfrm>
          <a:prstGeom prst="rect">
            <a:avLst/>
          </a:prstGeom>
          <a:noFill/>
          <a:ln/>
        </p:spPr>
        <p:txBody>
          <a:bodyPr wrap="none" lIns="0" tIns="0" rIns="0" bIns="0" rtlCol="0" anchor="t"/>
          <a:lstStyle/>
          <a:p>
            <a:pPr marL="0" indent="0" algn="l">
              <a:lnSpc>
                <a:spcPts val="2200"/>
              </a:lnSpc>
              <a:buNone/>
            </a:pPr>
            <a:r>
              <a:rPr lang="en-US">
                <a:solidFill>
                  <a:srgbClr val="4A4A45"/>
                </a:solidFill>
                <a:latin typeface="Lato"/>
                <a:ea typeface="Lato"/>
                <a:cs typeface="Lato"/>
              </a:rPr>
              <a:t>Neo4j Graph DB, PostgreSQL</a:t>
            </a:r>
            <a:endParaRPr lang="en-US">
              <a:latin typeface="Lato"/>
              <a:ea typeface="Lato"/>
              <a:cs typeface="Lato"/>
            </a:endParaRPr>
          </a:p>
        </p:txBody>
      </p:sp>
      <p:pic>
        <p:nvPicPr>
          <p:cNvPr id="12" name="Image 3" descr="preencoded.png"/>
          <p:cNvPicPr>
            <a:picLocks noChangeAspect="1"/>
          </p:cNvPicPr>
          <p:nvPr/>
        </p:nvPicPr>
        <p:blipFill>
          <a:blip r:embed="rId6"/>
          <a:stretch>
            <a:fillRect/>
          </a:stretch>
        </p:blipFill>
        <p:spPr>
          <a:xfrm>
            <a:off x="1015491" y="4566880"/>
            <a:ext cx="882134" cy="1058585"/>
          </a:xfrm>
          <a:prstGeom prst="rect">
            <a:avLst/>
          </a:prstGeom>
        </p:spPr>
      </p:pic>
      <p:sp>
        <p:nvSpPr>
          <p:cNvPr id="13" name="Text 7"/>
          <p:cNvSpPr/>
          <p:nvPr/>
        </p:nvSpPr>
        <p:spPr>
          <a:xfrm>
            <a:off x="2073957" y="4743212"/>
            <a:ext cx="4426274" cy="81077"/>
          </a:xfrm>
          <a:prstGeom prst="rect">
            <a:avLst/>
          </a:prstGeom>
          <a:noFill/>
          <a:ln/>
        </p:spPr>
        <p:txBody>
          <a:bodyPr wrap="none" lIns="0" tIns="0" rIns="0" bIns="0" rtlCol="0" anchor="t"/>
          <a:lstStyle/>
          <a:p>
            <a:pPr marL="0" indent="0" algn="l">
              <a:lnSpc>
                <a:spcPts val="2150"/>
              </a:lnSpc>
              <a:buNone/>
            </a:pPr>
            <a:r>
              <a:rPr lang="en-US" sz="2000" b="1">
                <a:solidFill>
                  <a:srgbClr val="4A4A45"/>
                </a:solidFill>
                <a:latin typeface="Lato Bold"/>
                <a:ea typeface="Lato Bold"/>
                <a:cs typeface="Lato Bold"/>
              </a:rPr>
              <a:t>Graph Service &amp; Summarization API</a:t>
            </a:r>
            <a:endParaRPr lang="en-US" sz="2000">
              <a:latin typeface="Lato Bold"/>
              <a:ea typeface="Lato Bold"/>
              <a:cs typeface="Lato Bold"/>
            </a:endParaRPr>
          </a:p>
        </p:txBody>
      </p:sp>
      <p:sp>
        <p:nvSpPr>
          <p:cNvPr id="14" name="Text 8"/>
          <p:cNvSpPr/>
          <p:nvPr/>
        </p:nvSpPr>
        <p:spPr>
          <a:xfrm>
            <a:off x="2073957" y="5124688"/>
            <a:ext cx="12337018" cy="282297"/>
          </a:xfrm>
          <a:prstGeom prst="rect">
            <a:avLst/>
          </a:prstGeom>
          <a:noFill/>
          <a:ln/>
        </p:spPr>
        <p:txBody>
          <a:bodyPr wrap="none" lIns="0" tIns="0" rIns="0" bIns="0" rtlCol="0" anchor="t"/>
          <a:lstStyle/>
          <a:p>
            <a:pPr marL="0" indent="0" algn="l">
              <a:lnSpc>
                <a:spcPts val="2200"/>
              </a:lnSpc>
              <a:buNone/>
            </a:pPr>
            <a:r>
              <a:rPr lang="en-US">
                <a:solidFill>
                  <a:srgbClr val="4A4A45"/>
                </a:solidFill>
                <a:latin typeface="Lato"/>
                <a:ea typeface="Lato"/>
                <a:cs typeface="Lato"/>
              </a:rPr>
              <a:t>REST endpoints, LLM integration</a:t>
            </a:r>
            <a:endParaRPr lang="en-US">
              <a:latin typeface="Lato"/>
              <a:ea typeface="Lato"/>
              <a:cs typeface="Lato"/>
            </a:endParaRPr>
          </a:p>
        </p:txBody>
      </p:sp>
      <p:pic>
        <p:nvPicPr>
          <p:cNvPr id="15" name="Image 4" descr="preencoded.png"/>
          <p:cNvPicPr>
            <a:picLocks noChangeAspect="1"/>
          </p:cNvPicPr>
          <p:nvPr/>
        </p:nvPicPr>
        <p:blipFill>
          <a:blip r:embed="rId7"/>
          <a:stretch>
            <a:fillRect/>
          </a:stretch>
        </p:blipFill>
        <p:spPr>
          <a:xfrm>
            <a:off x="1015491" y="5625465"/>
            <a:ext cx="882134" cy="1058585"/>
          </a:xfrm>
          <a:prstGeom prst="rect">
            <a:avLst/>
          </a:prstGeom>
        </p:spPr>
      </p:pic>
      <p:sp>
        <p:nvSpPr>
          <p:cNvPr id="16" name="Text 9"/>
          <p:cNvSpPr/>
          <p:nvPr/>
        </p:nvSpPr>
        <p:spPr>
          <a:xfrm>
            <a:off x="2073957" y="5801797"/>
            <a:ext cx="2205514" cy="275630"/>
          </a:xfrm>
          <a:prstGeom prst="rect">
            <a:avLst/>
          </a:prstGeom>
          <a:noFill/>
          <a:ln/>
        </p:spPr>
        <p:txBody>
          <a:bodyPr wrap="none" lIns="0" tIns="0" rIns="0" bIns="0" rtlCol="0" anchor="t"/>
          <a:lstStyle/>
          <a:p>
            <a:pPr marL="0" indent="0" algn="l">
              <a:lnSpc>
                <a:spcPts val="2150"/>
              </a:lnSpc>
              <a:buNone/>
            </a:pPr>
            <a:r>
              <a:rPr lang="en-US" sz="2000" b="1">
                <a:solidFill>
                  <a:srgbClr val="4A4A45"/>
                </a:solidFill>
                <a:latin typeface="Lato Bold"/>
                <a:ea typeface="Lato Bold"/>
                <a:cs typeface="Lato Bold"/>
              </a:rPr>
              <a:t>Frontend</a:t>
            </a:r>
            <a:endParaRPr lang="en-US" sz="2000">
              <a:latin typeface="Lato Bold"/>
              <a:ea typeface="Lato Bold"/>
              <a:cs typeface="Lato Bold"/>
            </a:endParaRPr>
          </a:p>
        </p:txBody>
      </p:sp>
      <p:sp>
        <p:nvSpPr>
          <p:cNvPr id="17" name="Text 10"/>
          <p:cNvSpPr/>
          <p:nvPr/>
        </p:nvSpPr>
        <p:spPr>
          <a:xfrm>
            <a:off x="2073957" y="6183273"/>
            <a:ext cx="12337018" cy="282297"/>
          </a:xfrm>
          <a:prstGeom prst="rect">
            <a:avLst/>
          </a:prstGeom>
          <a:noFill/>
          <a:ln/>
        </p:spPr>
        <p:txBody>
          <a:bodyPr wrap="none" lIns="0" tIns="0" rIns="0" bIns="0" rtlCol="0" anchor="t"/>
          <a:lstStyle/>
          <a:p>
            <a:pPr marL="0" indent="0" algn="l">
              <a:lnSpc>
                <a:spcPts val="2200"/>
              </a:lnSpc>
              <a:buNone/>
            </a:pPr>
            <a:r>
              <a:rPr lang="en-US">
                <a:solidFill>
                  <a:srgbClr val="4A4A45"/>
                </a:solidFill>
                <a:latin typeface="Lato"/>
                <a:ea typeface="Lato"/>
                <a:cs typeface="Lato"/>
              </a:rPr>
              <a:t>Thymeleaf / React + Cytoscape.js</a:t>
            </a:r>
            <a:endParaRPr lang="en-US">
              <a:latin typeface="Lato"/>
              <a:ea typeface="Lato"/>
              <a:cs typeface="Lato"/>
            </a:endParaRPr>
          </a:p>
        </p:txBody>
      </p:sp>
      <p:pic>
        <p:nvPicPr>
          <p:cNvPr id="18" name="Image 5" descr="preencoded.png"/>
          <p:cNvPicPr>
            <a:picLocks noChangeAspect="1"/>
          </p:cNvPicPr>
          <p:nvPr/>
        </p:nvPicPr>
        <p:blipFill>
          <a:blip r:embed="rId8"/>
          <a:stretch>
            <a:fillRect/>
          </a:stretch>
        </p:blipFill>
        <p:spPr>
          <a:xfrm>
            <a:off x="1015491" y="6684050"/>
            <a:ext cx="882134" cy="1058585"/>
          </a:xfrm>
          <a:prstGeom prst="rect">
            <a:avLst/>
          </a:prstGeom>
        </p:spPr>
      </p:pic>
      <p:sp>
        <p:nvSpPr>
          <p:cNvPr id="19" name="Text 11"/>
          <p:cNvSpPr/>
          <p:nvPr/>
        </p:nvSpPr>
        <p:spPr>
          <a:xfrm>
            <a:off x="2073957" y="6860381"/>
            <a:ext cx="2205514" cy="275630"/>
          </a:xfrm>
          <a:prstGeom prst="rect">
            <a:avLst/>
          </a:prstGeom>
          <a:noFill/>
          <a:ln/>
        </p:spPr>
        <p:txBody>
          <a:bodyPr wrap="none" lIns="0" tIns="0" rIns="0" bIns="0" rtlCol="0" anchor="t"/>
          <a:lstStyle/>
          <a:p>
            <a:pPr marL="0" indent="0" algn="l">
              <a:lnSpc>
                <a:spcPts val="2150"/>
              </a:lnSpc>
              <a:buNone/>
            </a:pPr>
            <a:r>
              <a:rPr lang="en-US" sz="2000" b="1">
                <a:solidFill>
                  <a:srgbClr val="4A4A45"/>
                </a:solidFill>
                <a:latin typeface="Lato Bold"/>
                <a:ea typeface="Lato Bold"/>
                <a:cs typeface="Lato Bold"/>
              </a:rPr>
              <a:t>User Interaction</a:t>
            </a:r>
            <a:endParaRPr lang="en-US" sz="2000">
              <a:latin typeface="Lato Bold"/>
              <a:ea typeface="Lato Bold"/>
              <a:cs typeface="Lato Bold"/>
            </a:endParaRPr>
          </a:p>
        </p:txBody>
      </p:sp>
      <p:sp>
        <p:nvSpPr>
          <p:cNvPr id="20" name="Text 12"/>
          <p:cNvSpPr/>
          <p:nvPr/>
        </p:nvSpPr>
        <p:spPr>
          <a:xfrm>
            <a:off x="2073957" y="7241858"/>
            <a:ext cx="12337018" cy="282297"/>
          </a:xfrm>
          <a:prstGeom prst="rect">
            <a:avLst/>
          </a:prstGeom>
          <a:noFill/>
          <a:ln/>
        </p:spPr>
        <p:txBody>
          <a:bodyPr wrap="none" lIns="0" tIns="0" rIns="0" bIns="0" rtlCol="0" anchor="t"/>
          <a:lstStyle/>
          <a:p>
            <a:pPr marL="0" indent="0" algn="l">
              <a:lnSpc>
                <a:spcPts val="2200"/>
              </a:lnSpc>
              <a:buNone/>
            </a:pPr>
            <a:r>
              <a:rPr lang="en-US">
                <a:solidFill>
                  <a:srgbClr val="4A4A45"/>
                </a:solidFill>
                <a:latin typeface="Lato"/>
                <a:ea typeface="Lato"/>
                <a:cs typeface="Lato"/>
              </a:rPr>
              <a:t>Visualization, search, and exploration</a:t>
            </a:r>
            <a:endParaRPr lang="en-US">
              <a:latin typeface="Lato"/>
              <a:ea typeface="Lato"/>
              <a:cs typeface="Lato"/>
            </a:endParaRPr>
          </a:p>
        </p:txBody>
      </p:sp>
      <p:sp>
        <p:nvSpPr>
          <p:cNvPr id="22" name="Rectangle 21">
            <a:extLst>
              <a:ext uri="{FF2B5EF4-FFF2-40B4-BE49-F238E27FC236}">
                <a16:creationId xmlns:a16="http://schemas.microsoft.com/office/drawing/2014/main" id="{D41DC40A-0961-3B55-3C58-158E77E730C1}"/>
              </a:ext>
            </a:extLst>
          </p:cNvPr>
          <p:cNvSpPr/>
          <p:nvPr/>
        </p:nvSpPr>
        <p:spPr>
          <a:xfrm>
            <a:off x="11251477" y="7145944"/>
            <a:ext cx="3462689" cy="108586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54322" y="497324"/>
            <a:ext cx="4521756" cy="565190"/>
          </a:xfrm>
          <a:prstGeom prst="rect">
            <a:avLst/>
          </a:prstGeom>
          <a:noFill/>
          <a:ln/>
        </p:spPr>
        <p:txBody>
          <a:bodyPr wrap="none" lIns="0" tIns="0" rIns="0" bIns="0" rtlCol="0" anchor="t"/>
          <a:lstStyle/>
          <a:p>
            <a:pPr marL="0" indent="0" algn="ctr">
              <a:lnSpc>
                <a:spcPts val="4450"/>
              </a:lnSpc>
              <a:buNone/>
            </a:pPr>
            <a:endParaRPr lang="en-US" sz="4450" b="1">
              <a:solidFill>
                <a:srgbClr val="282824"/>
              </a:solidFill>
              <a:latin typeface="Lato Bold"/>
              <a:ea typeface="Lato Bold"/>
              <a:cs typeface="Lato Bold"/>
            </a:endParaRPr>
          </a:p>
        </p:txBody>
      </p:sp>
      <p:sp>
        <p:nvSpPr>
          <p:cNvPr id="3" name="Text 1"/>
          <p:cNvSpPr/>
          <p:nvPr/>
        </p:nvSpPr>
        <p:spPr>
          <a:xfrm>
            <a:off x="632936" y="1424226"/>
            <a:ext cx="13364528" cy="289322"/>
          </a:xfrm>
          <a:prstGeom prst="rect">
            <a:avLst/>
          </a:prstGeom>
          <a:noFill/>
          <a:ln/>
        </p:spPr>
        <p:txBody>
          <a:bodyPr wrap="none" lIns="0" tIns="0" rIns="0" bIns="0" rtlCol="0" anchor="t"/>
          <a:lstStyle/>
          <a:p>
            <a:pPr marL="0" indent="0" algn="l">
              <a:lnSpc>
                <a:spcPts val="2250"/>
              </a:lnSpc>
              <a:buNone/>
            </a:pPr>
            <a:endParaRPr lang="en-US" sz="1400"/>
          </a:p>
        </p:txBody>
      </p:sp>
      <p:sp>
        <p:nvSpPr>
          <p:cNvPr id="6" name="Text 3"/>
          <p:cNvSpPr/>
          <p:nvPr/>
        </p:nvSpPr>
        <p:spPr>
          <a:xfrm>
            <a:off x="813792" y="3056241"/>
            <a:ext cx="6230064" cy="289322"/>
          </a:xfrm>
          <a:prstGeom prst="rect">
            <a:avLst/>
          </a:prstGeom>
          <a:noFill/>
          <a:ln/>
        </p:spPr>
        <p:txBody>
          <a:bodyPr wrap="none" lIns="0" tIns="0" rIns="0" bIns="0" rtlCol="0" anchor="t"/>
          <a:lstStyle/>
          <a:p>
            <a:pPr algn="l">
              <a:lnSpc>
                <a:spcPts val="2250"/>
              </a:lnSpc>
              <a:buSzPct val="100000"/>
            </a:pPr>
            <a:endParaRPr lang="en-US">
              <a:solidFill>
                <a:srgbClr val="4A4A45"/>
              </a:solidFill>
              <a:latin typeface="Lato"/>
              <a:ea typeface="Lato"/>
              <a:cs typeface="Lato"/>
            </a:endParaRPr>
          </a:p>
        </p:txBody>
      </p:sp>
      <p:sp>
        <p:nvSpPr>
          <p:cNvPr id="7" name="Text 4"/>
          <p:cNvSpPr/>
          <p:nvPr/>
        </p:nvSpPr>
        <p:spPr>
          <a:xfrm>
            <a:off x="813792" y="3687645"/>
            <a:ext cx="6230064" cy="289322"/>
          </a:xfrm>
          <a:prstGeom prst="rect">
            <a:avLst/>
          </a:prstGeom>
          <a:noFill/>
          <a:ln/>
        </p:spPr>
        <p:txBody>
          <a:bodyPr wrap="none" lIns="0" tIns="0" rIns="0" bIns="0" rtlCol="0" anchor="t"/>
          <a:lstStyle/>
          <a:p>
            <a:pPr algn="l">
              <a:lnSpc>
                <a:spcPts val="2250"/>
              </a:lnSpc>
              <a:buSzPct val="100000"/>
            </a:pPr>
            <a:endParaRPr lang="en-US">
              <a:solidFill>
                <a:srgbClr val="4A4A45"/>
              </a:solidFill>
              <a:latin typeface="Lato"/>
              <a:ea typeface="Lato"/>
              <a:cs typeface="Lato"/>
            </a:endParaRPr>
          </a:p>
        </p:txBody>
      </p:sp>
      <p:sp>
        <p:nvSpPr>
          <p:cNvPr id="10" name="Text 6"/>
          <p:cNvSpPr/>
          <p:nvPr/>
        </p:nvSpPr>
        <p:spPr>
          <a:xfrm>
            <a:off x="6045723" y="2906190"/>
            <a:ext cx="6230183" cy="289322"/>
          </a:xfrm>
          <a:prstGeom prst="rect">
            <a:avLst/>
          </a:prstGeom>
          <a:noFill/>
          <a:ln/>
        </p:spPr>
        <p:txBody>
          <a:bodyPr wrap="none" lIns="0" tIns="0" rIns="0" bIns="0" rtlCol="0" anchor="t"/>
          <a:lstStyle/>
          <a:p>
            <a:pPr marL="342900" indent="-342900" algn="l">
              <a:lnSpc>
                <a:spcPts val="2250"/>
              </a:lnSpc>
              <a:buSzPct val="100000"/>
              <a:buChar char="•"/>
            </a:pPr>
            <a:endParaRPr lang="en-US">
              <a:solidFill>
                <a:srgbClr val="4A4A45"/>
              </a:solidFill>
              <a:latin typeface="Lato"/>
              <a:ea typeface="Lato"/>
              <a:cs typeface="Lato"/>
            </a:endParaRPr>
          </a:p>
        </p:txBody>
      </p:sp>
      <p:sp>
        <p:nvSpPr>
          <p:cNvPr id="11" name="Text 7"/>
          <p:cNvSpPr/>
          <p:nvPr/>
        </p:nvSpPr>
        <p:spPr>
          <a:xfrm>
            <a:off x="7586424" y="3546122"/>
            <a:ext cx="6230183" cy="289322"/>
          </a:xfrm>
          <a:prstGeom prst="rect">
            <a:avLst/>
          </a:prstGeom>
          <a:noFill/>
          <a:ln/>
        </p:spPr>
        <p:txBody>
          <a:bodyPr wrap="none" lIns="0" tIns="0" rIns="0" bIns="0" rtlCol="0" anchor="t"/>
          <a:lstStyle/>
          <a:p>
            <a:pPr marL="342900" indent="-342900" algn="l">
              <a:lnSpc>
                <a:spcPts val="2250"/>
              </a:lnSpc>
              <a:buSzPct val="100000"/>
              <a:buChar char="•"/>
            </a:pPr>
            <a:endParaRPr lang="en-US">
              <a:solidFill>
                <a:srgbClr val="4A4A45"/>
              </a:solidFill>
              <a:latin typeface="Lato"/>
              <a:ea typeface="Lato"/>
              <a:cs typeface="Lato"/>
            </a:endParaRPr>
          </a:p>
        </p:txBody>
      </p:sp>
      <p:sp>
        <p:nvSpPr>
          <p:cNvPr id="13" name="Text 8"/>
          <p:cNvSpPr/>
          <p:nvPr/>
        </p:nvSpPr>
        <p:spPr>
          <a:xfrm>
            <a:off x="813792" y="5028527"/>
            <a:ext cx="3464111" cy="276050"/>
          </a:xfrm>
          <a:prstGeom prst="rect">
            <a:avLst/>
          </a:prstGeom>
          <a:noFill/>
          <a:ln/>
        </p:spPr>
        <p:txBody>
          <a:bodyPr wrap="none" lIns="0" tIns="0" rIns="0" bIns="0" rtlCol="0" anchor="t"/>
          <a:lstStyle/>
          <a:p>
            <a:pPr marL="0" indent="0" algn="l">
              <a:lnSpc>
                <a:spcPts val="2200"/>
              </a:lnSpc>
              <a:buNone/>
            </a:pPr>
            <a:endParaRPr lang="en-US" sz="2000" b="1">
              <a:solidFill>
                <a:srgbClr val="4A4A45"/>
              </a:solidFill>
              <a:latin typeface="Lato Bold"/>
              <a:ea typeface="Lato Bold"/>
              <a:cs typeface="Lato Bold"/>
            </a:endParaRPr>
          </a:p>
        </p:txBody>
      </p:sp>
      <p:sp>
        <p:nvSpPr>
          <p:cNvPr id="14" name="Text 9"/>
          <p:cNvSpPr/>
          <p:nvPr/>
        </p:nvSpPr>
        <p:spPr>
          <a:xfrm>
            <a:off x="813792" y="5490864"/>
            <a:ext cx="6230064" cy="578644"/>
          </a:xfrm>
          <a:prstGeom prst="rect">
            <a:avLst/>
          </a:prstGeom>
          <a:noFill/>
          <a:ln/>
        </p:spPr>
        <p:txBody>
          <a:bodyPr wrap="square" lIns="0" tIns="0" rIns="0" bIns="0" rtlCol="0" anchor="t"/>
          <a:lstStyle/>
          <a:p>
            <a:pPr marL="342900" indent="-342900" algn="l">
              <a:lnSpc>
                <a:spcPts val="2250"/>
              </a:lnSpc>
              <a:buSzPct val="100000"/>
              <a:buChar char="•"/>
            </a:pPr>
            <a:endParaRPr lang="en-US">
              <a:solidFill>
                <a:srgbClr val="4A4A45"/>
              </a:solidFill>
              <a:latin typeface="Lato"/>
              <a:ea typeface="Lato"/>
              <a:cs typeface="Lato"/>
            </a:endParaRPr>
          </a:p>
        </p:txBody>
      </p:sp>
      <p:sp>
        <p:nvSpPr>
          <p:cNvPr id="15" name="Text 10"/>
          <p:cNvSpPr/>
          <p:nvPr/>
        </p:nvSpPr>
        <p:spPr>
          <a:xfrm>
            <a:off x="813792" y="6230006"/>
            <a:ext cx="6230064" cy="578644"/>
          </a:xfrm>
          <a:prstGeom prst="rect">
            <a:avLst/>
          </a:prstGeom>
          <a:noFill/>
          <a:ln/>
        </p:spPr>
        <p:txBody>
          <a:bodyPr wrap="square" lIns="0" tIns="0" rIns="0" bIns="0" rtlCol="0" anchor="t"/>
          <a:lstStyle/>
          <a:p>
            <a:pPr marL="342900" indent="-342900" algn="l">
              <a:lnSpc>
                <a:spcPts val="2250"/>
              </a:lnSpc>
              <a:buSzPct val="100000"/>
              <a:buChar char="•"/>
            </a:pPr>
            <a:endParaRPr lang="en-US">
              <a:solidFill>
                <a:srgbClr val="4A4A45"/>
              </a:solidFill>
              <a:latin typeface="Lato"/>
              <a:ea typeface="Lato"/>
              <a:cs typeface="Lato"/>
            </a:endParaRPr>
          </a:p>
        </p:txBody>
      </p:sp>
      <p:sp>
        <p:nvSpPr>
          <p:cNvPr id="16" name="Text 11"/>
          <p:cNvSpPr/>
          <p:nvPr/>
        </p:nvSpPr>
        <p:spPr>
          <a:xfrm>
            <a:off x="813792" y="6975634"/>
            <a:ext cx="6230064" cy="578644"/>
          </a:xfrm>
          <a:prstGeom prst="rect">
            <a:avLst/>
          </a:prstGeom>
          <a:noFill/>
          <a:ln/>
        </p:spPr>
        <p:txBody>
          <a:bodyPr wrap="square" lIns="0" tIns="0" rIns="0" bIns="0" rtlCol="0" anchor="t"/>
          <a:lstStyle/>
          <a:p>
            <a:pPr algn="l">
              <a:lnSpc>
                <a:spcPts val="2250"/>
              </a:lnSpc>
              <a:buSzPct val="100000"/>
            </a:pPr>
            <a:endParaRPr lang="en-US">
              <a:solidFill>
                <a:srgbClr val="4A4A45"/>
              </a:solidFill>
              <a:latin typeface="Lato"/>
              <a:ea typeface="Lato"/>
              <a:cs typeface="Lato"/>
            </a:endParaRPr>
          </a:p>
        </p:txBody>
      </p:sp>
      <p:sp>
        <p:nvSpPr>
          <p:cNvPr id="18" name="Text 12"/>
          <p:cNvSpPr/>
          <p:nvPr/>
        </p:nvSpPr>
        <p:spPr>
          <a:xfrm>
            <a:off x="7586424" y="5029676"/>
            <a:ext cx="3146852" cy="256595"/>
          </a:xfrm>
          <a:prstGeom prst="rect">
            <a:avLst/>
          </a:prstGeom>
          <a:noFill/>
          <a:ln/>
        </p:spPr>
        <p:txBody>
          <a:bodyPr wrap="none" lIns="0" tIns="0" rIns="0" bIns="0" rtlCol="0" anchor="t"/>
          <a:lstStyle/>
          <a:p>
            <a:pPr marL="0" indent="0" algn="l">
              <a:lnSpc>
                <a:spcPts val="2200"/>
              </a:lnSpc>
              <a:buNone/>
            </a:pPr>
            <a:endParaRPr lang="en-US" sz="2000" b="1">
              <a:solidFill>
                <a:srgbClr val="4A4A45"/>
              </a:solidFill>
              <a:latin typeface="Lato Bold"/>
              <a:ea typeface="Lato Bold"/>
              <a:cs typeface="Lato Bold"/>
            </a:endParaRPr>
          </a:p>
        </p:txBody>
      </p:sp>
      <p:sp>
        <p:nvSpPr>
          <p:cNvPr id="20" name="Text 14"/>
          <p:cNvSpPr/>
          <p:nvPr/>
        </p:nvSpPr>
        <p:spPr>
          <a:xfrm>
            <a:off x="7586424" y="5773222"/>
            <a:ext cx="6230183" cy="289322"/>
          </a:xfrm>
          <a:prstGeom prst="rect">
            <a:avLst/>
          </a:prstGeom>
          <a:noFill/>
          <a:ln/>
        </p:spPr>
        <p:txBody>
          <a:bodyPr wrap="none" lIns="0" tIns="0" rIns="0" bIns="0" rtlCol="0" anchor="t"/>
          <a:lstStyle/>
          <a:p>
            <a:pPr algn="l">
              <a:lnSpc>
                <a:spcPts val="2250"/>
              </a:lnSpc>
              <a:buSzPct val="100000"/>
            </a:pPr>
            <a:endParaRPr lang="en-US">
              <a:solidFill>
                <a:srgbClr val="4A4A45"/>
              </a:solidFill>
              <a:latin typeface="Lato"/>
              <a:ea typeface="Lato"/>
              <a:cs typeface="Lato"/>
            </a:endParaRPr>
          </a:p>
        </p:txBody>
      </p:sp>
      <p:pic>
        <p:nvPicPr>
          <p:cNvPr id="21" name="Picture 20">
            <a:extLst>
              <a:ext uri="{FF2B5EF4-FFF2-40B4-BE49-F238E27FC236}">
                <a16:creationId xmlns:a16="http://schemas.microsoft.com/office/drawing/2014/main" id="{D88821D8-AB89-450A-A613-D6FF4BE3A578}"/>
              </a:ext>
            </a:extLst>
          </p:cNvPr>
          <p:cNvPicPr>
            <a:picLocks noChangeAspect="1"/>
          </p:cNvPicPr>
          <p:nvPr/>
        </p:nvPicPr>
        <p:blipFill>
          <a:blip r:embed="rId3"/>
          <a:stretch>
            <a:fillRect/>
          </a:stretch>
        </p:blipFill>
        <p:spPr>
          <a:xfrm>
            <a:off x="1365241" y="601692"/>
            <a:ext cx="11518018" cy="7135564"/>
          </a:xfrm>
          <a:prstGeom prst="rect">
            <a:avLst/>
          </a:prstGeom>
        </p:spPr>
      </p:pic>
      <p:sp>
        <p:nvSpPr>
          <p:cNvPr id="9" name="Rectangle 8">
            <a:extLst>
              <a:ext uri="{FF2B5EF4-FFF2-40B4-BE49-F238E27FC236}">
                <a16:creationId xmlns:a16="http://schemas.microsoft.com/office/drawing/2014/main" id="{F579E0BB-75E4-6E49-24B8-2BA921E682ED}"/>
              </a:ext>
            </a:extLst>
          </p:cNvPr>
          <p:cNvSpPr/>
          <p:nvPr/>
        </p:nvSpPr>
        <p:spPr>
          <a:xfrm>
            <a:off x="11251477" y="7145944"/>
            <a:ext cx="3462689" cy="108586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chemeClr val="tx1"/>
        </a:solidFill>
        <a:effectLst/>
      </p:bgPr>
    </p:bg>
    <p:spTree>
      <p:nvGrpSpPr>
        <p:cNvPr id="1" name=""/>
        <p:cNvGrpSpPr/>
        <p:nvPr/>
      </p:nvGrpSpPr>
      <p:grpSpPr>
        <a:xfrm>
          <a:off x="0" y="0"/>
          <a:ext cx="0" cy="0"/>
          <a:chOff x="0" y="0"/>
          <a:chExt cx="0" cy="0"/>
        </a:xfrm>
      </p:grpSpPr>
      <p:sp>
        <p:nvSpPr>
          <p:cNvPr id="2" name="Text 0"/>
          <p:cNvSpPr/>
          <p:nvPr/>
        </p:nvSpPr>
        <p:spPr>
          <a:xfrm>
            <a:off x="3889701" y="735989"/>
            <a:ext cx="5670590" cy="708779"/>
          </a:xfrm>
          <a:prstGeom prst="rect">
            <a:avLst/>
          </a:prstGeom>
          <a:noFill/>
          <a:ln/>
        </p:spPr>
        <p:txBody>
          <a:bodyPr wrap="none" lIns="0" tIns="0" rIns="0" bIns="0" rtlCol="0" anchor="t"/>
          <a:lstStyle/>
          <a:p>
            <a:pPr marL="0" indent="0" algn="ctr">
              <a:lnSpc>
                <a:spcPts val="5550"/>
              </a:lnSpc>
              <a:buNone/>
            </a:pPr>
            <a:r>
              <a:rPr lang="en-US" sz="4450" b="1">
                <a:solidFill>
                  <a:srgbClr val="282824"/>
                </a:solidFill>
                <a:latin typeface="Lato Bold" pitchFamily="34" charset="0"/>
                <a:ea typeface="Lato Bold" pitchFamily="34" charset="-122"/>
                <a:cs typeface="Lato Bold" pitchFamily="34" charset="-120"/>
              </a:rPr>
              <a:t>Technology Stack</a:t>
            </a:r>
            <a:endParaRPr lang="en-US" sz="4450"/>
          </a:p>
        </p:txBody>
      </p:sp>
      <p:pic>
        <p:nvPicPr>
          <p:cNvPr id="3" name="Image 0" descr="preencoded.png"/>
          <p:cNvPicPr>
            <a:picLocks noChangeAspect="1"/>
          </p:cNvPicPr>
          <p:nvPr/>
        </p:nvPicPr>
        <p:blipFill>
          <a:blip r:embed="rId3"/>
          <a:stretch>
            <a:fillRect/>
          </a:stretch>
        </p:blipFill>
        <p:spPr>
          <a:xfrm>
            <a:off x="2235315" y="2263469"/>
            <a:ext cx="680442" cy="680442"/>
          </a:xfrm>
          <a:prstGeom prst="rect">
            <a:avLst/>
          </a:prstGeom>
        </p:spPr>
      </p:pic>
      <p:sp>
        <p:nvSpPr>
          <p:cNvPr id="4" name="Text 1"/>
          <p:cNvSpPr/>
          <p:nvPr/>
        </p:nvSpPr>
        <p:spPr>
          <a:xfrm>
            <a:off x="3078379" y="2423246"/>
            <a:ext cx="2835235" cy="354330"/>
          </a:xfrm>
          <a:prstGeom prst="rect">
            <a:avLst/>
          </a:prstGeom>
          <a:noFill/>
          <a:ln/>
        </p:spPr>
        <p:txBody>
          <a:bodyPr wrap="none" lIns="0" tIns="0" rIns="0" bIns="0" rtlCol="0" anchor="t"/>
          <a:lstStyle/>
          <a:p>
            <a:pPr marL="0" indent="0" algn="l">
              <a:lnSpc>
                <a:spcPts val="2750"/>
              </a:lnSpc>
              <a:buNone/>
            </a:pPr>
            <a:r>
              <a:rPr lang="en-US" sz="2400">
                <a:solidFill>
                  <a:srgbClr val="4A4A45"/>
                </a:solidFill>
                <a:latin typeface="Lato Bold"/>
                <a:ea typeface="Lato Bold"/>
                <a:cs typeface="Lato Bold"/>
              </a:rPr>
              <a:t>Backend</a:t>
            </a:r>
            <a:endParaRPr lang="en-US" sz="2400">
              <a:latin typeface="Lato Bold"/>
              <a:ea typeface="Lato Bold"/>
              <a:cs typeface="Lato Bold"/>
            </a:endParaRPr>
          </a:p>
        </p:txBody>
      </p:sp>
      <p:sp>
        <p:nvSpPr>
          <p:cNvPr id="5" name="Text 2"/>
          <p:cNvSpPr/>
          <p:nvPr/>
        </p:nvSpPr>
        <p:spPr>
          <a:xfrm>
            <a:off x="2235315" y="3048744"/>
            <a:ext cx="4873537" cy="357525"/>
          </a:xfrm>
          <a:prstGeom prst="rect">
            <a:avLst/>
          </a:prstGeom>
          <a:noFill/>
          <a:ln/>
        </p:spPr>
        <p:txBody>
          <a:bodyPr wrap="none" lIns="0" tIns="0" rIns="0" bIns="0" rtlCol="0" anchor="t"/>
          <a:lstStyle/>
          <a:p>
            <a:pPr marL="342900" indent="-342900" algn="l">
              <a:lnSpc>
                <a:spcPts val="2850"/>
              </a:lnSpc>
              <a:buSzPct val="100000"/>
              <a:buChar char="•"/>
            </a:pPr>
            <a:r>
              <a:rPr lang="en-US">
                <a:solidFill>
                  <a:srgbClr val="4A4A45"/>
                </a:solidFill>
                <a:latin typeface="Lato"/>
                <a:ea typeface="Lato"/>
                <a:cs typeface="Lato"/>
              </a:rPr>
              <a:t>Spring Boot (REST API and services)</a:t>
            </a:r>
            <a:endParaRPr lang="en-US">
              <a:latin typeface="Lato"/>
              <a:ea typeface="Lato"/>
              <a:cs typeface="Lato"/>
            </a:endParaRPr>
          </a:p>
        </p:txBody>
      </p:sp>
      <p:sp>
        <p:nvSpPr>
          <p:cNvPr id="6" name="Text 3"/>
          <p:cNvSpPr/>
          <p:nvPr/>
        </p:nvSpPr>
        <p:spPr>
          <a:xfrm>
            <a:off x="2235315" y="3532068"/>
            <a:ext cx="5207024" cy="368281"/>
          </a:xfrm>
          <a:prstGeom prst="rect">
            <a:avLst/>
          </a:prstGeom>
          <a:noFill/>
          <a:ln/>
        </p:spPr>
        <p:txBody>
          <a:bodyPr wrap="none" lIns="0" tIns="0" rIns="0" bIns="0" rtlCol="0" anchor="t"/>
          <a:lstStyle/>
          <a:p>
            <a:pPr marL="342900" indent="-342900" algn="l">
              <a:lnSpc>
                <a:spcPts val="2850"/>
              </a:lnSpc>
              <a:buSzPct val="100000"/>
              <a:buChar char="•"/>
            </a:pPr>
            <a:r>
              <a:rPr lang="en-US">
                <a:solidFill>
                  <a:srgbClr val="4A4A45"/>
                </a:solidFill>
                <a:latin typeface="Lato"/>
                <a:ea typeface="Lato"/>
                <a:cs typeface="Lato"/>
              </a:rPr>
              <a:t>Open Source LLM (AI powered summarization)</a:t>
            </a:r>
            <a:endParaRPr lang="en-US">
              <a:latin typeface="Lato"/>
              <a:ea typeface="Lato"/>
              <a:cs typeface="Lato"/>
            </a:endParaRPr>
          </a:p>
        </p:txBody>
      </p:sp>
      <p:pic>
        <p:nvPicPr>
          <p:cNvPr id="7" name="Image 1" descr="preencoded.png"/>
          <p:cNvPicPr>
            <a:picLocks noChangeAspect="1"/>
          </p:cNvPicPr>
          <p:nvPr/>
        </p:nvPicPr>
        <p:blipFill>
          <a:blip r:embed="rId4"/>
          <a:stretch>
            <a:fillRect/>
          </a:stretch>
        </p:blipFill>
        <p:spPr>
          <a:xfrm>
            <a:off x="8489618" y="2263469"/>
            <a:ext cx="680442" cy="685820"/>
          </a:xfrm>
          <a:prstGeom prst="rect">
            <a:avLst/>
          </a:prstGeom>
        </p:spPr>
      </p:pic>
      <p:sp>
        <p:nvSpPr>
          <p:cNvPr id="8" name="Text 4"/>
          <p:cNvSpPr/>
          <p:nvPr/>
        </p:nvSpPr>
        <p:spPr>
          <a:xfrm>
            <a:off x="9293771" y="2423246"/>
            <a:ext cx="2835235" cy="354330"/>
          </a:xfrm>
          <a:prstGeom prst="rect">
            <a:avLst/>
          </a:prstGeom>
          <a:noFill/>
          <a:ln/>
        </p:spPr>
        <p:txBody>
          <a:bodyPr wrap="none" lIns="0" tIns="0" rIns="0" bIns="0" rtlCol="0" anchor="t"/>
          <a:lstStyle/>
          <a:p>
            <a:pPr marL="0" indent="0" algn="l">
              <a:lnSpc>
                <a:spcPts val="2750"/>
              </a:lnSpc>
              <a:buNone/>
            </a:pPr>
            <a:r>
              <a:rPr lang="en-US" sz="2400" b="1">
                <a:solidFill>
                  <a:srgbClr val="4A4A45"/>
                </a:solidFill>
                <a:latin typeface="Lato Bold"/>
                <a:ea typeface="Lato Bold"/>
                <a:cs typeface="Lato Bold"/>
              </a:rPr>
              <a:t>Database</a:t>
            </a:r>
            <a:endParaRPr lang="en-US" sz="2400">
              <a:latin typeface="Lato Bold"/>
              <a:ea typeface="Lato Bold"/>
              <a:cs typeface="Lato Bold"/>
            </a:endParaRPr>
          </a:p>
        </p:txBody>
      </p:sp>
      <p:sp>
        <p:nvSpPr>
          <p:cNvPr id="9" name="Text 5"/>
          <p:cNvSpPr/>
          <p:nvPr/>
        </p:nvSpPr>
        <p:spPr>
          <a:xfrm>
            <a:off x="8489618" y="3064881"/>
            <a:ext cx="3545086" cy="341388"/>
          </a:xfrm>
          <a:prstGeom prst="rect">
            <a:avLst/>
          </a:prstGeom>
          <a:noFill/>
          <a:ln/>
        </p:spPr>
        <p:txBody>
          <a:bodyPr wrap="none" lIns="0" tIns="0" rIns="0" bIns="0" rtlCol="0" anchor="t"/>
          <a:lstStyle/>
          <a:p>
            <a:pPr marL="342900" indent="-342900" algn="l">
              <a:lnSpc>
                <a:spcPts val="2850"/>
              </a:lnSpc>
              <a:buSzPct val="100000"/>
              <a:buChar char="•"/>
            </a:pPr>
            <a:r>
              <a:rPr lang="en-US">
                <a:solidFill>
                  <a:srgbClr val="4A4A45"/>
                </a:solidFill>
                <a:latin typeface="Lato"/>
                <a:ea typeface="Lato"/>
                <a:cs typeface="Lato"/>
              </a:rPr>
              <a:t>Neo4j (Graph database)</a:t>
            </a:r>
            <a:endParaRPr lang="en-US">
              <a:latin typeface="Lato"/>
              <a:ea typeface="Lato"/>
              <a:cs typeface="Lato"/>
            </a:endParaRPr>
          </a:p>
        </p:txBody>
      </p:sp>
      <p:sp>
        <p:nvSpPr>
          <p:cNvPr id="10" name="Text 6"/>
          <p:cNvSpPr/>
          <p:nvPr/>
        </p:nvSpPr>
        <p:spPr>
          <a:xfrm>
            <a:off x="8489618" y="3526689"/>
            <a:ext cx="3808649" cy="373660"/>
          </a:xfrm>
          <a:prstGeom prst="rect">
            <a:avLst/>
          </a:prstGeom>
          <a:noFill/>
          <a:ln/>
        </p:spPr>
        <p:txBody>
          <a:bodyPr wrap="none" lIns="0" tIns="0" rIns="0" bIns="0" rtlCol="0" anchor="t"/>
          <a:lstStyle/>
          <a:p>
            <a:pPr marL="342900" indent="-342900" algn="l">
              <a:lnSpc>
                <a:spcPts val="2850"/>
              </a:lnSpc>
              <a:buSzPct val="100000"/>
              <a:buChar char="•"/>
            </a:pPr>
            <a:r>
              <a:rPr lang="en-US">
                <a:solidFill>
                  <a:srgbClr val="4A4A45"/>
                </a:solidFill>
                <a:latin typeface="Lato"/>
                <a:ea typeface="Lato"/>
                <a:cs typeface="Lato"/>
              </a:rPr>
              <a:t>PostgresSQL (Summary storage)</a:t>
            </a:r>
            <a:endParaRPr lang="en-US">
              <a:latin typeface="Lato"/>
              <a:ea typeface="Lato"/>
              <a:cs typeface="Lato"/>
            </a:endParaRPr>
          </a:p>
        </p:txBody>
      </p:sp>
      <p:pic>
        <p:nvPicPr>
          <p:cNvPr id="11" name="Image 2" descr="preencoded.png"/>
          <p:cNvPicPr>
            <a:picLocks noChangeAspect="1"/>
          </p:cNvPicPr>
          <p:nvPr/>
        </p:nvPicPr>
        <p:blipFill>
          <a:blip r:embed="rId5"/>
          <a:stretch>
            <a:fillRect/>
          </a:stretch>
        </p:blipFill>
        <p:spPr>
          <a:xfrm>
            <a:off x="2235315" y="4976546"/>
            <a:ext cx="680442" cy="680442"/>
          </a:xfrm>
          <a:prstGeom prst="rect">
            <a:avLst/>
          </a:prstGeom>
        </p:spPr>
      </p:pic>
      <p:sp>
        <p:nvSpPr>
          <p:cNvPr id="12" name="Text 7"/>
          <p:cNvSpPr/>
          <p:nvPr/>
        </p:nvSpPr>
        <p:spPr>
          <a:xfrm>
            <a:off x="3078379" y="5142808"/>
            <a:ext cx="2835235" cy="354330"/>
          </a:xfrm>
          <a:prstGeom prst="rect">
            <a:avLst/>
          </a:prstGeom>
          <a:noFill/>
          <a:ln/>
        </p:spPr>
        <p:txBody>
          <a:bodyPr wrap="none" lIns="0" tIns="0" rIns="0" bIns="0" rtlCol="0" anchor="t"/>
          <a:lstStyle/>
          <a:p>
            <a:pPr marL="0" indent="0" algn="l">
              <a:lnSpc>
                <a:spcPts val="2750"/>
              </a:lnSpc>
              <a:buNone/>
            </a:pPr>
            <a:r>
              <a:rPr lang="en-US" sz="2400" b="1">
                <a:solidFill>
                  <a:srgbClr val="4A4A45"/>
                </a:solidFill>
                <a:latin typeface="Lato Bold"/>
                <a:ea typeface="Lato Bold"/>
                <a:cs typeface="Lato Bold"/>
              </a:rPr>
              <a:t>Frontend</a:t>
            </a:r>
            <a:endParaRPr lang="en-US" sz="2400">
              <a:latin typeface="Lato Bold"/>
              <a:ea typeface="Lato Bold"/>
              <a:cs typeface="Lato Bold"/>
            </a:endParaRPr>
          </a:p>
        </p:txBody>
      </p:sp>
      <p:sp>
        <p:nvSpPr>
          <p:cNvPr id="13" name="Text 8"/>
          <p:cNvSpPr/>
          <p:nvPr/>
        </p:nvSpPr>
        <p:spPr>
          <a:xfrm>
            <a:off x="2235315" y="5853721"/>
            <a:ext cx="4857400" cy="379039"/>
          </a:xfrm>
          <a:prstGeom prst="rect">
            <a:avLst/>
          </a:prstGeom>
          <a:noFill/>
          <a:ln/>
        </p:spPr>
        <p:txBody>
          <a:bodyPr wrap="none" lIns="0" tIns="0" rIns="0" bIns="0" rtlCol="0" anchor="t"/>
          <a:lstStyle/>
          <a:p>
            <a:pPr marL="342900" indent="-342900" algn="l">
              <a:lnSpc>
                <a:spcPts val="2850"/>
              </a:lnSpc>
              <a:buSzPct val="100000"/>
              <a:buChar char="•"/>
            </a:pPr>
            <a:r>
              <a:rPr lang="en-US">
                <a:solidFill>
                  <a:srgbClr val="4A4A45"/>
                </a:solidFill>
                <a:latin typeface="Lato"/>
                <a:ea typeface="Lato"/>
                <a:cs typeface="Lato"/>
              </a:rPr>
              <a:t>React.js/Thymeleaf (UI framework)</a:t>
            </a:r>
            <a:endParaRPr lang="en-US">
              <a:latin typeface="Lato"/>
              <a:ea typeface="Lato"/>
              <a:cs typeface="Lato"/>
            </a:endParaRPr>
          </a:p>
        </p:txBody>
      </p:sp>
      <p:sp>
        <p:nvSpPr>
          <p:cNvPr id="14" name="Text 9"/>
          <p:cNvSpPr/>
          <p:nvPr/>
        </p:nvSpPr>
        <p:spPr>
          <a:xfrm>
            <a:off x="2235315" y="6203220"/>
            <a:ext cx="5077932" cy="416691"/>
          </a:xfrm>
          <a:prstGeom prst="rect">
            <a:avLst/>
          </a:prstGeom>
          <a:noFill/>
          <a:ln/>
        </p:spPr>
        <p:txBody>
          <a:bodyPr wrap="none" lIns="0" tIns="0" rIns="0" bIns="0" rtlCol="0" anchor="t"/>
          <a:lstStyle/>
          <a:p>
            <a:pPr marL="342900" indent="-342900" algn="l">
              <a:lnSpc>
                <a:spcPts val="2850"/>
              </a:lnSpc>
              <a:buSzPct val="100000"/>
              <a:buChar char="•"/>
            </a:pPr>
            <a:r>
              <a:rPr lang="en-US">
                <a:solidFill>
                  <a:srgbClr val="4A4A45"/>
                </a:solidFill>
                <a:latin typeface="Lato"/>
                <a:ea typeface="Lato"/>
                <a:cs typeface="Lato"/>
              </a:rPr>
              <a:t>Cytoscape.js (Graph visualization)</a:t>
            </a:r>
            <a:endParaRPr lang="en-US">
              <a:latin typeface="Lato"/>
              <a:ea typeface="Lato"/>
              <a:cs typeface="Lato"/>
            </a:endParaRPr>
          </a:p>
        </p:txBody>
      </p:sp>
      <p:pic>
        <p:nvPicPr>
          <p:cNvPr id="15" name="Image 3" descr="preencoded.png"/>
          <p:cNvPicPr>
            <a:picLocks noChangeAspect="1"/>
          </p:cNvPicPr>
          <p:nvPr/>
        </p:nvPicPr>
        <p:blipFill>
          <a:blip r:embed="rId6"/>
          <a:stretch>
            <a:fillRect/>
          </a:stretch>
        </p:blipFill>
        <p:spPr>
          <a:xfrm>
            <a:off x="8489618" y="4976546"/>
            <a:ext cx="680442" cy="680442"/>
          </a:xfrm>
          <a:prstGeom prst="rect">
            <a:avLst/>
          </a:prstGeom>
        </p:spPr>
      </p:pic>
      <p:sp>
        <p:nvSpPr>
          <p:cNvPr id="16" name="Text 10"/>
          <p:cNvSpPr/>
          <p:nvPr/>
        </p:nvSpPr>
        <p:spPr>
          <a:xfrm>
            <a:off x="9293771" y="5142808"/>
            <a:ext cx="2835235" cy="354330"/>
          </a:xfrm>
          <a:prstGeom prst="rect">
            <a:avLst/>
          </a:prstGeom>
          <a:noFill/>
          <a:ln/>
        </p:spPr>
        <p:txBody>
          <a:bodyPr wrap="none" lIns="0" tIns="0" rIns="0" bIns="0" rtlCol="0" anchor="t"/>
          <a:lstStyle/>
          <a:p>
            <a:pPr marL="0" indent="0" algn="l">
              <a:lnSpc>
                <a:spcPts val="2750"/>
              </a:lnSpc>
              <a:buNone/>
            </a:pPr>
            <a:r>
              <a:rPr lang="en-US" sz="2400" b="1">
                <a:solidFill>
                  <a:srgbClr val="4A4A45"/>
                </a:solidFill>
                <a:latin typeface="Lato Bold"/>
                <a:ea typeface="Lato Bold"/>
                <a:cs typeface="Lato Bold"/>
              </a:rPr>
              <a:t>Deployment</a:t>
            </a:r>
            <a:endParaRPr lang="en-US" sz="2400">
              <a:latin typeface="Lato Bold"/>
              <a:ea typeface="Lato Bold"/>
              <a:cs typeface="Lato Bold"/>
            </a:endParaRPr>
          </a:p>
        </p:txBody>
      </p:sp>
      <p:sp>
        <p:nvSpPr>
          <p:cNvPr id="17" name="Text 11"/>
          <p:cNvSpPr/>
          <p:nvPr/>
        </p:nvSpPr>
        <p:spPr>
          <a:xfrm>
            <a:off x="8489618" y="5853721"/>
            <a:ext cx="6379726" cy="362903"/>
          </a:xfrm>
          <a:prstGeom prst="rect">
            <a:avLst/>
          </a:prstGeom>
          <a:noFill/>
          <a:ln/>
        </p:spPr>
        <p:txBody>
          <a:bodyPr wrap="none" lIns="0" tIns="0" rIns="0" bIns="0" rtlCol="0" anchor="t"/>
          <a:lstStyle/>
          <a:p>
            <a:pPr marL="342900" indent="-342900" algn="l">
              <a:lnSpc>
                <a:spcPts val="2850"/>
              </a:lnSpc>
              <a:buSzPct val="100000"/>
              <a:buChar char="•"/>
            </a:pPr>
            <a:r>
              <a:rPr lang="en-US">
                <a:solidFill>
                  <a:srgbClr val="4A4A45"/>
                </a:solidFill>
                <a:latin typeface="Lato"/>
                <a:ea typeface="Lato"/>
                <a:cs typeface="Lato"/>
              </a:rPr>
              <a:t>Docker (Containerization)</a:t>
            </a:r>
            <a:endParaRPr lang="en-US">
              <a:latin typeface="Lato"/>
              <a:ea typeface="Lato"/>
              <a:cs typeface="Lato"/>
            </a:endParaRPr>
          </a:p>
        </p:txBody>
      </p:sp>
      <p:sp>
        <p:nvSpPr>
          <p:cNvPr id="18" name="Text 12"/>
          <p:cNvSpPr/>
          <p:nvPr/>
        </p:nvSpPr>
        <p:spPr>
          <a:xfrm>
            <a:off x="8489618" y="6257008"/>
            <a:ext cx="6379726" cy="362903"/>
          </a:xfrm>
          <a:prstGeom prst="rect">
            <a:avLst/>
          </a:prstGeom>
          <a:noFill/>
          <a:ln/>
        </p:spPr>
        <p:txBody>
          <a:bodyPr wrap="none" lIns="0" tIns="0" rIns="0" bIns="0" rtlCol="0" anchor="t"/>
          <a:lstStyle/>
          <a:p>
            <a:pPr marL="342900" indent="-342900" algn="l">
              <a:lnSpc>
                <a:spcPts val="2850"/>
              </a:lnSpc>
              <a:buSzPct val="100000"/>
              <a:buChar char="•"/>
            </a:pPr>
            <a:r>
              <a:rPr lang="en-US">
                <a:solidFill>
                  <a:srgbClr val="4A4A45"/>
                </a:solidFill>
                <a:latin typeface="Lato"/>
                <a:ea typeface="Lato"/>
                <a:cs typeface="Lato"/>
              </a:rPr>
              <a:t>AWS EC2(Cloud hosting)</a:t>
            </a:r>
            <a:endParaRPr lang="en-US">
              <a:latin typeface="Lato"/>
              <a:ea typeface="Lato"/>
              <a:cs typeface="Lato"/>
            </a:endParaRPr>
          </a:p>
        </p:txBody>
      </p:sp>
      <p:sp>
        <p:nvSpPr>
          <p:cNvPr id="20" name="Rectangle 19">
            <a:extLst>
              <a:ext uri="{FF2B5EF4-FFF2-40B4-BE49-F238E27FC236}">
                <a16:creationId xmlns:a16="http://schemas.microsoft.com/office/drawing/2014/main" id="{29923681-9D20-39C4-57EA-6250671F42F8}"/>
              </a:ext>
            </a:extLst>
          </p:cNvPr>
          <p:cNvSpPr/>
          <p:nvPr/>
        </p:nvSpPr>
        <p:spPr>
          <a:xfrm>
            <a:off x="11251477" y="7145944"/>
            <a:ext cx="3462689" cy="108586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2316956" y="2208133"/>
            <a:ext cx="9996368" cy="708779"/>
          </a:xfrm>
          <a:prstGeom prst="rect">
            <a:avLst/>
          </a:prstGeom>
          <a:noFill/>
          <a:ln/>
        </p:spPr>
        <p:txBody>
          <a:bodyPr wrap="none" lIns="0" tIns="0" rIns="0" bIns="0" rtlCol="0" anchor="t"/>
          <a:lstStyle/>
          <a:p>
            <a:pPr algn="ctr">
              <a:lnSpc>
                <a:spcPts val="5550"/>
              </a:lnSpc>
            </a:pPr>
            <a:r>
              <a:rPr lang="en-US" sz="4450" b="1">
                <a:solidFill>
                  <a:srgbClr val="282824"/>
                </a:solidFill>
                <a:latin typeface="Lato Bold"/>
                <a:ea typeface="Lato Bold"/>
                <a:cs typeface="Lato Bold"/>
              </a:rPr>
              <a:t>Long Term Functionality</a:t>
            </a:r>
          </a:p>
        </p:txBody>
      </p:sp>
      <p:sp>
        <p:nvSpPr>
          <p:cNvPr id="3" name="Text 1"/>
          <p:cNvSpPr/>
          <p:nvPr/>
        </p:nvSpPr>
        <p:spPr>
          <a:xfrm>
            <a:off x="793790" y="3370540"/>
            <a:ext cx="13042821" cy="362903"/>
          </a:xfrm>
          <a:prstGeom prst="rect">
            <a:avLst/>
          </a:prstGeom>
          <a:noFill/>
          <a:ln/>
        </p:spPr>
        <p:txBody>
          <a:bodyPr wrap="none" lIns="0" tIns="0" rIns="0" bIns="0" rtlCol="0" anchor="t"/>
          <a:lstStyle/>
          <a:p>
            <a:pPr marL="0" indent="0" algn="l">
              <a:lnSpc>
                <a:spcPts val="2850"/>
              </a:lnSpc>
              <a:buNone/>
            </a:pPr>
            <a:endParaRPr lang="en-US" sz="1750"/>
          </a:p>
        </p:txBody>
      </p:sp>
      <p:sp>
        <p:nvSpPr>
          <p:cNvPr id="4" name="Shape 2"/>
          <p:cNvSpPr/>
          <p:nvPr/>
        </p:nvSpPr>
        <p:spPr>
          <a:xfrm>
            <a:off x="793790" y="3988594"/>
            <a:ext cx="4196358" cy="2032754"/>
          </a:xfrm>
          <a:prstGeom prst="roundRect">
            <a:avLst>
              <a:gd name="adj" fmla="val 26781"/>
            </a:avLst>
          </a:prstGeom>
          <a:solidFill>
            <a:srgbClr val="E5DFD2"/>
          </a:solidFill>
          <a:ln/>
        </p:spPr>
      </p:sp>
      <p:sp>
        <p:nvSpPr>
          <p:cNvPr id="5" name="Text 3"/>
          <p:cNvSpPr/>
          <p:nvPr/>
        </p:nvSpPr>
        <p:spPr>
          <a:xfrm>
            <a:off x="1020604" y="4215408"/>
            <a:ext cx="3348706" cy="308935"/>
          </a:xfrm>
          <a:prstGeom prst="rect">
            <a:avLst/>
          </a:prstGeom>
          <a:noFill/>
          <a:ln/>
        </p:spPr>
        <p:txBody>
          <a:bodyPr wrap="none" lIns="0" tIns="0" rIns="0" bIns="0" rtlCol="0" anchor="t"/>
          <a:lstStyle/>
          <a:p>
            <a:pPr>
              <a:lnSpc>
                <a:spcPts val="2750"/>
              </a:lnSpc>
            </a:pPr>
            <a:r>
              <a:rPr lang="en-US" sz="2200" b="1">
                <a:solidFill>
                  <a:srgbClr val="4A4A45"/>
                </a:solidFill>
                <a:latin typeface="Lato Bold"/>
                <a:ea typeface="Lato Bold"/>
                <a:cs typeface="Lato Bold"/>
              </a:rPr>
              <a:t>Metadata for dead nodes</a:t>
            </a:r>
          </a:p>
        </p:txBody>
      </p:sp>
      <p:sp>
        <p:nvSpPr>
          <p:cNvPr id="6" name="Text 4"/>
          <p:cNvSpPr/>
          <p:nvPr/>
        </p:nvSpPr>
        <p:spPr>
          <a:xfrm>
            <a:off x="1020604" y="4705826"/>
            <a:ext cx="3742730" cy="1088708"/>
          </a:xfrm>
          <a:prstGeom prst="rect">
            <a:avLst/>
          </a:prstGeom>
          <a:noFill/>
          <a:ln/>
        </p:spPr>
        <p:txBody>
          <a:bodyPr wrap="square" lIns="0" tIns="0" rIns="0" bIns="0" rtlCol="0" anchor="t"/>
          <a:lstStyle/>
          <a:p>
            <a:pPr>
              <a:lnSpc>
                <a:spcPts val="2850"/>
              </a:lnSpc>
            </a:pPr>
            <a:r>
              <a:rPr lang="en-US" sz="1750">
                <a:solidFill>
                  <a:srgbClr val="4A4A45"/>
                </a:solidFill>
                <a:latin typeface="Lato"/>
                <a:ea typeface="Lato"/>
                <a:cs typeface="Lato"/>
              </a:rPr>
              <a:t>Retain and display metadata even for dead/inactive nodes.</a:t>
            </a:r>
          </a:p>
        </p:txBody>
      </p:sp>
      <p:sp>
        <p:nvSpPr>
          <p:cNvPr id="7" name="Shape 5"/>
          <p:cNvSpPr/>
          <p:nvPr/>
        </p:nvSpPr>
        <p:spPr>
          <a:xfrm>
            <a:off x="5216962" y="3988594"/>
            <a:ext cx="4196358" cy="2032754"/>
          </a:xfrm>
          <a:prstGeom prst="roundRect">
            <a:avLst>
              <a:gd name="adj" fmla="val 26781"/>
            </a:avLst>
          </a:prstGeom>
          <a:solidFill>
            <a:srgbClr val="E5DFD2"/>
          </a:solidFill>
          <a:ln/>
        </p:spPr>
      </p:sp>
      <p:sp>
        <p:nvSpPr>
          <p:cNvPr id="8" name="Text 6"/>
          <p:cNvSpPr/>
          <p:nvPr/>
        </p:nvSpPr>
        <p:spPr>
          <a:xfrm>
            <a:off x="5443776" y="4215408"/>
            <a:ext cx="3100388" cy="354330"/>
          </a:xfrm>
          <a:prstGeom prst="rect">
            <a:avLst/>
          </a:prstGeom>
          <a:noFill/>
          <a:ln/>
        </p:spPr>
        <p:txBody>
          <a:bodyPr wrap="none" lIns="0" tIns="0" rIns="0" bIns="0" rtlCol="0" anchor="t"/>
          <a:lstStyle/>
          <a:p>
            <a:pPr>
              <a:lnSpc>
                <a:spcPts val="2750"/>
              </a:lnSpc>
            </a:pPr>
            <a:r>
              <a:rPr lang="en-US" sz="2200" b="1">
                <a:solidFill>
                  <a:srgbClr val="4A4A45"/>
                </a:solidFill>
                <a:latin typeface="Lato Bold"/>
                <a:ea typeface="Lato Bold"/>
                <a:cs typeface="Lato Bold"/>
              </a:rPr>
              <a:t>Graph Expansion</a:t>
            </a:r>
          </a:p>
        </p:txBody>
      </p:sp>
      <p:sp>
        <p:nvSpPr>
          <p:cNvPr id="9" name="Text 7"/>
          <p:cNvSpPr/>
          <p:nvPr/>
        </p:nvSpPr>
        <p:spPr>
          <a:xfrm>
            <a:off x="5443776" y="4705826"/>
            <a:ext cx="3742730" cy="1088708"/>
          </a:xfrm>
          <a:prstGeom prst="rect">
            <a:avLst/>
          </a:prstGeom>
          <a:noFill/>
          <a:ln/>
        </p:spPr>
        <p:txBody>
          <a:bodyPr wrap="square" lIns="0" tIns="0" rIns="0" bIns="0" rtlCol="0" anchor="t"/>
          <a:lstStyle/>
          <a:p>
            <a:pPr>
              <a:lnSpc>
                <a:spcPts val="2850"/>
              </a:lnSpc>
            </a:pPr>
            <a:r>
              <a:rPr lang="en-US" sz="1750">
                <a:solidFill>
                  <a:srgbClr val="4A4A45"/>
                </a:solidFill>
                <a:latin typeface="Lato"/>
                <a:ea typeface="Lato"/>
                <a:cs typeface="Lato"/>
              </a:rPr>
              <a:t>Builds a knowledge graph to visually map the relationships between faculty and domain of papers .</a:t>
            </a:r>
            <a:endParaRPr lang="en-US" sz="1750">
              <a:latin typeface="Lato"/>
              <a:ea typeface="Lato"/>
              <a:cs typeface="Lato"/>
            </a:endParaRPr>
          </a:p>
        </p:txBody>
      </p:sp>
      <p:sp>
        <p:nvSpPr>
          <p:cNvPr id="10" name="Shape 8"/>
          <p:cNvSpPr/>
          <p:nvPr/>
        </p:nvSpPr>
        <p:spPr>
          <a:xfrm>
            <a:off x="9640133" y="3988594"/>
            <a:ext cx="4196358" cy="2032754"/>
          </a:xfrm>
          <a:prstGeom prst="roundRect">
            <a:avLst>
              <a:gd name="adj" fmla="val 26781"/>
            </a:avLst>
          </a:prstGeom>
          <a:solidFill>
            <a:srgbClr val="E5DFD2"/>
          </a:solidFill>
          <a:ln/>
        </p:spPr>
      </p:sp>
      <p:sp>
        <p:nvSpPr>
          <p:cNvPr id="11" name="Text 9"/>
          <p:cNvSpPr/>
          <p:nvPr/>
        </p:nvSpPr>
        <p:spPr>
          <a:xfrm>
            <a:off x="9866948" y="4215408"/>
            <a:ext cx="2991445" cy="354330"/>
          </a:xfrm>
          <a:prstGeom prst="rect">
            <a:avLst/>
          </a:prstGeom>
          <a:noFill/>
          <a:ln/>
        </p:spPr>
        <p:txBody>
          <a:bodyPr wrap="none" lIns="0" tIns="0" rIns="0" bIns="0" rtlCol="0" anchor="t"/>
          <a:lstStyle/>
          <a:p>
            <a:pPr>
              <a:lnSpc>
                <a:spcPts val="2750"/>
              </a:lnSpc>
            </a:pPr>
            <a:r>
              <a:rPr lang="en-US" sz="2200" b="1">
                <a:solidFill>
                  <a:srgbClr val="4A4A45"/>
                </a:solidFill>
                <a:latin typeface="Lato Bold"/>
                <a:ea typeface="Lato Bold"/>
                <a:cs typeface="Lato Bold"/>
              </a:rPr>
              <a:t>Beyond IISc faculty </a:t>
            </a:r>
          </a:p>
        </p:txBody>
      </p:sp>
      <p:sp>
        <p:nvSpPr>
          <p:cNvPr id="12" name="Text 10"/>
          <p:cNvSpPr/>
          <p:nvPr/>
        </p:nvSpPr>
        <p:spPr>
          <a:xfrm>
            <a:off x="9866948" y="4705826"/>
            <a:ext cx="3742730" cy="1088708"/>
          </a:xfrm>
          <a:prstGeom prst="rect">
            <a:avLst/>
          </a:prstGeom>
          <a:noFill/>
          <a:ln/>
        </p:spPr>
        <p:txBody>
          <a:bodyPr wrap="square" lIns="0" tIns="0" rIns="0" bIns="0" rtlCol="0" anchor="t"/>
          <a:lstStyle/>
          <a:p>
            <a:pPr>
              <a:lnSpc>
                <a:spcPts val="2850"/>
              </a:lnSpc>
            </a:pPr>
            <a:r>
              <a:rPr lang="en-US" sz="1750">
                <a:solidFill>
                  <a:srgbClr val="4A4A45"/>
                </a:solidFill>
                <a:latin typeface="Lato"/>
                <a:ea typeface="Lato"/>
                <a:cs typeface="Lato"/>
              </a:rPr>
              <a:t>Expand </a:t>
            </a:r>
            <a:r>
              <a:rPr lang="en-US" sz="1750" err="1">
                <a:solidFill>
                  <a:srgbClr val="4A4A45"/>
                </a:solidFill>
                <a:latin typeface="Lato"/>
                <a:ea typeface="Lato"/>
                <a:cs typeface="Lato"/>
              </a:rPr>
              <a:t>ScholarSphere</a:t>
            </a:r>
            <a:r>
              <a:rPr lang="en-US" sz="1750">
                <a:solidFill>
                  <a:srgbClr val="4A4A45"/>
                </a:solidFill>
                <a:latin typeface="Lato"/>
                <a:ea typeface="Lato"/>
                <a:cs typeface="Lato"/>
              </a:rPr>
              <a:t> to include faculty from other institutes.</a:t>
            </a:r>
          </a:p>
        </p:txBody>
      </p:sp>
      <p:sp>
        <p:nvSpPr>
          <p:cNvPr id="14" name="Rectangle 13">
            <a:extLst>
              <a:ext uri="{FF2B5EF4-FFF2-40B4-BE49-F238E27FC236}">
                <a16:creationId xmlns:a16="http://schemas.microsoft.com/office/drawing/2014/main" id="{5C207156-0139-6E41-9AD9-AAA2BDAC7DFA}"/>
              </a:ext>
            </a:extLst>
          </p:cNvPr>
          <p:cNvSpPr/>
          <p:nvPr/>
        </p:nvSpPr>
        <p:spPr>
          <a:xfrm>
            <a:off x="11251477" y="7145944"/>
            <a:ext cx="3462689" cy="108586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983709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diagram of a project timeline&#10;&#10;AI-generated content may be incorrect.">
            <a:extLst>
              <a:ext uri="{FF2B5EF4-FFF2-40B4-BE49-F238E27FC236}">
                <a16:creationId xmlns:a16="http://schemas.microsoft.com/office/drawing/2014/main" id="{428624B7-C883-1B10-F808-DF7F1B8ECD65}"/>
              </a:ext>
            </a:extLst>
          </p:cNvPr>
          <p:cNvPicPr>
            <a:picLocks noChangeAspect="1"/>
          </p:cNvPicPr>
          <p:nvPr/>
        </p:nvPicPr>
        <p:blipFill>
          <a:blip r:embed="rId2"/>
          <a:stretch>
            <a:fillRect/>
          </a:stretch>
        </p:blipFill>
        <p:spPr>
          <a:xfrm>
            <a:off x="947235" y="1087701"/>
            <a:ext cx="13171617" cy="5693820"/>
          </a:xfrm>
          <a:prstGeom prst="rect">
            <a:avLst/>
          </a:prstGeom>
        </p:spPr>
      </p:pic>
      <p:sp>
        <p:nvSpPr>
          <p:cNvPr id="4" name="Rectangle 3">
            <a:extLst>
              <a:ext uri="{FF2B5EF4-FFF2-40B4-BE49-F238E27FC236}">
                <a16:creationId xmlns:a16="http://schemas.microsoft.com/office/drawing/2014/main" id="{65CF30A3-7422-44F3-6BB5-A99688234ADD}"/>
              </a:ext>
            </a:extLst>
          </p:cNvPr>
          <p:cNvSpPr/>
          <p:nvPr/>
        </p:nvSpPr>
        <p:spPr>
          <a:xfrm>
            <a:off x="11251477" y="7145944"/>
            <a:ext cx="3462689" cy="108586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291673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2643307"/>
            <a:ext cx="13042821" cy="2126456"/>
          </a:xfrm>
          <a:prstGeom prst="rect">
            <a:avLst/>
          </a:prstGeom>
          <a:noFill/>
          <a:ln/>
        </p:spPr>
        <p:txBody>
          <a:bodyPr wrap="none" lIns="0" tIns="0" rIns="0" bIns="0" rtlCol="0" anchor="t"/>
          <a:lstStyle/>
          <a:p>
            <a:pPr marL="0" indent="0" algn="ctr">
              <a:lnSpc>
                <a:spcPts val="16700"/>
              </a:lnSpc>
              <a:buNone/>
            </a:pPr>
            <a:r>
              <a:rPr lang="en-US" sz="13350" b="1">
                <a:solidFill>
                  <a:srgbClr val="282824"/>
                </a:solidFill>
                <a:latin typeface="Lato Bold" pitchFamily="34" charset="0"/>
                <a:ea typeface="Lato Bold" pitchFamily="34" charset="-122"/>
                <a:cs typeface="Lato Bold" pitchFamily="34" charset="-120"/>
              </a:rPr>
              <a:t>Thank You!</a:t>
            </a:r>
            <a:endParaRPr lang="en-US" sz="13350"/>
          </a:p>
        </p:txBody>
      </p:sp>
      <p:sp>
        <p:nvSpPr>
          <p:cNvPr id="3" name="Text 1"/>
          <p:cNvSpPr/>
          <p:nvPr/>
        </p:nvSpPr>
        <p:spPr>
          <a:xfrm>
            <a:off x="793790" y="5223391"/>
            <a:ext cx="13042821" cy="362903"/>
          </a:xfrm>
          <a:prstGeom prst="rect">
            <a:avLst/>
          </a:prstGeom>
          <a:noFill/>
          <a:ln/>
        </p:spPr>
        <p:txBody>
          <a:bodyPr wrap="none" lIns="0" tIns="0" rIns="0" bIns="0" rtlCol="0" anchor="t"/>
          <a:lstStyle/>
          <a:p>
            <a:pPr marL="0" indent="0" algn="ctr">
              <a:lnSpc>
                <a:spcPts val="2850"/>
              </a:lnSpc>
              <a:buNone/>
            </a:pPr>
            <a:endParaRPr lang="en-US" sz="1750"/>
          </a:p>
        </p:txBody>
      </p:sp>
      <p:sp>
        <p:nvSpPr>
          <p:cNvPr id="5" name="Rectangle 4">
            <a:extLst>
              <a:ext uri="{FF2B5EF4-FFF2-40B4-BE49-F238E27FC236}">
                <a16:creationId xmlns:a16="http://schemas.microsoft.com/office/drawing/2014/main" id="{857ED1BE-BCBF-D472-7C3F-7A0EC680C2C6}"/>
              </a:ext>
            </a:extLst>
          </p:cNvPr>
          <p:cNvSpPr/>
          <p:nvPr/>
        </p:nvSpPr>
        <p:spPr>
          <a:xfrm>
            <a:off x="11251477" y="7145944"/>
            <a:ext cx="3462689" cy="108586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9963A-AC22-7FF6-F7F2-35E5A5A5325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6151C2F-6B0C-6135-1B24-0C4695BF899D}"/>
              </a:ext>
            </a:extLst>
          </p:cNvPr>
          <p:cNvSpPr/>
          <p:nvPr/>
        </p:nvSpPr>
        <p:spPr>
          <a:xfrm>
            <a:off x="2190347" y="1350004"/>
            <a:ext cx="9996368" cy="708779"/>
          </a:xfrm>
          <a:prstGeom prst="rect">
            <a:avLst/>
          </a:prstGeom>
          <a:noFill/>
          <a:ln/>
        </p:spPr>
        <p:txBody>
          <a:bodyPr wrap="none" lIns="0" tIns="0" rIns="0" bIns="0" rtlCol="0" anchor="t"/>
          <a:lstStyle/>
          <a:p>
            <a:pPr marL="0" indent="0" algn="ctr">
              <a:lnSpc>
                <a:spcPts val="5550"/>
              </a:lnSpc>
              <a:buNone/>
            </a:pPr>
            <a:r>
              <a:rPr lang="en-US" sz="4800" b="1" err="1">
                <a:solidFill>
                  <a:srgbClr val="282824"/>
                </a:solidFill>
                <a:latin typeface="Lato Bold"/>
                <a:ea typeface="Lato Bold"/>
                <a:cs typeface="Lato Bold"/>
              </a:rPr>
              <a:t>ScholarSphere</a:t>
            </a:r>
            <a:endParaRPr lang="en-US" sz="4800" b="1">
              <a:solidFill>
                <a:srgbClr val="282824"/>
              </a:solidFill>
              <a:latin typeface="Lato Bold"/>
              <a:ea typeface="Lato Bold"/>
              <a:cs typeface="Lato Bold"/>
            </a:endParaRPr>
          </a:p>
        </p:txBody>
      </p:sp>
      <p:sp>
        <p:nvSpPr>
          <p:cNvPr id="4" name="Shape 2">
            <a:extLst>
              <a:ext uri="{FF2B5EF4-FFF2-40B4-BE49-F238E27FC236}">
                <a16:creationId xmlns:a16="http://schemas.microsoft.com/office/drawing/2014/main" id="{7AC788A8-4924-5090-98C9-DB16AD793AD7}"/>
              </a:ext>
            </a:extLst>
          </p:cNvPr>
          <p:cNvSpPr/>
          <p:nvPr/>
        </p:nvSpPr>
        <p:spPr>
          <a:xfrm>
            <a:off x="793790" y="3587665"/>
            <a:ext cx="3373398" cy="2032754"/>
          </a:xfrm>
          <a:prstGeom prst="roundRect">
            <a:avLst>
              <a:gd name="adj" fmla="val 26781"/>
            </a:avLst>
          </a:prstGeom>
          <a:solidFill>
            <a:srgbClr val="E5DFD2"/>
          </a:solidFill>
          <a:ln/>
        </p:spPr>
      </p:sp>
      <p:sp>
        <p:nvSpPr>
          <p:cNvPr id="5" name="Text 3">
            <a:extLst>
              <a:ext uri="{FF2B5EF4-FFF2-40B4-BE49-F238E27FC236}">
                <a16:creationId xmlns:a16="http://schemas.microsoft.com/office/drawing/2014/main" id="{CF914624-111B-069E-17BE-F85E3BBDD6A2}"/>
              </a:ext>
            </a:extLst>
          </p:cNvPr>
          <p:cNvSpPr/>
          <p:nvPr/>
        </p:nvSpPr>
        <p:spPr>
          <a:xfrm>
            <a:off x="1245687" y="4349052"/>
            <a:ext cx="2410413" cy="755258"/>
          </a:xfrm>
          <a:prstGeom prst="rect">
            <a:avLst/>
          </a:prstGeom>
          <a:noFill/>
          <a:ln/>
        </p:spPr>
        <p:txBody>
          <a:bodyPr wrap="none" lIns="0" tIns="0" rIns="0" bIns="0" rtlCol="0" anchor="t"/>
          <a:lstStyle/>
          <a:p>
            <a:r>
              <a:rPr lang="en-US" sz="2400" b="1">
                <a:solidFill>
                  <a:srgbClr val="000000"/>
                </a:solidFill>
                <a:ea typeface="+mn-lt"/>
                <a:cs typeface="+mn-lt"/>
              </a:rPr>
              <a:t>Aggregate faculty</a:t>
            </a:r>
          </a:p>
          <a:p>
            <a:r>
              <a:rPr lang="en-US" sz="2400" b="1">
                <a:solidFill>
                  <a:srgbClr val="000000"/>
                </a:solidFill>
                <a:ea typeface="+mn-lt"/>
                <a:cs typeface="+mn-lt"/>
              </a:rPr>
              <a:t> publications </a:t>
            </a:r>
            <a:endParaRPr lang="en-US" sz="2400" b="1">
              <a:ea typeface="Calibri" panose="020F0502020204030204"/>
              <a:cs typeface="Calibri" panose="020F0502020204030204"/>
            </a:endParaRPr>
          </a:p>
        </p:txBody>
      </p:sp>
      <p:sp>
        <p:nvSpPr>
          <p:cNvPr id="7" name="Shape 5">
            <a:extLst>
              <a:ext uri="{FF2B5EF4-FFF2-40B4-BE49-F238E27FC236}">
                <a16:creationId xmlns:a16="http://schemas.microsoft.com/office/drawing/2014/main" id="{9F2F4EB4-A98C-DCC4-B50A-13F1C8F57D44}"/>
              </a:ext>
            </a:extLst>
          </p:cNvPr>
          <p:cNvSpPr/>
          <p:nvPr/>
        </p:nvSpPr>
        <p:spPr>
          <a:xfrm>
            <a:off x="5266199" y="3650970"/>
            <a:ext cx="3507042" cy="1969450"/>
          </a:xfrm>
          <a:prstGeom prst="roundRect">
            <a:avLst>
              <a:gd name="adj" fmla="val 26781"/>
            </a:avLst>
          </a:prstGeom>
          <a:solidFill>
            <a:srgbClr val="E5DFD2"/>
          </a:solidFill>
          <a:ln/>
        </p:spPr>
      </p:sp>
      <p:sp>
        <p:nvSpPr>
          <p:cNvPr id="8" name="Text 6">
            <a:extLst>
              <a:ext uri="{FF2B5EF4-FFF2-40B4-BE49-F238E27FC236}">
                <a16:creationId xmlns:a16="http://schemas.microsoft.com/office/drawing/2014/main" id="{17E38B33-E3B6-19F3-E888-4AED6E80CB94}"/>
              </a:ext>
            </a:extLst>
          </p:cNvPr>
          <p:cNvSpPr/>
          <p:nvPr/>
        </p:nvSpPr>
        <p:spPr>
          <a:xfrm>
            <a:off x="5436743" y="4377187"/>
            <a:ext cx="3466147" cy="424667"/>
          </a:xfrm>
          <a:prstGeom prst="rect">
            <a:avLst/>
          </a:prstGeom>
          <a:noFill/>
          <a:ln/>
        </p:spPr>
        <p:txBody>
          <a:bodyPr wrap="none" lIns="0" tIns="0" rIns="0" bIns="0" rtlCol="0" anchor="t"/>
          <a:lstStyle/>
          <a:p>
            <a:r>
              <a:rPr lang="en-US" sz="2400" b="1">
                <a:solidFill>
                  <a:srgbClr val="000000"/>
                </a:solidFill>
                <a:latin typeface="Calibri"/>
                <a:ea typeface="Calibri"/>
                <a:cs typeface="Calibri"/>
              </a:rPr>
              <a:t>Build co-authorship graph</a:t>
            </a:r>
            <a:endParaRPr lang="en-US" sz="2400" b="1"/>
          </a:p>
          <a:p>
            <a:pPr marL="0" indent="0" algn="l">
              <a:lnSpc>
                <a:spcPts val="2750"/>
              </a:lnSpc>
              <a:buNone/>
            </a:pPr>
            <a:endParaRPr lang="en-US"/>
          </a:p>
        </p:txBody>
      </p:sp>
      <p:sp>
        <p:nvSpPr>
          <p:cNvPr id="10" name="Shape 8">
            <a:extLst>
              <a:ext uri="{FF2B5EF4-FFF2-40B4-BE49-F238E27FC236}">
                <a16:creationId xmlns:a16="http://schemas.microsoft.com/office/drawing/2014/main" id="{5CA2AE56-CD25-E79E-49D3-763DEA216807}"/>
              </a:ext>
            </a:extLst>
          </p:cNvPr>
          <p:cNvSpPr/>
          <p:nvPr/>
        </p:nvSpPr>
        <p:spPr>
          <a:xfrm>
            <a:off x="9879284" y="3594698"/>
            <a:ext cx="3922038" cy="2025721"/>
          </a:xfrm>
          <a:prstGeom prst="roundRect">
            <a:avLst>
              <a:gd name="adj" fmla="val 26781"/>
            </a:avLst>
          </a:prstGeom>
          <a:solidFill>
            <a:srgbClr val="E5DFD2"/>
          </a:solidFill>
          <a:ln/>
        </p:spPr>
      </p:sp>
      <p:sp>
        <p:nvSpPr>
          <p:cNvPr id="11" name="Text 9">
            <a:extLst>
              <a:ext uri="{FF2B5EF4-FFF2-40B4-BE49-F238E27FC236}">
                <a16:creationId xmlns:a16="http://schemas.microsoft.com/office/drawing/2014/main" id="{53362060-84F6-6DFB-6B36-A462BB4B295F}"/>
              </a:ext>
            </a:extLst>
          </p:cNvPr>
          <p:cNvSpPr/>
          <p:nvPr/>
        </p:nvSpPr>
        <p:spPr>
          <a:xfrm>
            <a:off x="9881016" y="4166171"/>
            <a:ext cx="2991445" cy="354330"/>
          </a:xfrm>
          <a:prstGeom prst="rect">
            <a:avLst/>
          </a:prstGeom>
          <a:noFill/>
          <a:ln/>
        </p:spPr>
        <p:txBody>
          <a:bodyPr wrap="none" lIns="0" tIns="0" rIns="0" bIns="0" rtlCol="0" anchor="t"/>
          <a:lstStyle/>
          <a:p>
            <a:pPr marL="0" indent="0" algn="l">
              <a:lnSpc>
                <a:spcPts val="2750"/>
              </a:lnSpc>
              <a:buNone/>
            </a:pPr>
            <a:endParaRPr lang="en-US" sz="2200" b="1">
              <a:solidFill>
                <a:srgbClr val="4A4A45"/>
              </a:solidFill>
              <a:latin typeface="Lato Bold"/>
              <a:ea typeface="Lato Bold"/>
              <a:cs typeface="Lato Bold"/>
            </a:endParaRPr>
          </a:p>
        </p:txBody>
      </p:sp>
      <p:sp>
        <p:nvSpPr>
          <p:cNvPr id="14" name="Rectangle 13">
            <a:extLst>
              <a:ext uri="{FF2B5EF4-FFF2-40B4-BE49-F238E27FC236}">
                <a16:creationId xmlns:a16="http://schemas.microsoft.com/office/drawing/2014/main" id="{6E46D2DB-1312-5BC7-A864-435DC361AE18}"/>
              </a:ext>
            </a:extLst>
          </p:cNvPr>
          <p:cNvSpPr/>
          <p:nvPr/>
        </p:nvSpPr>
        <p:spPr>
          <a:xfrm>
            <a:off x="11251477" y="7145944"/>
            <a:ext cx="3462689" cy="108586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9DD401C2-92BF-02ED-EBAC-89DE5868349D}"/>
              </a:ext>
            </a:extLst>
          </p:cNvPr>
          <p:cNvSpPr txBox="1"/>
          <p:nvPr/>
        </p:nvSpPr>
        <p:spPr>
          <a:xfrm>
            <a:off x="10367889" y="4375053"/>
            <a:ext cx="412183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a:t> </a:t>
            </a:r>
            <a:r>
              <a:rPr lang="en-US" sz="2400" b="1"/>
              <a:t>AI-based summaries.</a:t>
            </a:r>
            <a:r>
              <a:rPr lang="en-US" sz="2400" b="1">
                <a:ea typeface="Calibri"/>
                <a:cs typeface="Calibri"/>
              </a:rPr>
              <a:t>​</a:t>
            </a:r>
            <a:endParaRPr lang="en-US" sz="2400" b="1"/>
          </a:p>
        </p:txBody>
      </p:sp>
      <p:sp>
        <p:nvSpPr>
          <p:cNvPr id="13" name="Arrow: Right 12">
            <a:extLst>
              <a:ext uri="{FF2B5EF4-FFF2-40B4-BE49-F238E27FC236}">
                <a16:creationId xmlns:a16="http://schemas.microsoft.com/office/drawing/2014/main" id="{76427115-8617-9DEF-DD0E-ECE2347FDAE9}"/>
              </a:ext>
            </a:extLst>
          </p:cNvPr>
          <p:cNvSpPr/>
          <p:nvPr/>
        </p:nvSpPr>
        <p:spPr>
          <a:xfrm>
            <a:off x="4262510" y="4522764"/>
            <a:ext cx="844061" cy="2391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row: Right 14">
            <a:extLst>
              <a:ext uri="{FF2B5EF4-FFF2-40B4-BE49-F238E27FC236}">
                <a16:creationId xmlns:a16="http://schemas.microsoft.com/office/drawing/2014/main" id="{54C79229-F94F-1F65-4010-8C0F3FFF3C2F}"/>
              </a:ext>
            </a:extLst>
          </p:cNvPr>
          <p:cNvSpPr/>
          <p:nvPr/>
        </p:nvSpPr>
        <p:spPr>
          <a:xfrm>
            <a:off x="8904848" y="4522763"/>
            <a:ext cx="844061" cy="2391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 3">
            <a:extLst>
              <a:ext uri="{FF2B5EF4-FFF2-40B4-BE49-F238E27FC236}">
                <a16:creationId xmlns:a16="http://schemas.microsoft.com/office/drawing/2014/main" id="{94BA7F3D-1D7F-C395-DAA5-2E15D74D027F}"/>
              </a:ext>
            </a:extLst>
          </p:cNvPr>
          <p:cNvSpPr/>
          <p:nvPr/>
        </p:nvSpPr>
        <p:spPr>
          <a:xfrm>
            <a:off x="498368" y="7002871"/>
            <a:ext cx="13042821" cy="290274"/>
          </a:xfrm>
          <a:prstGeom prst="rect">
            <a:avLst/>
          </a:prstGeom>
          <a:noFill/>
          <a:ln/>
        </p:spPr>
        <p:txBody>
          <a:bodyPr wrap="none" lIns="0" tIns="0" rIns="0" bIns="0" rtlCol="0" anchor="t"/>
          <a:lstStyle/>
          <a:p>
            <a:pPr marL="0" indent="0" algn="ctr">
              <a:lnSpc>
                <a:spcPts val="2250"/>
              </a:lnSpc>
              <a:buNone/>
            </a:pPr>
            <a:r>
              <a:rPr lang="en-US" sz="1600">
                <a:solidFill>
                  <a:srgbClr val="4A4A45"/>
                </a:solidFill>
                <a:latin typeface="Lato"/>
                <a:ea typeface="Lato"/>
                <a:cs typeface="Lato"/>
              </a:rPr>
              <a:t>Members: Annu, Kunal, Paul, Ikshita</a:t>
            </a:r>
            <a:endParaRPr lang="en-US" sz="1600">
              <a:latin typeface="Lato"/>
              <a:ea typeface="Lato"/>
              <a:cs typeface="Lato"/>
            </a:endParaRPr>
          </a:p>
        </p:txBody>
      </p:sp>
    </p:spTree>
    <p:extLst>
      <p:ext uri="{BB962C8B-B14F-4D97-AF65-F5344CB8AC3E}">
        <p14:creationId xmlns:p14="http://schemas.microsoft.com/office/powerpoint/2010/main" val="21081349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98894-8414-B932-BACD-82FD25E8CCE0}"/>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E6DD7CB3-7B95-84A4-E3D5-425DC73BBED1}"/>
              </a:ext>
            </a:extLst>
          </p:cNvPr>
          <p:cNvSpPr/>
          <p:nvPr/>
        </p:nvSpPr>
        <p:spPr>
          <a:xfrm>
            <a:off x="936462" y="1952270"/>
            <a:ext cx="12873431" cy="664398"/>
          </a:xfrm>
          <a:prstGeom prst="roundRect">
            <a:avLst>
              <a:gd name="adj" fmla="val 26781"/>
            </a:avLst>
          </a:prstGeom>
          <a:solidFill>
            <a:srgbClr val="E5DFD2"/>
          </a:solidFill>
          <a:ln/>
        </p:spPr>
      </p:sp>
      <p:sp>
        <p:nvSpPr>
          <p:cNvPr id="5" name="Text 3">
            <a:extLst>
              <a:ext uri="{FF2B5EF4-FFF2-40B4-BE49-F238E27FC236}">
                <a16:creationId xmlns:a16="http://schemas.microsoft.com/office/drawing/2014/main" id="{3F21BE45-8BE0-857F-4052-7E5369FF039F}"/>
              </a:ext>
            </a:extLst>
          </p:cNvPr>
          <p:cNvSpPr/>
          <p:nvPr/>
        </p:nvSpPr>
        <p:spPr>
          <a:xfrm>
            <a:off x="1312434" y="2055867"/>
            <a:ext cx="7311106" cy="224628"/>
          </a:xfrm>
          <a:prstGeom prst="rect">
            <a:avLst/>
          </a:prstGeom>
          <a:noFill/>
          <a:ln/>
        </p:spPr>
        <p:txBody>
          <a:bodyPr wrap="none" lIns="0" tIns="0" rIns="0" bIns="0" rtlCol="0" anchor="t"/>
          <a:lstStyle/>
          <a:p>
            <a:pPr>
              <a:lnSpc>
                <a:spcPts val="2750"/>
              </a:lnSpc>
            </a:pPr>
            <a:r>
              <a:rPr lang="en-US" sz="2000" b="1">
                <a:solidFill>
                  <a:srgbClr val="4A4A45"/>
                </a:solidFill>
                <a:ea typeface="+mn-lt"/>
                <a:cs typeface="+mn-lt"/>
              </a:rPr>
              <a:t>Data Scraping: Scrape metadata from open research sources </a:t>
            </a:r>
            <a:endParaRPr lang="en-US" sz="2000" b="1">
              <a:solidFill>
                <a:srgbClr val="4A4A45"/>
              </a:solidFill>
              <a:ea typeface="Calibri"/>
              <a:cs typeface="Calibri"/>
            </a:endParaRPr>
          </a:p>
        </p:txBody>
      </p:sp>
      <p:sp>
        <p:nvSpPr>
          <p:cNvPr id="14" name="Rectangle 13">
            <a:extLst>
              <a:ext uri="{FF2B5EF4-FFF2-40B4-BE49-F238E27FC236}">
                <a16:creationId xmlns:a16="http://schemas.microsoft.com/office/drawing/2014/main" id="{F72D4441-FA3B-C930-0158-5AB1EFD3765A}"/>
              </a:ext>
            </a:extLst>
          </p:cNvPr>
          <p:cNvSpPr/>
          <p:nvPr/>
        </p:nvSpPr>
        <p:spPr>
          <a:xfrm>
            <a:off x="11251477" y="7145944"/>
            <a:ext cx="3462689" cy="108586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 0">
            <a:extLst>
              <a:ext uri="{FF2B5EF4-FFF2-40B4-BE49-F238E27FC236}">
                <a16:creationId xmlns:a16="http://schemas.microsoft.com/office/drawing/2014/main" id="{FCE6063A-BF80-8361-9743-6843C2C72448}"/>
              </a:ext>
            </a:extLst>
          </p:cNvPr>
          <p:cNvSpPr/>
          <p:nvPr/>
        </p:nvSpPr>
        <p:spPr>
          <a:xfrm>
            <a:off x="1882454" y="917596"/>
            <a:ext cx="9996368" cy="708779"/>
          </a:xfrm>
          <a:prstGeom prst="rect">
            <a:avLst/>
          </a:prstGeom>
          <a:noFill/>
          <a:ln/>
        </p:spPr>
        <p:txBody>
          <a:bodyPr wrap="none" lIns="0" tIns="0" rIns="0" bIns="0" rtlCol="0" anchor="t"/>
          <a:lstStyle/>
          <a:p>
            <a:pPr algn="ctr">
              <a:lnSpc>
                <a:spcPts val="5550"/>
              </a:lnSpc>
            </a:pPr>
            <a:r>
              <a:rPr lang="en-US" sz="4450" b="1">
                <a:solidFill>
                  <a:srgbClr val="282824"/>
                </a:solidFill>
                <a:latin typeface="Lato Bold"/>
                <a:ea typeface="Lato Bold"/>
                <a:cs typeface="Lato Bold"/>
              </a:rPr>
              <a:t>Project Requirement</a:t>
            </a:r>
          </a:p>
        </p:txBody>
      </p:sp>
      <p:sp>
        <p:nvSpPr>
          <p:cNvPr id="20" name="Shape 2">
            <a:extLst>
              <a:ext uri="{FF2B5EF4-FFF2-40B4-BE49-F238E27FC236}">
                <a16:creationId xmlns:a16="http://schemas.microsoft.com/office/drawing/2014/main" id="{E3FAF5B6-4C27-DE27-2010-E683FAB528B3}"/>
              </a:ext>
            </a:extLst>
          </p:cNvPr>
          <p:cNvSpPr/>
          <p:nvPr/>
        </p:nvSpPr>
        <p:spPr>
          <a:xfrm>
            <a:off x="936462" y="2743452"/>
            <a:ext cx="12873431" cy="664398"/>
          </a:xfrm>
          <a:prstGeom prst="roundRect">
            <a:avLst>
              <a:gd name="adj" fmla="val 26781"/>
            </a:avLst>
          </a:prstGeom>
          <a:solidFill>
            <a:srgbClr val="E5DFD2"/>
          </a:solidFill>
          <a:ln/>
        </p:spPr>
      </p:sp>
      <p:sp>
        <p:nvSpPr>
          <p:cNvPr id="21" name="Text 3">
            <a:extLst>
              <a:ext uri="{FF2B5EF4-FFF2-40B4-BE49-F238E27FC236}">
                <a16:creationId xmlns:a16="http://schemas.microsoft.com/office/drawing/2014/main" id="{CB5FC1EF-684F-E962-AA9E-99D0A541204B}"/>
              </a:ext>
            </a:extLst>
          </p:cNvPr>
          <p:cNvSpPr/>
          <p:nvPr/>
        </p:nvSpPr>
        <p:spPr>
          <a:xfrm>
            <a:off x="1312434" y="2937841"/>
            <a:ext cx="9574407" cy="270024"/>
          </a:xfrm>
          <a:prstGeom prst="rect">
            <a:avLst/>
          </a:prstGeom>
          <a:noFill/>
          <a:ln/>
        </p:spPr>
        <p:txBody>
          <a:bodyPr wrap="none" lIns="0" tIns="0" rIns="0" bIns="0" rtlCol="0" anchor="t"/>
          <a:lstStyle/>
          <a:p>
            <a:r>
              <a:rPr lang="en-US" sz="2000" b="1">
                <a:solidFill>
                  <a:srgbClr val="4A4A45"/>
                </a:solidFill>
                <a:latin typeface="Calibri"/>
                <a:ea typeface="+mn-lt"/>
                <a:cs typeface="+mn-lt"/>
              </a:rPr>
              <a:t>Graph Construction: </a:t>
            </a:r>
            <a:r>
              <a:rPr lang="en-US" sz="2000" b="1">
                <a:solidFill>
                  <a:schemeClr val="tx1">
                    <a:lumMod val="76000"/>
                    <a:lumOff val="24000"/>
                  </a:schemeClr>
                </a:solidFill>
                <a:latin typeface="Calibri"/>
                <a:ea typeface="+mn-lt"/>
                <a:cs typeface="+mn-lt"/>
              </a:rPr>
              <a:t>Store and manage relationships (Author–Paper–Coauthor) in Neo4j</a:t>
            </a:r>
            <a:r>
              <a:rPr lang="en-US" sz="2000">
                <a:solidFill>
                  <a:schemeClr val="tx1">
                    <a:lumMod val="76000"/>
                    <a:lumOff val="24000"/>
                  </a:schemeClr>
                </a:solidFill>
                <a:ea typeface="+mn-lt"/>
                <a:cs typeface="+mn-lt"/>
              </a:rPr>
              <a:t>.</a:t>
            </a:r>
            <a:endParaRPr lang="en-US" sz="2000" b="1">
              <a:solidFill>
                <a:schemeClr val="tx1">
                  <a:lumMod val="76000"/>
                  <a:lumOff val="24000"/>
                </a:schemeClr>
              </a:solidFill>
              <a:ea typeface="+mn-lt"/>
              <a:cs typeface="+mn-lt"/>
            </a:endParaRPr>
          </a:p>
          <a:p>
            <a:pPr>
              <a:lnSpc>
                <a:spcPts val="2750"/>
              </a:lnSpc>
            </a:pPr>
            <a:endParaRPr lang="en-US" sz="2000" b="1">
              <a:solidFill>
                <a:schemeClr val="tx1">
                  <a:lumMod val="65000"/>
                  <a:lumOff val="35000"/>
                </a:schemeClr>
              </a:solidFill>
              <a:ea typeface="Calibri"/>
              <a:cs typeface="Calibri"/>
            </a:endParaRPr>
          </a:p>
        </p:txBody>
      </p:sp>
      <p:sp>
        <p:nvSpPr>
          <p:cNvPr id="22" name="Shape 2">
            <a:extLst>
              <a:ext uri="{FF2B5EF4-FFF2-40B4-BE49-F238E27FC236}">
                <a16:creationId xmlns:a16="http://schemas.microsoft.com/office/drawing/2014/main" id="{8DFE8DC2-54F4-64FF-A76D-6A97CC3C771E}"/>
              </a:ext>
            </a:extLst>
          </p:cNvPr>
          <p:cNvSpPr/>
          <p:nvPr/>
        </p:nvSpPr>
        <p:spPr>
          <a:xfrm>
            <a:off x="936462" y="3554090"/>
            <a:ext cx="12873431" cy="664398"/>
          </a:xfrm>
          <a:prstGeom prst="roundRect">
            <a:avLst>
              <a:gd name="adj" fmla="val 26781"/>
            </a:avLst>
          </a:prstGeom>
          <a:solidFill>
            <a:srgbClr val="E5DFD2"/>
          </a:solidFill>
          <a:ln/>
        </p:spPr>
      </p:sp>
      <p:sp>
        <p:nvSpPr>
          <p:cNvPr id="23" name="Shape 2">
            <a:extLst>
              <a:ext uri="{FF2B5EF4-FFF2-40B4-BE49-F238E27FC236}">
                <a16:creationId xmlns:a16="http://schemas.microsoft.com/office/drawing/2014/main" id="{84FBA6C8-4461-3F54-8116-E69BCCC94070}"/>
              </a:ext>
            </a:extLst>
          </p:cNvPr>
          <p:cNvSpPr/>
          <p:nvPr/>
        </p:nvSpPr>
        <p:spPr>
          <a:xfrm>
            <a:off x="936461" y="4325818"/>
            <a:ext cx="12873431" cy="664398"/>
          </a:xfrm>
          <a:prstGeom prst="roundRect">
            <a:avLst>
              <a:gd name="adj" fmla="val 26781"/>
            </a:avLst>
          </a:prstGeom>
          <a:solidFill>
            <a:srgbClr val="E5DFD2"/>
          </a:solidFill>
          <a:ln/>
        </p:spPr>
      </p:sp>
      <p:sp>
        <p:nvSpPr>
          <p:cNvPr id="24" name="Text 3">
            <a:extLst>
              <a:ext uri="{FF2B5EF4-FFF2-40B4-BE49-F238E27FC236}">
                <a16:creationId xmlns:a16="http://schemas.microsoft.com/office/drawing/2014/main" id="{FBBD844D-97CE-6EFA-8B52-329785C8812D}"/>
              </a:ext>
            </a:extLst>
          </p:cNvPr>
          <p:cNvSpPr/>
          <p:nvPr/>
        </p:nvSpPr>
        <p:spPr>
          <a:xfrm>
            <a:off x="1312434" y="3553926"/>
            <a:ext cx="7311106" cy="224628"/>
          </a:xfrm>
          <a:prstGeom prst="rect">
            <a:avLst/>
          </a:prstGeom>
          <a:noFill/>
          <a:ln/>
        </p:spPr>
        <p:txBody>
          <a:bodyPr wrap="none" lIns="0" tIns="0" rIns="0" bIns="0" rtlCol="0" anchor="t"/>
          <a:lstStyle/>
          <a:p>
            <a:pPr>
              <a:lnSpc>
                <a:spcPts val="2750"/>
              </a:lnSpc>
            </a:pPr>
            <a:r>
              <a:rPr lang="en-US" sz="2000" b="1">
                <a:solidFill>
                  <a:srgbClr val="4A4A45"/>
                </a:solidFill>
                <a:ea typeface="+mn-lt"/>
                <a:cs typeface="+mn-lt"/>
              </a:rPr>
              <a:t> </a:t>
            </a:r>
            <a:endParaRPr lang="en-US" sz="2000" b="1">
              <a:solidFill>
                <a:srgbClr val="4A4A45"/>
              </a:solidFill>
              <a:ea typeface="Calibri"/>
              <a:cs typeface="Calibri"/>
            </a:endParaRPr>
          </a:p>
        </p:txBody>
      </p:sp>
      <p:sp>
        <p:nvSpPr>
          <p:cNvPr id="28" name="Text 3">
            <a:extLst>
              <a:ext uri="{FF2B5EF4-FFF2-40B4-BE49-F238E27FC236}">
                <a16:creationId xmlns:a16="http://schemas.microsoft.com/office/drawing/2014/main" id="{50D2119E-31FE-B1E6-54CE-AD498E438AEE}"/>
              </a:ext>
            </a:extLst>
          </p:cNvPr>
          <p:cNvSpPr/>
          <p:nvPr/>
        </p:nvSpPr>
        <p:spPr>
          <a:xfrm>
            <a:off x="1312433" y="4442386"/>
            <a:ext cx="9353914" cy="211658"/>
          </a:xfrm>
          <a:prstGeom prst="rect">
            <a:avLst/>
          </a:prstGeom>
          <a:noFill/>
          <a:ln/>
        </p:spPr>
        <p:txBody>
          <a:bodyPr wrap="none" lIns="0" tIns="0" rIns="0" bIns="0" rtlCol="0" anchor="t"/>
          <a:lstStyle/>
          <a:p>
            <a:pPr>
              <a:lnSpc>
                <a:spcPts val="2750"/>
              </a:lnSpc>
            </a:pPr>
            <a:r>
              <a:rPr lang="en-US" sz="2000" b="1">
                <a:solidFill>
                  <a:srgbClr val="4A4A45"/>
                </a:solidFill>
                <a:ea typeface="+mn-lt"/>
                <a:cs typeface="+mn-lt"/>
              </a:rPr>
              <a:t>Visualization: Interactive graph explorer (Cytoscape.js) with filters</a:t>
            </a:r>
            <a:r>
              <a:rPr lang="en-US" sz="2000">
                <a:solidFill>
                  <a:srgbClr val="4A4A45"/>
                </a:solidFill>
                <a:ea typeface="+mn-lt"/>
                <a:cs typeface="+mn-lt"/>
              </a:rPr>
              <a:t> .</a:t>
            </a:r>
            <a:r>
              <a:rPr lang="en-US" sz="2000" b="1">
                <a:solidFill>
                  <a:srgbClr val="4A4A45"/>
                </a:solidFill>
                <a:ea typeface="+mn-lt"/>
                <a:cs typeface="+mn-lt"/>
              </a:rPr>
              <a:t> </a:t>
            </a:r>
            <a:endParaRPr lang="en-US" sz="2000" b="1">
              <a:solidFill>
                <a:srgbClr val="4A4A45"/>
              </a:solidFill>
              <a:ea typeface="Calibri"/>
              <a:cs typeface="Calibri"/>
            </a:endParaRPr>
          </a:p>
        </p:txBody>
      </p:sp>
      <p:sp>
        <p:nvSpPr>
          <p:cNvPr id="29" name="Shape 2">
            <a:extLst>
              <a:ext uri="{FF2B5EF4-FFF2-40B4-BE49-F238E27FC236}">
                <a16:creationId xmlns:a16="http://schemas.microsoft.com/office/drawing/2014/main" id="{F82A6ECD-D5F9-2BDD-CF7E-9D7176F362AD}"/>
              </a:ext>
            </a:extLst>
          </p:cNvPr>
          <p:cNvSpPr/>
          <p:nvPr/>
        </p:nvSpPr>
        <p:spPr>
          <a:xfrm>
            <a:off x="936461" y="5175366"/>
            <a:ext cx="12873431" cy="664398"/>
          </a:xfrm>
          <a:prstGeom prst="roundRect">
            <a:avLst>
              <a:gd name="adj" fmla="val 26781"/>
            </a:avLst>
          </a:prstGeom>
          <a:solidFill>
            <a:srgbClr val="E5DFD2"/>
          </a:solidFill>
          <a:ln/>
        </p:spPr>
      </p:sp>
      <p:sp>
        <p:nvSpPr>
          <p:cNvPr id="30" name="Text 3">
            <a:extLst>
              <a:ext uri="{FF2B5EF4-FFF2-40B4-BE49-F238E27FC236}">
                <a16:creationId xmlns:a16="http://schemas.microsoft.com/office/drawing/2014/main" id="{EF703E15-0AB9-78B8-7D99-BEDB5C811398}"/>
              </a:ext>
            </a:extLst>
          </p:cNvPr>
          <p:cNvSpPr/>
          <p:nvPr/>
        </p:nvSpPr>
        <p:spPr>
          <a:xfrm>
            <a:off x="1312433" y="5278964"/>
            <a:ext cx="7311106" cy="224628"/>
          </a:xfrm>
          <a:prstGeom prst="rect">
            <a:avLst/>
          </a:prstGeom>
          <a:noFill/>
          <a:ln/>
        </p:spPr>
        <p:txBody>
          <a:bodyPr wrap="none" lIns="0" tIns="0" rIns="0" bIns="0" rtlCol="0" anchor="t"/>
          <a:lstStyle/>
          <a:p>
            <a:pPr>
              <a:lnSpc>
                <a:spcPts val="2750"/>
              </a:lnSpc>
            </a:pPr>
            <a:r>
              <a:rPr lang="en-US" sz="2000" b="1">
                <a:solidFill>
                  <a:srgbClr val="4A4A45"/>
                </a:solidFill>
                <a:ea typeface="Calibri"/>
                <a:cs typeface="Calibri"/>
              </a:rPr>
              <a:t>Paper Summarization: LLM based summary of paper.</a:t>
            </a:r>
          </a:p>
        </p:txBody>
      </p:sp>
      <p:sp>
        <p:nvSpPr>
          <p:cNvPr id="31" name="Shape 2">
            <a:extLst>
              <a:ext uri="{FF2B5EF4-FFF2-40B4-BE49-F238E27FC236}">
                <a16:creationId xmlns:a16="http://schemas.microsoft.com/office/drawing/2014/main" id="{6BDF9243-3353-949C-A4FE-718CB77734FF}"/>
              </a:ext>
            </a:extLst>
          </p:cNvPr>
          <p:cNvSpPr/>
          <p:nvPr/>
        </p:nvSpPr>
        <p:spPr>
          <a:xfrm>
            <a:off x="936462" y="6096252"/>
            <a:ext cx="12873431" cy="664398"/>
          </a:xfrm>
          <a:prstGeom prst="roundRect">
            <a:avLst>
              <a:gd name="adj" fmla="val 26781"/>
            </a:avLst>
          </a:prstGeom>
          <a:solidFill>
            <a:srgbClr val="E5DFD2"/>
          </a:solidFill>
          <a:ln/>
        </p:spPr>
      </p:sp>
      <p:sp>
        <p:nvSpPr>
          <p:cNvPr id="32" name="Text 3">
            <a:extLst>
              <a:ext uri="{FF2B5EF4-FFF2-40B4-BE49-F238E27FC236}">
                <a16:creationId xmlns:a16="http://schemas.microsoft.com/office/drawing/2014/main" id="{DAC5B788-D779-E737-CB2D-089385E3EE5F}"/>
              </a:ext>
            </a:extLst>
          </p:cNvPr>
          <p:cNvSpPr/>
          <p:nvPr/>
        </p:nvSpPr>
        <p:spPr>
          <a:xfrm>
            <a:off x="1299463" y="3665918"/>
            <a:ext cx="7311106" cy="224628"/>
          </a:xfrm>
          <a:prstGeom prst="rect">
            <a:avLst/>
          </a:prstGeom>
          <a:noFill/>
          <a:ln/>
        </p:spPr>
        <p:txBody>
          <a:bodyPr wrap="none" lIns="0" tIns="0" rIns="0" bIns="0" rtlCol="0" anchor="t"/>
          <a:lstStyle/>
          <a:p>
            <a:pPr>
              <a:lnSpc>
                <a:spcPts val="2750"/>
              </a:lnSpc>
            </a:pPr>
            <a:r>
              <a:rPr lang="en-US" sz="2000" b="1">
                <a:solidFill>
                  <a:srgbClr val="4A4A45"/>
                </a:solidFill>
                <a:ea typeface="Calibri"/>
                <a:cs typeface="Calibri"/>
              </a:rPr>
              <a:t>Frontend: Search Professor by name.</a:t>
            </a:r>
          </a:p>
        </p:txBody>
      </p:sp>
      <p:sp>
        <p:nvSpPr>
          <p:cNvPr id="33" name="Text 3">
            <a:extLst>
              <a:ext uri="{FF2B5EF4-FFF2-40B4-BE49-F238E27FC236}">
                <a16:creationId xmlns:a16="http://schemas.microsoft.com/office/drawing/2014/main" id="{B106BE68-06B7-93E0-D0BE-12FC05664292}"/>
              </a:ext>
            </a:extLst>
          </p:cNvPr>
          <p:cNvSpPr/>
          <p:nvPr/>
        </p:nvSpPr>
        <p:spPr>
          <a:xfrm>
            <a:off x="1312432" y="6199848"/>
            <a:ext cx="7311106" cy="224628"/>
          </a:xfrm>
          <a:prstGeom prst="rect">
            <a:avLst/>
          </a:prstGeom>
          <a:noFill/>
          <a:ln/>
        </p:spPr>
        <p:txBody>
          <a:bodyPr wrap="none" lIns="0" tIns="0" rIns="0" bIns="0" rtlCol="0" anchor="t"/>
          <a:lstStyle/>
          <a:p>
            <a:pPr>
              <a:lnSpc>
                <a:spcPts val="2750"/>
              </a:lnSpc>
            </a:pPr>
            <a:r>
              <a:rPr lang="en-US" sz="2000" b="1">
                <a:solidFill>
                  <a:srgbClr val="4A4A45"/>
                </a:solidFill>
                <a:ea typeface="Calibri"/>
                <a:cs typeface="Calibri"/>
              </a:rPr>
              <a:t>Faculty Summarization: LLM based summary of faculty profile.</a:t>
            </a:r>
            <a:endParaRPr lang="en-US"/>
          </a:p>
        </p:txBody>
      </p:sp>
      <p:sp>
        <p:nvSpPr>
          <p:cNvPr id="2" name="Shape 2">
            <a:extLst>
              <a:ext uri="{FF2B5EF4-FFF2-40B4-BE49-F238E27FC236}">
                <a16:creationId xmlns:a16="http://schemas.microsoft.com/office/drawing/2014/main" id="{86162D15-ABCD-39B0-2EB6-64E999CF7CC4}"/>
              </a:ext>
            </a:extLst>
          </p:cNvPr>
          <p:cNvSpPr/>
          <p:nvPr/>
        </p:nvSpPr>
        <p:spPr>
          <a:xfrm>
            <a:off x="936462" y="6919861"/>
            <a:ext cx="12873431" cy="664398"/>
          </a:xfrm>
          <a:prstGeom prst="roundRect">
            <a:avLst>
              <a:gd name="adj" fmla="val 26781"/>
            </a:avLst>
          </a:prstGeom>
          <a:solidFill>
            <a:srgbClr val="E5DFD2"/>
          </a:solidFill>
          <a:ln/>
        </p:spPr>
      </p:sp>
      <p:sp>
        <p:nvSpPr>
          <p:cNvPr id="3" name="Text 3">
            <a:extLst>
              <a:ext uri="{FF2B5EF4-FFF2-40B4-BE49-F238E27FC236}">
                <a16:creationId xmlns:a16="http://schemas.microsoft.com/office/drawing/2014/main" id="{270E7A62-0AF6-A9A4-594B-B121512FDEB2}"/>
              </a:ext>
            </a:extLst>
          </p:cNvPr>
          <p:cNvSpPr/>
          <p:nvPr/>
        </p:nvSpPr>
        <p:spPr>
          <a:xfrm>
            <a:off x="1299462" y="7023457"/>
            <a:ext cx="7311106" cy="224628"/>
          </a:xfrm>
          <a:prstGeom prst="rect">
            <a:avLst/>
          </a:prstGeom>
          <a:noFill/>
          <a:ln/>
        </p:spPr>
        <p:txBody>
          <a:bodyPr wrap="none" lIns="0" tIns="0" rIns="0" bIns="0" rtlCol="0" anchor="t"/>
          <a:lstStyle/>
          <a:p>
            <a:pPr>
              <a:lnSpc>
                <a:spcPts val="2750"/>
              </a:lnSpc>
            </a:pPr>
            <a:r>
              <a:rPr lang="en-US" sz="2000" b="1">
                <a:solidFill>
                  <a:srgbClr val="4A4A45"/>
                </a:solidFill>
                <a:ea typeface="Calibri"/>
                <a:cs typeface="Calibri"/>
              </a:rPr>
              <a:t>Create Docker container for microservices.</a:t>
            </a:r>
          </a:p>
        </p:txBody>
      </p:sp>
    </p:spTree>
    <p:extLst>
      <p:ext uri="{BB962C8B-B14F-4D97-AF65-F5344CB8AC3E}">
        <p14:creationId xmlns:p14="http://schemas.microsoft.com/office/powerpoint/2010/main" val="8186625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B8D59-F054-A9A4-454D-DE867659BF0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B2E8FC3-9A25-9BDE-CF1A-9F93E222AEDF}"/>
              </a:ext>
            </a:extLst>
          </p:cNvPr>
          <p:cNvSpPr/>
          <p:nvPr/>
        </p:nvSpPr>
        <p:spPr>
          <a:xfrm>
            <a:off x="2148343" y="1053784"/>
            <a:ext cx="9996368" cy="708779"/>
          </a:xfrm>
          <a:prstGeom prst="rect">
            <a:avLst/>
          </a:prstGeom>
          <a:noFill/>
          <a:ln/>
        </p:spPr>
        <p:txBody>
          <a:bodyPr wrap="none" lIns="0" tIns="0" rIns="0" bIns="0" rtlCol="0" anchor="t"/>
          <a:lstStyle/>
          <a:p>
            <a:pPr algn="ctr">
              <a:lnSpc>
                <a:spcPts val="5550"/>
              </a:lnSpc>
            </a:pPr>
            <a:r>
              <a:rPr lang="en-US" sz="4450" b="1">
                <a:solidFill>
                  <a:srgbClr val="282824"/>
                </a:solidFill>
                <a:latin typeface="Lato Bold"/>
                <a:ea typeface="Lato Bold"/>
                <a:cs typeface="Lato Bold"/>
              </a:rPr>
              <a:t>Minor Changes</a:t>
            </a:r>
          </a:p>
        </p:txBody>
      </p:sp>
      <p:sp>
        <p:nvSpPr>
          <p:cNvPr id="4" name="Shape 2">
            <a:extLst>
              <a:ext uri="{FF2B5EF4-FFF2-40B4-BE49-F238E27FC236}">
                <a16:creationId xmlns:a16="http://schemas.microsoft.com/office/drawing/2014/main" id="{C8D294CF-2C09-C046-21BA-5A2D19396E2A}"/>
              </a:ext>
            </a:extLst>
          </p:cNvPr>
          <p:cNvSpPr/>
          <p:nvPr/>
        </p:nvSpPr>
        <p:spPr>
          <a:xfrm>
            <a:off x="793790" y="3988594"/>
            <a:ext cx="4196358" cy="2032754"/>
          </a:xfrm>
          <a:prstGeom prst="roundRect">
            <a:avLst>
              <a:gd name="adj" fmla="val 26781"/>
            </a:avLst>
          </a:prstGeom>
          <a:solidFill>
            <a:srgbClr val="E5DFD2"/>
          </a:solidFill>
          <a:ln/>
        </p:spPr>
      </p:sp>
      <p:sp>
        <p:nvSpPr>
          <p:cNvPr id="5" name="Text 3">
            <a:extLst>
              <a:ext uri="{FF2B5EF4-FFF2-40B4-BE49-F238E27FC236}">
                <a16:creationId xmlns:a16="http://schemas.microsoft.com/office/drawing/2014/main" id="{261A48C6-2CF1-9FF8-CA44-A5181E223740}"/>
              </a:ext>
            </a:extLst>
          </p:cNvPr>
          <p:cNvSpPr/>
          <p:nvPr/>
        </p:nvSpPr>
        <p:spPr>
          <a:xfrm>
            <a:off x="1020604" y="4215408"/>
            <a:ext cx="2966085" cy="354330"/>
          </a:xfrm>
          <a:prstGeom prst="rect">
            <a:avLst/>
          </a:prstGeom>
          <a:noFill/>
          <a:ln/>
        </p:spPr>
        <p:txBody>
          <a:bodyPr wrap="none" lIns="0" tIns="0" rIns="0" bIns="0" rtlCol="0" anchor="t"/>
          <a:lstStyle/>
          <a:p>
            <a:pPr>
              <a:lnSpc>
                <a:spcPts val="2750"/>
              </a:lnSpc>
            </a:pPr>
            <a:r>
              <a:rPr lang="en-US" sz="2200" b="1">
                <a:solidFill>
                  <a:srgbClr val="4A4A45"/>
                </a:solidFill>
                <a:latin typeface="Lato Bold"/>
                <a:ea typeface="Lato Bold"/>
                <a:cs typeface="Lato Bold"/>
              </a:rPr>
              <a:t>Data Ingestion</a:t>
            </a:r>
            <a:endParaRPr lang="en-US" sz="2200"/>
          </a:p>
        </p:txBody>
      </p:sp>
      <p:sp>
        <p:nvSpPr>
          <p:cNvPr id="6" name="Text 4">
            <a:extLst>
              <a:ext uri="{FF2B5EF4-FFF2-40B4-BE49-F238E27FC236}">
                <a16:creationId xmlns:a16="http://schemas.microsoft.com/office/drawing/2014/main" id="{A1A5FD1F-4B6E-BF2F-6B0D-DC2E546D4451}"/>
              </a:ext>
            </a:extLst>
          </p:cNvPr>
          <p:cNvSpPr/>
          <p:nvPr/>
        </p:nvSpPr>
        <p:spPr>
          <a:xfrm>
            <a:off x="1020604" y="4705826"/>
            <a:ext cx="3742730" cy="1088708"/>
          </a:xfrm>
          <a:prstGeom prst="rect">
            <a:avLst/>
          </a:prstGeom>
          <a:noFill/>
          <a:ln/>
        </p:spPr>
        <p:txBody>
          <a:bodyPr wrap="square" lIns="0" tIns="0" rIns="0" bIns="0" rtlCol="0" anchor="t"/>
          <a:lstStyle/>
          <a:p>
            <a:r>
              <a:rPr lang="en-US" sz="2000">
                <a:solidFill>
                  <a:srgbClr val="000000"/>
                </a:solidFill>
                <a:ea typeface="+mn-lt"/>
                <a:cs typeface="+mn-lt"/>
              </a:rPr>
              <a:t>Switched to </a:t>
            </a:r>
            <a:r>
              <a:rPr lang="en-US" sz="2000" b="1" err="1">
                <a:solidFill>
                  <a:srgbClr val="000000"/>
                </a:solidFill>
                <a:ea typeface="+mn-lt"/>
                <a:cs typeface="+mn-lt"/>
              </a:rPr>
              <a:t>OpenAlex</a:t>
            </a:r>
            <a:r>
              <a:rPr lang="en-US" sz="2000" b="1">
                <a:solidFill>
                  <a:srgbClr val="000000"/>
                </a:solidFill>
                <a:ea typeface="+mn-lt"/>
                <a:cs typeface="+mn-lt"/>
              </a:rPr>
              <a:t> API, Semantic scholar API</a:t>
            </a:r>
            <a:r>
              <a:rPr lang="en-US" sz="2000">
                <a:solidFill>
                  <a:srgbClr val="000000"/>
                </a:solidFill>
                <a:ea typeface="+mn-lt"/>
                <a:cs typeface="+mn-lt"/>
              </a:rPr>
              <a:t> for bibliographic data(generalization to beyond IISC)  </a:t>
            </a:r>
            <a:endParaRPr lang="en-US" sz="2000">
              <a:ea typeface="Calibri"/>
              <a:cs typeface="Calibri"/>
            </a:endParaRPr>
          </a:p>
          <a:p>
            <a:pPr>
              <a:lnSpc>
                <a:spcPts val="2850"/>
              </a:lnSpc>
            </a:pPr>
            <a:endParaRPr lang="en-US"/>
          </a:p>
        </p:txBody>
      </p:sp>
      <p:sp>
        <p:nvSpPr>
          <p:cNvPr id="7" name="Shape 5">
            <a:extLst>
              <a:ext uri="{FF2B5EF4-FFF2-40B4-BE49-F238E27FC236}">
                <a16:creationId xmlns:a16="http://schemas.microsoft.com/office/drawing/2014/main" id="{C7F55382-A8CE-46F7-7A0F-AC87FEAFDE01}"/>
              </a:ext>
            </a:extLst>
          </p:cNvPr>
          <p:cNvSpPr/>
          <p:nvPr/>
        </p:nvSpPr>
        <p:spPr>
          <a:xfrm>
            <a:off x="5216962" y="3988594"/>
            <a:ext cx="4196358" cy="2032754"/>
          </a:xfrm>
          <a:prstGeom prst="roundRect">
            <a:avLst>
              <a:gd name="adj" fmla="val 26781"/>
            </a:avLst>
          </a:prstGeom>
          <a:solidFill>
            <a:srgbClr val="E5DFD2"/>
          </a:solidFill>
          <a:ln/>
        </p:spPr>
      </p:sp>
      <p:sp>
        <p:nvSpPr>
          <p:cNvPr id="8" name="Text 6">
            <a:extLst>
              <a:ext uri="{FF2B5EF4-FFF2-40B4-BE49-F238E27FC236}">
                <a16:creationId xmlns:a16="http://schemas.microsoft.com/office/drawing/2014/main" id="{6BC58433-BD15-EFBA-2D1D-8CF5175FC66D}"/>
              </a:ext>
            </a:extLst>
          </p:cNvPr>
          <p:cNvSpPr/>
          <p:nvPr/>
        </p:nvSpPr>
        <p:spPr>
          <a:xfrm>
            <a:off x="5443776" y="4215408"/>
            <a:ext cx="3100388" cy="354330"/>
          </a:xfrm>
          <a:prstGeom prst="rect">
            <a:avLst/>
          </a:prstGeom>
          <a:noFill/>
          <a:ln/>
        </p:spPr>
        <p:txBody>
          <a:bodyPr wrap="none" lIns="0" tIns="0" rIns="0" bIns="0" rtlCol="0" anchor="t"/>
          <a:lstStyle/>
          <a:p>
            <a:pPr>
              <a:lnSpc>
                <a:spcPts val="2750"/>
              </a:lnSpc>
            </a:pPr>
            <a:r>
              <a:rPr lang="en-US" sz="2200" b="1">
                <a:solidFill>
                  <a:srgbClr val="4A4A45"/>
                </a:solidFill>
                <a:latin typeface="Lato Bold"/>
                <a:ea typeface="Lato Bold"/>
                <a:cs typeface="Lato Bold"/>
              </a:rPr>
              <a:t>Frontend</a:t>
            </a:r>
          </a:p>
        </p:txBody>
      </p:sp>
      <p:sp>
        <p:nvSpPr>
          <p:cNvPr id="9" name="Text 7">
            <a:extLst>
              <a:ext uri="{FF2B5EF4-FFF2-40B4-BE49-F238E27FC236}">
                <a16:creationId xmlns:a16="http://schemas.microsoft.com/office/drawing/2014/main" id="{8029642D-8C5F-4A67-3104-1F11093A92E4}"/>
              </a:ext>
            </a:extLst>
          </p:cNvPr>
          <p:cNvSpPr/>
          <p:nvPr/>
        </p:nvSpPr>
        <p:spPr>
          <a:xfrm>
            <a:off x="5443776" y="4705826"/>
            <a:ext cx="3742730" cy="1088708"/>
          </a:xfrm>
          <a:prstGeom prst="rect">
            <a:avLst/>
          </a:prstGeom>
          <a:noFill/>
          <a:ln/>
        </p:spPr>
        <p:txBody>
          <a:bodyPr wrap="square" lIns="0" tIns="0" rIns="0" bIns="0" rtlCol="0" anchor="t"/>
          <a:lstStyle/>
          <a:p>
            <a:pPr marL="0" indent="0" algn="l">
              <a:lnSpc>
                <a:spcPts val="2850"/>
              </a:lnSpc>
              <a:buNone/>
            </a:pPr>
            <a:endParaRPr lang="en-US" sz="1750">
              <a:solidFill>
                <a:srgbClr val="4A4A45"/>
              </a:solidFill>
              <a:latin typeface="Lato"/>
              <a:ea typeface="Lato"/>
              <a:cs typeface="Lato"/>
            </a:endParaRPr>
          </a:p>
        </p:txBody>
      </p:sp>
      <p:sp>
        <p:nvSpPr>
          <p:cNvPr id="10" name="Shape 8">
            <a:extLst>
              <a:ext uri="{FF2B5EF4-FFF2-40B4-BE49-F238E27FC236}">
                <a16:creationId xmlns:a16="http://schemas.microsoft.com/office/drawing/2014/main" id="{A7192D10-A931-7E9F-8C33-56B8D9460CF8}"/>
              </a:ext>
            </a:extLst>
          </p:cNvPr>
          <p:cNvSpPr/>
          <p:nvPr/>
        </p:nvSpPr>
        <p:spPr>
          <a:xfrm>
            <a:off x="9640133" y="3988594"/>
            <a:ext cx="4196358" cy="2032754"/>
          </a:xfrm>
          <a:prstGeom prst="roundRect">
            <a:avLst>
              <a:gd name="adj" fmla="val 26781"/>
            </a:avLst>
          </a:prstGeom>
          <a:solidFill>
            <a:srgbClr val="E5DFD2"/>
          </a:solidFill>
          <a:ln/>
        </p:spPr>
      </p:sp>
      <p:sp>
        <p:nvSpPr>
          <p:cNvPr id="11" name="Text 9">
            <a:extLst>
              <a:ext uri="{FF2B5EF4-FFF2-40B4-BE49-F238E27FC236}">
                <a16:creationId xmlns:a16="http://schemas.microsoft.com/office/drawing/2014/main" id="{09BED351-236C-904D-9895-45869EBF2131}"/>
              </a:ext>
            </a:extLst>
          </p:cNvPr>
          <p:cNvSpPr/>
          <p:nvPr/>
        </p:nvSpPr>
        <p:spPr>
          <a:xfrm>
            <a:off x="9866948" y="4215408"/>
            <a:ext cx="2991445" cy="354330"/>
          </a:xfrm>
          <a:prstGeom prst="rect">
            <a:avLst/>
          </a:prstGeom>
          <a:noFill/>
          <a:ln/>
        </p:spPr>
        <p:txBody>
          <a:bodyPr wrap="none" lIns="0" tIns="0" rIns="0" bIns="0" rtlCol="0" anchor="t"/>
          <a:lstStyle/>
          <a:p>
            <a:pPr marL="0" indent="0" algn="l">
              <a:lnSpc>
                <a:spcPts val="2750"/>
              </a:lnSpc>
              <a:buNone/>
            </a:pPr>
            <a:endParaRPr lang="en-US" sz="2200" b="1">
              <a:solidFill>
                <a:srgbClr val="4A4A45"/>
              </a:solidFill>
              <a:latin typeface="Lato Bold"/>
              <a:ea typeface="Lato Bold"/>
              <a:cs typeface="Lato Bold"/>
            </a:endParaRPr>
          </a:p>
        </p:txBody>
      </p:sp>
      <p:sp>
        <p:nvSpPr>
          <p:cNvPr id="12" name="Text 10">
            <a:extLst>
              <a:ext uri="{FF2B5EF4-FFF2-40B4-BE49-F238E27FC236}">
                <a16:creationId xmlns:a16="http://schemas.microsoft.com/office/drawing/2014/main" id="{EC3E2682-8937-DA09-E1FF-F83C8AFEF46A}"/>
              </a:ext>
            </a:extLst>
          </p:cNvPr>
          <p:cNvSpPr/>
          <p:nvPr/>
        </p:nvSpPr>
        <p:spPr>
          <a:xfrm>
            <a:off x="9866948" y="4804300"/>
            <a:ext cx="3742730" cy="1088708"/>
          </a:xfrm>
          <a:prstGeom prst="rect">
            <a:avLst/>
          </a:prstGeom>
          <a:noFill/>
          <a:ln/>
        </p:spPr>
        <p:txBody>
          <a:bodyPr wrap="square" lIns="0" tIns="0" rIns="0" bIns="0" rtlCol="0" anchor="t"/>
          <a:lstStyle/>
          <a:p>
            <a:pPr marL="0" indent="0" algn="l">
              <a:lnSpc>
                <a:spcPts val="2850"/>
              </a:lnSpc>
              <a:buNone/>
            </a:pPr>
            <a:endParaRPr lang="en-US" sz="1750">
              <a:solidFill>
                <a:srgbClr val="4A4A45"/>
              </a:solidFill>
              <a:latin typeface="Lato"/>
              <a:ea typeface="Lato"/>
              <a:cs typeface="Lato"/>
            </a:endParaRPr>
          </a:p>
        </p:txBody>
      </p:sp>
      <p:sp>
        <p:nvSpPr>
          <p:cNvPr id="14" name="Rectangle 13">
            <a:extLst>
              <a:ext uri="{FF2B5EF4-FFF2-40B4-BE49-F238E27FC236}">
                <a16:creationId xmlns:a16="http://schemas.microsoft.com/office/drawing/2014/main" id="{F3B06DC5-61A7-810A-6518-437A61EA51B1}"/>
              </a:ext>
            </a:extLst>
          </p:cNvPr>
          <p:cNvSpPr/>
          <p:nvPr/>
        </p:nvSpPr>
        <p:spPr>
          <a:xfrm>
            <a:off x="11251477" y="7145944"/>
            <a:ext cx="3462689" cy="108586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4">
            <a:extLst>
              <a:ext uri="{FF2B5EF4-FFF2-40B4-BE49-F238E27FC236}">
                <a16:creationId xmlns:a16="http://schemas.microsoft.com/office/drawing/2014/main" id="{E230BCAF-168D-7720-9E50-1D4C79479CFE}"/>
              </a:ext>
            </a:extLst>
          </p:cNvPr>
          <p:cNvSpPr/>
          <p:nvPr/>
        </p:nvSpPr>
        <p:spPr>
          <a:xfrm>
            <a:off x="5444892" y="4705825"/>
            <a:ext cx="3742730" cy="1088708"/>
          </a:xfrm>
          <a:prstGeom prst="rect">
            <a:avLst/>
          </a:prstGeom>
          <a:noFill/>
          <a:ln/>
        </p:spPr>
        <p:txBody>
          <a:bodyPr wrap="square" lIns="0" tIns="0" rIns="0" bIns="0" rtlCol="0" anchor="t"/>
          <a:lstStyle/>
          <a:p>
            <a:r>
              <a:rPr lang="en-US" sz="2000">
                <a:solidFill>
                  <a:srgbClr val="000000"/>
                </a:solidFill>
                <a:ea typeface="+mn-lt"/>
                <a:cs typeface="+mn-lt"/>
              </a:rPr>
              <a:t>Used </a:t>
            </a:r>
            <a:r>
              <a:rPr lang="en-US" sz="2000" b="1" err="1">
                <a:solidFill>
                  <a:srgbClr val="000000"/>
                </a:solidFill>
                <a:ea typeface="+mn-lt"/>
                <a:cs typeface="+mn-lt"/>
              </a:rPr>
              <a:t>Thymeleaf</a:t>
            </a:r>
            <a:r>
              <a:rPr lang="en-US" sz="2000">
                <a:solidFill>
                  <a:srgbClr val="000000"/>
                </a:solidFill>
                <a:ea typeface="+mn-lt"/>
                <a:cs typeface="+mn-lt"/>
              </a:rPr>
              <a:t> only for frontend for sake of simplicity. ​</a:t>
            </a:r>
            <a:endParaRPr lang="en-US" sz="2000"/>
          </a:p>
          <a:p>
            <a:pPr>
              <a:lnSpc>
                <a:spcPts val="2850"/>
              </a:lnSpc>
            </a:pPr>
            <a:endParaRPr lang="en-US"/>
          </a:p>
        </p:txBody>
      </p:sp>
      <p:sp>
        <p:nvSpPr>
          <p:cNvPr id="13" name="Text 6">
            <a:extLst>
              <a:ext uri="{FF2B5EF4-FFF2-40B4-BE49-F238E27FC236}">
                <a16:creationId xmlns:a16="http://schemas.microsoft.com/office/drawing/2014/main" id="{0D18386B-3AC2-8980-2971-E6C3F1F70BA0}"/>
              </a:ext>
            </a:extLst>
          </p:cNvPr>
          <p:cNvSpPr/>
          <p:nvPr/>
        </p:nvSpPr>
        <p:spPr>
          <a:xfrm>
            <a:off x="9980606" y="4215407"/>
            <a:ext cx="3100388" cy="354330"/>
          </a:xfrm>
          <a:prstGeom prst="rect">
            <a:avLst/>
          </a:prstGeom>
          <a:noFill/>
          <a:ln/>
        </p:spPr>
        <p:txBody>
          <a:bodyPr wrap="none" lIns="0" tIns="0" rIns="0" bIns="0" rtlCol="0" anchor="t"/>
          <a:lstStyle/>
          <a:p>
            <a:pPr>
              <a:lnSpc>
                <a:spcPts val="2750"/>
              </a:lnSpc>
            </a:pPr>
            <a:r>
              <a:rPr lang="en-US" sz="2200" b="1">
                <a:solidFill>
                  <a:srgbClr val="4A4A45"/>
                </a:solidFill>
                <a:latin typeface="Lato Bold"/>
                <a:ea typeface="Lato Bold"/>
                <a:cs typeface="Lato Bold"/>
              </a:rPr>
              <a:t>Summary</a:t>
            </a:r>
          </a:p>
        </p:txBody>
      </p:sp>
      <p:sp>
        <p:nvSpPr>
          <p:cNvPr id="15" name="Text 4">
            <a:extLst>
              <a:ext uri="{FF2B5EF4-FFF2-40B4-BE49-F238E27FC236}">
                <a16:creationId xmlns:a16="http://schemas.microsoft.com/office/drawing/2014/main" id="{DE74A349-D7D2-D47D-1045-29DC50FB3202}"/>
              </a:ext>
            </a:extLst>
          </p:cNvPr>
          <p:cNvSpPr/>
          <p:nvPr/>
        </p:nvSpPr>
        <p:spPr>
          <a:xfrm>
            <a:off x="9862146" y="4705824"/>
            <a:ext cx="3742730" cy="1088708"/>
          </a:xfrm>
          <a:prstGeom prst="rect">
            <a:avLst/>
          </a:prstGeom>
          <a:noFill/>
          <a:ln/>
        </p:spPr>
        <p:txBody>
          <a:bodyPr wrap="square" lIns="0" tIns="0" rIns="0" bIns="0" rtlCol="0" anchor="t"/>
          <a:lstStyle/>
          <a:p>
            <a:r>
              <a:rPr lang="en-US" sz="2000">
                <a:ea typeface="Calibri"/>
                <a:cs typeface="Calibri"/>
              </a:rPr>
              <a:t>Showing </a:t>
            </a:r>
            <a:r>
              <a:rPr lang="en-US" sz="2000" b="1">
                <a:ea typeface="Calibri"/>
                <a:cs typeface="Calibri"/>
              </a:rPr>
              <a:t>abstract </a:t>
            </a:r>
            <a:r>
              <a:rPr lang="en-US" sz="2000">
                <a:ea typeface="Calibri"/>
                <a:cs typeface="Calibri"/>
              </a:rPr>
              <a:t>of paper instead of summarization.</a:t>
            </a:r>
            <a:endParaRPr lang="en-US"/>
          </a:p>
          <a:p>
            <a:pPr>
              <a:lnSpc>
                <a:spcPts val="2850"/>
              </a:lnSpc>
            </a:pPr>
            <a:endParaRPr lang="en-US"/>
          </a:p>
        </p:txBody>
      </p:sp>
    </p:spTree>
    <p:extLst>
      <p:ext uri="{BB962C8B-B14F-4D97-AF65-F5344CB8AC3E}">
        <p14:creationId xmlns:p14="http://schemas.microsoft.com/office/powerpoint/2010/main" val="11666127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60F8A-A1CA-3DFE-7D9D-2A7401A865C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4F1B714-087A-27E4-5604-1B1E47FC17F8}"/>
              </a:ext>
            </a:extLst>
          </p:cNvPr>
          <p:cNvSpPr/>
          <p:nvPr/>
        </p:nvSpPr>
        <p:spPr>
          <a:xfrm>
            <a:off x="5095280" y="486966"/>
            <a:ext cx="5127143" cy="551378"/>
          </a:xfrm>
          <a:prstGeom prst="rect">
            <a:avLst/>
          </a:prstGeom>
          <a:noFill/>
          <a:ln/>
        </p:spPr>
        <p:txBody>
          <a:bodyPr wrap="none" lIns="0" tIns="0" rIns="0" bIns="0" rtlCol="0" anchor="t"/>
          <a:lstStyle/>
          <a:p>
            <a:pPr algn="ctr">
              <a:lnSpc>
                <a:spcPts val="4300"/>
              </a:lnSpc>
            </a:pPr>
            <a:r>
              <a:rPr lang="en-US" sz="4450" b="1">
                <a:solidFill>
                  <a:srgbClr val="282824"/>
                </a:solidFill>
                <a:latin typeface="Lato Bold"/>
                <a:ea typeface="Lato Bold"/>
                <a:cs typeface="Lato Bold"/>
              </a:rPr>
              <a:t>System Design overview</a:t>
            </a:r>
            <a:endParaRPr lang="en-US" sz="4450">
              <a:latin typeface="Calibri"/>
              <a:ea typeface="Calibri"/>
              <a:cs typeface="Calibri"/>
            </a:endParaRPr>
          </a:p>
        </p:txBody>
      </p:sp>
      <p:pic>
        <p:nvPicPr>
          <p:cNvPr id="3" name="Image 0" descr="preencoded.png">
            <a:extLst>
              <a:ext uri="{FF2B5EF4-FFF2-40B4-BE49-F238E27FC236}">
                <a16:creationId xmlns:a16="http://schemas.microsoft.com/office/drawing/2014/main" id="{A6ACBC9F-A8FF-DB04-FCBC-31D24177E9A8}"/>
              </a:ext>
            </a:extLst>
          </p:cNvPr>
          <p:cNvPicPr>
            <a:picLocks noChangeAspect="1"/>
          </p:cNvPicPr>
          <p:nvPr/>
        </p:nvPicPr>
        <p:blipFill>
          <a:blip r:embed="rId3"/>
          <a:stretch>
            <a:fillRect/>
          </a:stretch>
        </p:blipFill>
        <p:spPr>
          <a:xfrm>
            <a:off x="1015491" y="1391126"/>
            <a:ext cx="882134" cy="1058585"/>
          </a:xfrm>
          <a:prstGeom prst="rect">
            <a:avLst/>
          </a:prstGeom>
        </p:spPr>
      </p:pic>
      <p:sp>
        <p:nvSpPr>
          <p:cNvPr id="4" name="Text 1">
            <a:extLst>
              <a:ext uri="{FF2B5EF4-FFF2-40B4-BE49-F238E27FC236}">
                <a16:creationId xmlns:a16="http://schemas.microsoft.com/office/drawing/2014/main" id="{AF2B1B8E-1797-177F-101F-CECB51BF14EB}"/>
              </a:ext>
            </a:extLst>
          </p:cNvPr>
          <p:cNvSpPr/>
          <p:nvPr/>
        </p:nvSpPr>
        <p:spPr>
          <a:xfrm>
            <a:off x="2073957" y="1567458"/>
            <a:ext cx="3966815" cy="243205"/>
          </a:xfrm>
          <a:prstGeom prst="rect">
            <a:avLst/>
          </a:prstGeom>
          <a:noFill/>
          <a:ln/>
        </p:spPr>
        <p:txBody>
          <a:bodyPr wrap="none" lIns="0" tIns="0" rIns="0" bIns="0" rtlCol="0" anchor="t"/>
          <a:lstStyle/>
          <a:p>
            <a:pPr>
              <a:lnSpc>
                <a:spcPts val="2150"/>
              </a:lnSpc>
            </a:pPr>
            <a:r>
              <a:rPr lang="en-US" sz="2000" b="1">
                <a:solidFill>
                  <a:srgbClr val="4A4A45"/>
                </a:solidFill>
                <a:latin typeface="Lato Bold"/>
                <a:ea typeface="Lato Bold"/>
                <a:cs typeface="Lato Bold"/>
              </a:rPr>
              <a:t>Scrappy Service: Go</a:t>
            </a:r>
            <a:endParaRPr lang="en-US" sz="2000">
              <a:latin typeface="Lato Bold"/>
              <a:ea typeface="Lato Bold"/>
              <a:cs typeface="Lato Bold"/>
            </a:endParaRPr>
          </a:p>
        </p:txBody>
      </p:sp>
      <p:sp>
        <p:nvSpPr>
          <p:cNvPr id="5" name="Text 2">
            <a:extLst>
              <a:ext uri="{FF2B5EF4-FFF2-40B4-BE49-F238E27FC236}">
                <a16:creationId xmlns:a16="http://schemas.microsoft.com/office/drawing/2014/main" id="{948F3A7E-FF07-99D8-82DF-4919607156EB}"/>
              </a:ext>
            </a:extLst>
          </p:cNvPr>
          <p:cNvSpPr/>
          <p:nvPr/>
        </p:nvSpPr>
        <p:spPr>
          <a:xfrm>
            <a:off x="2073957" y="1948934"/>
            <a:ext cx="12337018" cy="282297"/>
          </a:xfrm>
          <a:prstGeom prst="rect">
            <a:avLst/>
          </a:prstGeom>
          <a:noFill/>
          <a:ln/>
        </p:spPr>
        <p:txBody>
          <a:bodyPr wrap="none" lIns="0" tIns="0" rIns="0" bIns="0" rtlCol="0" anchor="t"/>
          <a:lstStyle/>
          <a:p>
            <a:pPr>
              <a:lnSpc>
                <a:spcPts val="2200"/>
              </a:lnSpc>
            </a:pPr>
            <a:r>
              <a:rPr lang="en-US">
                <a:solidFill>
                  <a:srgbClr val="4A4A45"/>
                </a:solidFill>
                <a:latin typeface="Lato"/>
                <a:ea typeface="Lato"/>
                <a:cs typeface="Lato"/>
              </a:rPr>
              <a:t>Fetch from </a:t>
            </a:r>
            <a:r>
              <a:rPr lang="en-US" err="1">
                <a:solidFill>
                  <a:srgbClr val="4A4A45"/>
                </a:solidFill>
                <a:latin typeface="Lato"/>
                <a:ea typeface="Lato"/>
                <a:cs typeface="Lato"/>
              </a:rPr>
              <a:t>OpenAlex</a:t>
            </a:r>
            <a:r>
              <a:rPr lang="en-US">
                <a:solidFill>
                  <a:srgbClr val="4A4A45"/>
                </a:solidFill>
                <a:latin typeface="Lato"/>
                <a:ea typeface="Lato"/>
                <a:cs typeface="Lato"/>
              </a:rPr>
              <a:t>, Semantic scholar</a:t>
            </a:r>
            <a:endParaRPr lang="en-US" err="1">
              <a:solidFill>
                <a:srgbClr val="000000"/>
              </a:solidFill>
              <a:latin typeface="Lato"/>
              <a:ea typeface="Lato"/>
              <a:cs typeface="Lato"/>
            </a:endParaRPr>
          </a:p>
        </p:txBody>
      </p:sp>
      <p:pic>
        <p:nvPicPr>
          <p:cNvPr id="6" name="Image 1" descr="preencoded.png">
            <a:extLst>
              <a:ext uri="{FF2B5EF4-FFF2-40B4-BE49-F238E27FC236}">
                <a16:creationId xmlns:a16="http://schemas.microsoft.com/office/drawing/2014/main" id="{B2A776F6-E4B3-CB39-1DAD-8679B8FB4E6E}"/>
              </a:ext>
            </a:extLst>
          </p:cNvPr>
          <p:cNvPicPr>
            <a:picLocks noChangeAspect="1"/>
          </p:cNvPicPr>
          <p:nvPr/>
        </p:nvPicPr>
        <p:blipFill>
          <a:blip r:embed="rId4"/>
          <a:stretch>
            <a:fillRect/>
          </a:stretch>
        </p:blipFill>
        <p:spPr>
          <a:xfrm>
            <a:off x="1015491" y="2449711"/>
            <a:ext cx="882134" cy="1058585"/>
          </a:xfrm>
          <a:prstGeom prst="rect">
            <a:avLst/>
          </a:prstGeom>
        </p:spPr>
      </p:pic>
      <p:sp>
        <p:nvSpPr>
          <p:cNvPr id="7" name="Text 3">
            <a:extLst>
              <a:ext uri="{FF2B5EF4-FFF2-40B4-BE49-F238E27FC236}">
                <a16:creationId xmlns:a16="http://schemas.microsoft.com/office/drawing/2014/main" id="{EC38F4FC-29AE-B15A-F257-C400C0540152}"/>
              </a:ext>
            </a:extLst>
          </p:cNvPr>
          <p:cNvSpPr/>
          <p:nvPr/>
        </p:nvSpPr>
        <p:spPr>
          <a:xfrm>
            <a:off x="2073957" y="2626043"/>
            <a:ext cx="3988918" cy="256175"/>
          </a:xfrm>
          <a:prstGeom prst="rect">
            <a:avLst/>
          </a:prstGeom>
          <a:noFill/>
          <a:ln/>
        </p:spPr>
        <p:txBody>
          <a:bodyPr wrap="none" lIns="0" tIns="0" rIns="0" bIns="0" rtlCol="0" anchor="t"/>
          <a:lstStyle/>
          <a:p>
            <a:pPr>
              <a:lnSpc>
                <a:spcPts val="2150"/>
              </a:lnSpc>
            </a:pPr>
            <a:r>
              <a:rPr lang="en-US" sz="2000" b="1">
                <a:solidFill>
                  <a:srgbClr val="4A4A45"/>
                </a:solidFill>
                <a:latin typeface="Lato Bold"/>
                <a:ea typeface="Lato Bold"/>
                <a:cs typeface="Lato Bold"/>
              </a:rPr>
              <a:t>Graph Service: </a:t>
            </a:r>
            <a:r>
              <a:rPr lang="en-US" sz="2000" b="1" err="1">
                <a:solidFill>
                  <a:srgbClr val="4A4A45"/>
                </a:solidFill>
                <a:latin typeface="Lato Bold"/>
                <a:ea typeface="Lato Bold"/>
                <a:cs typeface="Lato Bold"/>
              </a:rPr>
              <a:t>Springboot</a:t>
            </a:r>
            <a:r>
              <a:rPr lang="en-US" sz="2000" b="1">
                <a:solidFill>
                  <a:srgbClr val="4A4A45"/>
                </a:solidFill>
                <a:latin typeface="Lato Bold"/>
                <a:ea typeface="Lato Bold"/>
                <a:cs typeface="Lato Bold"/>
              </a:rPr>
              <a:t> </a:t>
            </a:r>
          </a:p>
        </p:txBody>
      </p:sp>
      <p:sp>
        <p:nvSpPr>
          <p:cNvPr id="8" name="Text 4">
            <a:extLst>
              <a:ext uri="{FF2B5EF4-FFF2-40B4-BE49-F238E27FC236}">
                <a16:creationId xmlns:a16="http://schemas.microsoft.com/office/drawing/2014/main" id="{7988DE80-F0BB-0FAE-9B00-7FD19E521D00}"/>
              </a:ext>
            </a:extLst>
          </p:cNvPr>
          <p:cNvSpPr/>
          <p:nvPr/>
        </p:nvSpPr>
        <p:spPr>
          <a:xfrm>
            <a:off x="2073957" y="3007519"/>
            <a:ext cx="12337018" cy="282297"/>
          </a:xfrm>
          <a:prstGeom prst="rect">
            <a:avLst/>
          </a:prstGeom>
          <a:noFill/>
          <a:ln/>
        </p:spPr>
        <p:txBody>
          <a:bodyPr wrap="none" lIns="0" tIns="0" rIns="0" bIns="0" rtlCol="0" anchor="t"/>
          <a:lstStyle/>
          <a:p>
            <a:pPr>
              <a:lnSpc>
                <a:spcPts val="2200"/>
              </a:lnSpc>
            </a:pPr>
            <a:r>
              <a:rPr lang="en-US">
                <a:solidFill>
                  <a:srgbClr val="4A4A45"/>
                </a:solidFill>
                <a:latin typeface="Lato"/>
                <a:ea typeface="Lato"/>
                <a:cs typeface="Lato"/>
              </a:rPr>
              <a:t>Traversal and API</a:t>
            </a:r>
            <a:endParaRPr lang="en-US">
              <a:latin typeface="Lato"/>
              <a:ea typeface="Lato"/>
              <a:cs typeface="Lato"/>
            </a:endParaRPr>
          </a:p>
        </p:txBody>
      </p:sp>
      <p:pic>
        <p:nvPicPr>
          <p:cNvPr id="9" name="Image 2" descr="preencoded.png">
            <a:extLst>
              <a:ext uri="{FF2B5EF4-FFF2-40B4-BE49-F238E27FC236}">
                <a16:creationId xmlns:a16="http://schemas.microsoft.com/office/drawing/2014/main" id="{D35744BD-52F8-58BE-A5E1-0C06267D6220}"/>
              </a:ext>
            </a:extLst>
          </p:cNvPr>
          <p:cNvPicPr>
            <a:picLocks noChangeAspect="1"/>
          </p:cNvPicPr>
          <p:nvPr/>
        </p:nvPicPr>
        <p:blipFill>
          <a:blip r:embed="rId5"/>
          <a:stretch>
            <a:fillRect/>
          </a:stretch>
        </p:blipFill>
        <p:spPr>
          <a:xfrm>
            <a:off x="1015491" y="3508296"/>
            <a:ext cx="882134" cy="1058585"/>
          </a:xfrm>
          <a:prstGeom prst="rect">
            <a:avLst/>
          </a:prstGeom>
        </p:spPr>
      </p:pic>
      <p:sp>
        <p:nvSpPr>
          <p:cNvPr id="10" name="Text 5">
            <a:extLst>
              <a:ext uri="{FF2B5EF4-FFF2-40B4-BE49-F238E27FC236}">
                <a16:creationId xmlns:a16="http://schemas.microsoft.com/office/drawing/2014/main" id="{692B13C2-0038-BD69-4D20-F306DAAAC3FC}"/>
              </a:ext>
            </a:extLst>
          </p:cNvPr>
          <p:cNvSpPr/>
          <p:nvPr/>
        </p:nvSpPr>
        <p:spPr>
          <a:xfrm>
            <a:off x="2073957" y="3684627"/>
            <a:ext cx="2205514" cy="275630"/>
          </a:xfrm>
          <a:prstGeom prst="rect">
            <a:avLst/>
          </a:prstGeom>
          <a:noFill/>
          <a:ln/>
        </p:spPr>
        <p:txBody>
          <a:bodyPr wrap="none" lIns="0" tIns="0" rIns="0" bIns="0" rtlCol="0" anchor="t"/>
          <a:lstStyle/>
          <a:p>
            <a:pPr marL="0" indent="0" algn="l">
              <a:lnSpc>
                <a:spcPts val="2150"/>
              </a:lnSpc>
              <a:buNone/>
            </a:pPr>
            <a:r>
              <a:rPr lang="en-US" sz="2000" b="1">
                <a:solidFill>
                  <a:srgbClr val="4A4A45"/>
                </a:solidFill>
                <a:latin typeface="Lato Bold"/>
                <a:ea typeface="Lato Bold"/>
                <a:cs typeface="Lato Bold"/>
              </a:rPr>
              <a:t>Database Service</a:t>
            </a:r>
            <a:endParaRPr lang="en-US" sz="2000">
              <a:latin typeface="Lato Bold"/>
              <a:ea typeface="Lato Bold"/>
              <a:cs typeface="Lato Bold"/>
            </a:endParaRPr>
          </a:p>
        </p:txBody>
      </p:sp>
      <p:sp>
        <p:nvSpPr>
          <p:cNvPr id="11" name="Text 6">
            <a:extLst>
              <a:ext uri="{FF2B5EF4-FFF2-40B4-BE49-F238E27FC236}">
                <a16:creationId xmlns:a16="http://schemas.microsoft.com/office/drawing/2014/main" id="{3FCC9CF5-26F3-084E-480B-BE165FF38C49}"/>
              </a:ext>
            </a:extLst>
          </p:cNvPr>
          <p:cNvSpPr/>
          <p:nvPr/>
        </p:nvSpPr>
        <p:spPr>
          <a:xfrm>
            <a:off x="2073957" y="4066103"/>
            <a:ext cx="12337018" cy="282297"/>
          </a:xfrm>
          <a:prstGeom prst="rect">
            <a:avLst/>
          </a:prstGeom>
          <a:noFill/>
          <a:ln/>
        </p:spPr>
        <p:txBody>
          <a:bodyPr wrap="none" lIns="0" tIns="0" rIns="0" bIns="0" rtlCol="0" anchor="t"/>
          <a:lstStyle/>
          <a:p>
            <a:pPr marL="0" indent="0" algn="l">
              <a:lnSpc>
                <a:spcPts val="2200"/>
              </a:lnSpc>
              <a:buNone/>
            </a:pPr>
            <a:r>
              <a:rPr lang="en-US">
                <a:solidFill>
                  <a:srgbClr val="4A4A45"/>
                </a:solidFill>
                <a:latin typeface="Lato"/>
                <a:ea typeface="Lato"/>
                <a:cs typeface="Lato"/>
              </a:rPr>
              <a:t>Neo4j Graph DB</a:t>
            </a:r>
            <a:endParaRPr lang="en-US">
              <a:latin typeface="Lato"/>
              <a:ea typeface="Lato"/>
              <a:cs typeface="Lato"/>
            </a:endParaRPr>
          </a:p>
        </p:txBody>
      </p:sp>
      <p:pic>
        <p:nvPicPr>
          <p:cNvPr id="12" name="Image 3" descr="preencoded.png">
            <a:extLst>
              <a:ext uri="{FF2B5EF4-FFF2-40B4-BE49-F238E27FC236}">
                <a16:creationId xmlns:a16="http://schemas.microsoft.com/office/drawing/2014/main" id="{F16C3C9A-190D-883B-7327-A6ABA7752B12}"/>
              </a:ext>
            </a:extLst>
          </p:cNvPr>
          <p:cNvPicPr>
            <a:picLocks noChangeAspect="1"/>
          </p:cNvPicPr>
          <p:nvPr/>
        </p:nvPicPr>
        <p:blipFill>
          <a:blip r:embed="rId6"/>
          <a:stretch>
            <a:fillRect/>
          </a:stretch>
        </p:blipFill>
        <p:spPr>
          <a:xfrm>
            <a:off x="1015491" y="4566880"/>
            <a:ext cx="882134" cy="1058585"/>
          </a:xfrm>
          <a:prstGeom prst="rect">
            <a:avLst/>
          </a:prstGeom>
        </p:spPr>
      </p:pic>
      <p:sp>
        <p:nvSpPr>
          <p:cNvPr id="13" name="Text 7">
            <a:extLst>
              <a:ext uri="{FF2B5EF4-FFF2-40B4-BE49-F238E27FC236}">
                <a16:creationId xmlns:a16="http://schemas.microsoft.com/office/drawing/2014/main" id="{3C09421F-0F3B-BFC9-E35B-0F6C96BFA620}"/>
              </a:ext>
            </a:extLst>
          </p:cNvPr>
          <p:cNvSpPr/>
          <p:nvPr/>
        </p:nvSpPr>
        <p:spPr>
          <a:xfrm>
            <a:off x="2073957" y="4743212"/>
            <a:ext cx="4426274" cy="81077"/>
          </a:xfrm>
          <a:prstGeom prst="rect">
            <a:avLst/>
          </a:prstGeom>
          <a:noFill/>
          <a:ln/>
        </p:spPr>
        <p:txBody>
          <a:bodyPr wrap="none" lIns="0" tIns="0" rIns="0" bIns="0" rtlCol="0" anchor="t"/>
          <a:lstStyle/>
          <a:p>
            <a:pPr>
              <a:lnSpc>
                <a:spcPts val="2150"/>
              </a:lnSpc>
            </a:pPr>
            <a:r>
              <a:rPr lang="en-US" sz="2000" b="1">
                <a:solidFill>
                  <a:srgbClr val="4A4A45"/>
                </a:solidFill>
                <a:latin typeface="Lato Bold"/>
                <a:ea typeface="Lato Bold"/>
                <a:cs typeface="Lato Bold"/>
              </a:rPr>
              <a:t>Gateway Service: </a:t>
            </a:r>
            <a:r>
              <a:rPr lang="en-US" sz="2000" b="1" err="1">
                <a:solidFill>
                  <a:srgbClr val="4A4A45"/>
                </a:solidFill>
                <a:latin typeface="Lato Bold"/>
                <a:ea typeface="Lato Bold"/>
                <a:cs typeface="Lato Bold"/>
              </a:rPr>
              <a:t>Springboot</a:t>
            </a:r>
            <a:endParaRPr lang="en-US" sz="2000" err="1">
              <a:latin typeface="Lato Bold"/>
              <a:ea typeface="Lato Bold"/>
              <a:cs typeface="Lato Bold"/>
            </a:endParaRPr>
          </a:p>
        </p:txBody>
      </p:sp>
      <p:sp>
        <p:nvSpPr>
          <p:cNvPr id="14" name="Text 8">
            <a:extLst>
              <a:ext uri="{FF2B5EF4-FFF2-40B4-BE49-F238E27FC236}">
                <a16:creationId xmlns:a16="http://schemas.microsoft.com/office/drawing/2014/main" id="{2E4DEA32-43A1-64EE-8453-3FFC571C6709}"/>
              </a:ext>
            </a:extLst>
          </p:cNvPr>
          <p:cNvSpPr/>
          <p:nvPr/>
        </p:nvSpPr>
        <p:spPr>
          <a:xfrm>
            <a:off x="2073957" y="5124688"/>
            <a:ext cx="12337018" cy="282297"/>
          </a:xfrm>
          <a:prstGeom prst="rect">
            <a:avLst/>
          </a:prstGeom>
          <a:noFill/>
          <a:ln/>
        </p:spPr>
        <p:txBody>
          <a:bodyPr wrap="none" lIns="0" tIns="0" rIns="0" bIns="0" rtlCol="0" anchor="t"/>
          <a:lstStyle/>
          <a:p>
            <a:pPr>
              <a:lnSpc>
                <a:spcPts val="2200"/>
              </a:lnSpc>
            </a:pPr>
            <a:r>
              <a:rPr lang="en-US">
                <a:solidFill>
                  <a:srgbClr val="4A4A45"/>
                </a:solidFill>
                <a:latin typeface="Lato"/>
                <a:ea typeface="Lato"/>
                <a:cs typeface="Lato"/>
              </a:rPr>
              <a:t>API routing</a:t>
            </a:r>
            <a:endParaRPr lang="en-US">
              <a:latin typeface="Lato"/>
              <a:ea typeface="Lato"/>
              <a:cs typeface="Lato"/>
            </a:endParaRPr>
          </a:p>
        </p:txBody>
      </p:sp>
      <p:pic>
        <p:nvPicPr>
          <p:cNvPr id="15" name="Image 4" descr="preencoded.png">
            <a:extLst>
              <a:ext uri="{FF2B5EF4-FFF2-40B4-BE49-F238E27FC236}">
                <a16:creationId xmlns:a16="http://schemas.microsoft.com/office/drawing/2014/main" id="{6C8E04CA-E1A4-B3BC-C9BD-F9346DDFF47F}"/>
              </a:ext>
            </a:extLst>
          </p:cNvPr>
          <p:cNvPicPr>
            <a:picLocks noChangeAspect="1"/>
          </p:cNvPicPr>
          <p:nvPr/>
        </p:nvPicPr>
        <p:blipFill>
          <a:blip r:embed="rId7"/>
          <a:stretch>
            <a:fillRect/>
          </a:stretch>
        </p:blipFill>
        <p:spPr>
          <a:xfrm>
            <a:off x="1015491" y="5625465"/>
            <a:ext cx="882134" cy="1058585"/>
          </a:xfrm>
          <a:prstGeom prst="rect">
            <a:avLst/>
          </a:prstGeom>
        </p:spPr>
      </p:pic>
      <p:sp>
        <p:nvSpPr>
          <p:cNvPr id="16" name="Text 9">
            <a:extLst>
              <a:ext uri="{FF2B5EF4-FFF2-40B4-BE49-F238E27FC236}">
                <a16:creationId xmlns:a16="http://schemas.microsoft.com/office/drawing/2014/main" id="{3381ADFB-8CAD-B89C-FCC5-EAF41EB65323}"/>
              </a:ext>
            </a:extLst>
          </p:cNvPr>
          <p:cNvSpPr/>
          <p:nvPr/>
        </p:nvSpPr>
        <p:spPr>
          <a:xfrm>
            <a:off x="2073957" y="5801797"/>
            <a:ext cx="2205514" cy="275630"/>
          </a:xfrm>
          <a:prstGeom prst="rect">
            <a:avLst/>
          </a:prstGeom>
          <a:noFill/>
          <a:ln/>
        </p:spPr>
        <p:txBody>
          <a:bodyPr wrap="none" lIns="0" tIns="0" rIns="0" bIns="0" rtlCol="0" anchor="t"/>
          <a:lstStyle/>
          <a:p>
            <a:pPr>
              <a:lnSpc>
                <a:spcPts val="2150"/>
              </a:lnSpc>
            </a:pPr>
            <a:r>
              <a:rPr lang="en-US" sz="2000" b="1">
                <a:solidFill>
                  <a:srgbClr val="4A4A45"/>
                </a:solidFill>
                <a:latin typeface="Lato Bold"/>
                <a:ea typeface="Lato Bold"/>
                <a:cs typeface="Lato Bold"/>
              </a:rPr>
              <a:t>Frontend Service</a:t>
            </a:r>
            <a:endParaRPr lang="en-US" sz="2000">
              <a:latin typeface="Lato Bold"/>
              <a:ea typeface="Lato Bold"/>
              <a:cs typeface="Lato Bold"/>
            </a:endParaRPr>
          </a:p>
        </p:txBody>
      </p:sp>
      <p:sp>
        <p:nvSpPr>
          <p:cNvPr id="17" name="Text 10">
            <a:extLst>
              <a:ext uri="{FF2B5EF4-FFF2-40B4-BE49-F238E27FC236}">
                <a16:creationId xmlns:a16="http://schemas.microsoft.com/office/drawing/2014/main" id="{32FCF319-E703-EF9F-080E-B07408090418}"/>
              </a:ext>
            </a:extLst>
          </p:cNvPr>
          <p:cNvSpPr/>
          <p:nvPr/>
        </p:nvSpPr>
        <p:spPr>
          <a:xfrm>
            <a:off x="2073957" y="6183273"/>
            <a:ext cx="12337018" cy="282297"/>
          </a:xfrm>
          <a:prstGeom prst="rect">
            <a:avLst/>
          </a:prstGeom>
          <a:noFill/>
          <a:ln/>
        </p:spPr>
        <p:txBody>
          <a:bodyPr wrap="none" lIns="0" tIns="0" rIns="0" bIns="0" rtlCol="0" anchor="t"/>
          <a:lstStyle/>
          <a:p>
            <a:pPr marL="0" indent="0" algn="l">
              <a:lnSpc>
                <a:spcPts val="2200"/>
              </a:lnSpc>
              <a:buNone/>
            </a:pPr>
            <a:r>
              <a:rPr lang="en-US" err="1">
                <a:solidFill>
                  <a:srgbClr val="4A4A45"/>
                </a:solidFill>
                <a:latin typeface="Lato"/>
                <a:ea typeface="Lato"/>
                <a:cs typeface="Lato"/>
              </a:rPr>
              <a:t>Thymeleaf</a:t>
            </a:r>
            <a:r>
              <a:rPr lang="en-US">
                <a:solidFill>
                  <a:srgbClr val="4A4A45"/>
                </a:solidFill>
                <a:latin typeface="Lato"/>
                <a:ea typeface="Lato"/>
                <a:cs typeface="Lato"/>
              </a:rPr>
              <a:t> + Cytoscape.js</a:t>
            </a:r>
            <a:endParaRPr lang="en-US">
              <a:latin typeface="Lato"/>
              <a:ea typeface="Lato"/>
              <a:cs typeface="Lato"/>
            </a:endParaRPr>
          </a:p>
        </p:txBody>
      </p:sp>
      <p:pic>
        <p:nvPicPr>
          <p:cNvPr id="18" name="Image 5" descr="preencoded.png">
            <a:extLst>
              <a:ext uri="{FF2B5EF4-FFF2-40B4-BE49-F238E27FC236}">
                <a16:creationId xmlns:a16="http://schemas.microsoft.com/office/drawing/2014/main" id="{B5B62431-04ED-B527-6A8D-B630DBD8B9CD}"/>
              </a:ext>
            </a:extLst>
          </p:cNvPr>
          <p:cNvPicPr>
            <a:picLocks noChangeAspect="1"/>
          </p:cNvPicPr>
          <p:nvPr/>
        </p:nvPicPr>
        <p:blipFill>
          <a:blip r:embed="rId8"/>
          <a:stretch>
            <a:fillRect/>
          </a:stretch>
        </p:blipFill>
        <p:spPr>
          <a:xfrm>
            <a:off x="1015491" y="6684050"/>
            <a:ext cx="882134" cy="1058585"/>
          </a:xfrm>
          <a:prstGeom prst="rect">
            <a:avLst/>
          </a:prstGeom>
        </p:spPr>
      </p:pic>
      <p:sp>
        <p:nvSpPr>
          <p:cNvPr id="19" name="Text 11">
            <a:extLst>
              <a:ext uri="{FF2B5EF4-FFF2-40B4-BE49-F238E27FC236}">
                <a16:creationId xmlns:a16="http://schemas.microsoft.com/office/drawing/2014/main" id="{2F508D75-E141-938C-541F-143C6C227BDC}"/>
              </a:ext>
            </a:extLst>
          </p:cNvPr>
          <p:cNvSpPr/>
          <p:nvPr/>
        </p:nvSpPr>
        <p:spPr>
          <a:xfrm>
            <a:off x="2073957" y="6860381"/>
            <a:ext cx="2205514" cy="275630"/>
          </a:xfrm>
          <a:prstGeom prst="rect">
            <a:avLst/>
          </a:prstGeom>
          <a:noFill/>
          <a:ln/>
        </p:spPr>
        <p:txBody>
          <a:bodyPr wrap="none" lIns="0" tIns="0" rIns="0" bIns="0" rtlCol="0" anchor="t"/>
          <a:lstStyle/>
          <a:p>
            <a:pPr>
              <a:lnSpc>
                <a:spcPts val="2150"/>
              </a:lnSpc>
            </a:pPr>
            <a:r>
              <a:rPr lang="en-US" sz="2000" b="1">
                <a:solidFill>
                  <a:srgbClr val="4A4A45"/>
                </a:solidFill>
                <a:latin typeface="Lato Bold"/>
                <a:ea typeface="Lato Bold"/>
                <a:cs typeface="Lato Bold"/>
              </a:rPr>
              <a:t>Summary Service: Python</a:t>
            </a:r>
            <a:endParaRPr lang="en-US" sz="2000">
              <a:latin typeface="Lato Bold"/>
              <a:ea typeface="Lato Bold"/>
              <a:cs typeface="Lato Bold"/>
            </a:endParaRPr>
          </a:p>
        </p:txBody>
      </p:sp>
      <p:sp>
        <p:nvSpPr>
          <p:cNvPr id="20" name="Text 12">
            <a:extLst>
              <a:ext uri="{FF2B5EF4-FFF2-40B4-BE49-F238E27FC236}">
                <a16:creationId xmlns:a16="http://schemas.microsoft.com/office/drawing/2014/main" id="{33E99436-1636-FF02-09E5-3CBD57050854}"/>
              </a:ext>
            </a:extLst>
          </p:cNvPr>
          <p:cNvSpPr/>
          <p:nvPr/>
        </p:nvSpPr>
        <p:spPr>
          <a:xfrm>
            <a:off x="2073957" y="7241858"/>
            <a:ext cx="12337018" cy="282297"/>
          </a:xfrm>
          <a:prstGeom prst="rect">
            <a:avLst/>
          </a:prstGeom>
          <a:noFill/>
          <a:ln/>
        </p:spPr>
        <p:txBody>
          <a:bodyPr wrap="none" lIns="0" tIns="0" rIns="0" bIns="0" rtlCol="0" anchor="t"/>
          <a:lstStyle/>
          <a:p>
            <a:pPr>
              <a:lnSpc>
                <a:spcPts val="2200"/>
              </a:lnSpc>
            </a:pPr>
            <a:r>
              <a:rPr lang="en-US">
                <a:solidFill>
                  <a:srgbClr val="4A4A45"/>
                </a:solidFill>
                <a:latin typeface="Lato"/>
                <a:ea typeface="Lato"/>
                <a:cs typeface="Lato"/>
              </a:rPr>
              <a:t>Llama 3.1 based summarization</a:t>
            </a:r>
            <a:endParaRPr lang="en-US">
              <a:latin typeface="Lato"/>
              <a:ea typeface="Lato"/>
              <a:cs typeface="Lato"/>
            </a:endParaRPr>
          </a:p>
        </p:txBody>
      </p:sp>
      <p:sp>
        <p:nvSpPr>
          <p:cNvPr id="22" name="Rectangle 21">
            <a:extLst>
              <a:ext uri="{FF2B5EF4-FFF2-40B4-BE49-F238E27FC236}">
                <a16:creationId xmlns:a16="http://schemas.microsoft.com/office/drawing/2014/main" id="{3E799A2C-686A-01D4-767C-FECB881D820B}"/>
              </a:ext>
            </a:extLst>
          </p:cNvPr>
          <p:cNvSpPr/>
          <p:nvPr/>
        </p:nvSpPr>
        <p:spPr>
          <a:xfrm>
            <a:off x="11251477" y="7145944"/>
            <a:ext cx="3462689" cy="108586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379907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6EF52-FF2D-0A66-01E1-9A63F7D844A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2542948-861B-AC4F-F6DD-ED4516131A19}"/>
              </a:ext>
            </a:extLst>
          </p:cNvPr>
          <p:cNvSpPr/>
          <p:nvPr/>
        </p:nvSpPr>
        <p:spPr>
          <a:xfrm>
            <a:off x="2148343" y="1053784"/>
            <a:ext cx="9996368" cy="708779"/>
          </a:xfrm>
          <a:prstGeom prst="rect">
            <a:avLst/>
          </a:prstGeom>
          <a:noFill/>
          <a:ln/>
        </p:spPr>
        <p:txBody>
          <a:bodyPr wrap="none" lIns="0" tIns="0" rIns="0" bIns="0" rtlCol="0" anchor="t"/>
          <a:lstStyle/>
          <a:p>
            <a:pPr algn="ctr">
              <a:lnSpc>
                <a:spcPts val="5550"/>
              </a:lnSpc>
            </a:pPr>
            <a:r>
              <a:rPr lang="en-US" sz="4450" b="1">
                <a:solidFill>
                  <a:srgbClr val="282824"/>
                </a:solidFill>
                <a:latin typeface="Lato Bold"/>
                <a:ea typeface="Lato Bold"/>
                <a:cs typeface="Lato Bold"/>
              </a:rPr>
              <a:t>Neo4j Schema</a:t>
            </a:r>
          </a:p>
        </p:txBody>
      </p:sp>
      <p:sp>
        <p:nvSpPr>
          <p:cNvPr id="9" name="Text 7">
            <a:extLst>
              <a:ext uri="{FF2B5EF4-FFF2-40B4-BE49-F238E27FC236}">
                <a16:creationId xmlns:a16="http://schemas.microsoft.com/office/drawing/2014/main" id="{602A9D39-1DFC-066F-0197-9940CBB36E9C}"/>
              </a:ext>
            </a:extLst>
          </p:cNvPr>
          <p:cNvSpPr/>
          <p:nvPr/>
        </p:nvSpPr>
        <p:spPr>
          <a:xfrm>
            <a:off x="5443776" y="4705826"/>
            <a:ext cx="3742730" cy="1088708"/>
          </a:xfrm>
          <a:prstGeom prst="rect">
            <a:avLst/>
          </a:prstGeom>
          <a:noFill/>
          <a:ln/>
        </p:spPr>
        <p:txBody>
          <a:bodyPr wrap="square" lIns="0" tIns="0" rIns="0" bIns="0" rtlCol="0" anchor="t"/>
          <a:lstStyle/>
          <a:p>
            <a:pPr marL="0" indent="0" algn="l">
              <a:lnSpc>
                <a:spcPts val="2850"/>
              </a:lnSpc>
              <a:buNone/>
            </a:pPr>
            <a:endParaRPr lang="en-US" sz="1750">
              <a:solidFill>
                <a:srgbClr val="4A4A45"/>
              </a:solidFill>
              <a:latin typeface="Lato"/>
              <a:ea typeface="Lato"/>
              <a:cs typeface="Lato"/>
            </a:endParaRPr>
          </a:p>
        </p:txBody>
      </p:sp>
      <p:sp>
        <p:nvSpPr>
          <p:cNvPr id="11" name="Text 9">
            <a:extLst>
              <a:ext uri="{FF2B5EF4-FFF2-40B4-BE49-F238E27FC236}">
                <a16:creationId xmlns:a16="http://schemas.microsoft.com/office/drawing/2014/main" id="{C9065852-5CEE-CD85-6D72-86CE85F290D0}"/>
              </a:ext>
            </a:extLst>
          </p:cNvPr>
          <p:cNvSpPr/>
          <p:nvPr/>
        </p:nvSpPr>
        <p:spPr>
          <a:xfrm>
            <a:off x="9866948" y="4215408"/>
            <a:ext cx="2991445" cy="354330"/>
          </a:xfrm>
          <a:prstGeom prst="rect">
            <a:avLst/>
          </a:prstGeom>
          <a:noFill/>
          <a:ln/>
        </p:spPr>
        <p:txBody>
          <a:bodyPr wrap="none" lIns="0" tIns="0" rIns="0" bIns="0" rtlCol="0" anchor="t"/>
          <a:lstStyle/>
          <a:p>
            <a:pPr marL="0" indent="0" algn="l">
              <a:lnSpc>
                <a:spcPts val="2750"/>
              </a:lnSpc>
              <a:buNone/>
            </a:pPr>
            <a:endParaRPr lang="en-US" sz="2200" b="1">
              <a:solidFill>
                <a:srgbClr val="4A4A45"/>
              </a:solidFill>
              <a:latin typeface="Lato Bold"/>
              <a:ea typeface="Lato Bold"/>
              <a:cs typeface="Lato Bold"/>
            </a:endParaRPr>
          </a:p>
        </p:txBody>
      </p:sp>
      <p:sp>
        <p:nvSpPr>
          <p:cNvPr id="12" name="Text 10">
            <a:extLst>
              <a:ext uri="{FF2B5EF4-FFF2-40B4-BE49-F238E27FC236}">
                <a16:creationId xmlns:a16="http://schemas.microsoft.com/office/drawing/2014/main" id="{F9ACF7A8-438A-8D20-5A90-7E5AC328B9FD}"/>
              </a:ext>
            </a:extLst>
          </p:cNvPr>
          <p:cNvSpPr/>
          <p:nvPr/>
        </p:nvSpPr>
        <p:spPr>
          <a:xfrm>
            <a:off x="9866948" y="4804300"/>
            <a:ext cx="3742730" cy="1088708"/>
          </a:xfrm>
          <a:prstGeom prst="rect">
            <a:avLst/>
          </a:prstGeom>
          <a:noFill/>
          <a:ln/>
        </p:spPr>
        <p:txBody>
          <a:bodyPr wrap="square" lIns="0" tIns="0" rIns="0" bIns="0" rtlCol="0" anchor="t"/>
          <a:lstStyle/>
          <a:p>
            <a:pPr marL="0" indent="0" algn="l">
              <a:lnSpc>
                <a:spcPts val="2850"/>
              </a:lnSpc>
              <a:buNone/>
            </a:pPr>
            <a:endParaRPr lang="en-US" sz="1750">
              <a:solidFill>
                <a:srgbClr val="4A4A45"/>
              </a:solidFill>
              <a:latin typeface="Lato"/>
              <a:ea typeface="Lato"/>
              <a:cs typeface="Lato"/>
            </a:endParaRPr>
          </a:p>
        </p:txBody>
      </p:sp>
      <p:sp>
        <p:nvSpPr>
          <p:cNvPr id="14" name="Rectangle 13">
            <a:extLst>
              <a:ext uri="{FF2B5EF4-FFF2-40B4-BE49-F238E27FC236}">
                <a16:creationId xmlns:a16="http://schemas.microsoft.com/office/drawing/2014/main" id="{C1603E23-A014-302B-9637-800B1D51E698}"/>
              </a:ext>
            </a:extLst>
          </p:cNvPr>
          <p:cNvSpPr/>
          <p:nvPr/>
        </p:nvSpPr>
        <p:spPr>
          <a:xfrm>
            <a:off x="11251477" y="7145944"/>
            <a:ext cx="3462689" cy="108586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0B482CEC-1E8C-7E54-848A-32F0B3CFA8D9}"/>
              </a:ext>
            </a:extLst>
          </p:cNvPr>
          <p:cNvGraphicFramePr>
            <a:graphicFrameLocks noGrp="1"/>
          </p:cNvGraphicFramePr>
          <p:nvPr>
            <p:extLst>
              <p:ext uri="{D42A27DB-BD31-4B8C-83A1-F6EECF244321}">
                <p14:modId xmlns:p14="http://schemas.microsoft.com/office/powerpoint/2010/main" val="2953786110"/>
              </p:ext>
            </p:extLst>
          </p:nvPr>
        </p:nvGraphicFramePr>
        <p:xfrm>
          <a:off x="1673013" y="2438400"/>
          <a:ext cx="10607040" cy="3539550"/>
        </p:xfrm>
        <a:graphic>
          <a:graphicData uri="http://schemas.openxmlformats.org/drawingml/2006/table">
            <a:tbl>
              <a:tblPr firstRow="1" bandRow="1">
                <a:tableStyleId>{5C22544A-7EE6-4342-B048-85BDC9FD1C3A}</a:tableStyleId>
              </a:tblPr>
              <a:tblGrid>
                <a:gridCol w="3535680">
                  <a:extLst>
                    <a:ext uri="{9D8B030D-6E8A-4147-A177-3AD203B41FA5}">
                      <a16:colId xmlns:a16="http://schemas.microsoft.com/office/drawing/2014/main" val="1376219740"/>
                    </a:ext>
                  </a:extLst>
                </a:gridCol>
                <a:gridCol w="3535680">
                  <a:extLst>
                    <a:ext uri="{9D8B030D-6E8A-4147-A177-3AD203B41FA5}">
                      <a16:colId xmlns:a16="http://schemas.microsoft.com/office/drawing/2014/main" val="3217006550"/>
                    </a:ext>
                  </a:extLst>
                </a:gridCol>
                <a:gridCol w="3535680">
                  <a:extLst>
                    <a:ext uri="{9D8B030D-6E8A-4147-A177-3AD203B41FA5}">
                      <a16:colId xmlns:a16="http://schemas.microsoft.com/office/drawing/2014/main" val="2116574840"/>
                    </a:ext>
                  </a:extLst>
                </a:gridCol>
              </a:tblGrid>
              <a:tr h="1137920">
                <a:tc>
                  <a:txBody>
                    <a:bodyPr/>
                    <a:lstStyle/>
                    <a:p>
                      <a:r>
                        <a:rPr lang="en-US" sz="2400" b="0" dirty="0"/>
                        <a:t>Nodes</a:t>
                      </a:r>
                    </a:p>
                  </a:txBody>
                  <a:tcPr/>
                </a:tc>
                <a:tc>
                  <a:txBody>
                    <a:bodyPr/>
                    <a:lstStyle/>
                    <a:p>
                      <a:pPr lvl="0">
                        <a:buNone/>
                      </a:pPr>
                      <a:r>
                        <a:rPr lang="en-US" sz="2400" b="1" i="0" u="none" strike="noStrike" noProof="0" dirty="0">
                          <a:latin typeface="Calibri"/>
                        </a:rPr>
                        <a:t>Key Properties</a:t>
                      </a:r>
                      <a:endParaRPr lang="en-US" sz="2400" b="1" dirty="0"/>
                    </a:p>
                  </a:txBody>
                  <a:tcPr/>
                </a:tc>
                <a:tc>
                  <a:txBody>
                    <a:bodyPr/>
                    <a:lstStyle/>
                    <a:p>
                      <a:r>
                        <a:rPr lang="en-US" sz="2400" b="0" dirty="0"/>
                        <a:t>Description</a:t>
                      </a:r>
                    </a:p>
                  </a:txBody>
                  <a:tcPr/>
                </a:tc>
                <a:extLst>
                  <a:ext uri="{0D108BD9-81ED-4DB2-BD59-A6C34878D82A}">
                    <a16:rowId xmlns:a16="http://schemas.microsoft.com/office/drawing/2014/main" val="1452047002"/>
                  </a:ext>
                </a:extLst>
              </a:tr>
              <a:tr h="1200815">
                <a:tc>
                  <a:txBody>
                    <a:bodyPr/>
                    <a:lstStyle/>
                    <a:p>
                      <a:r>
                        <a:rPr lang="en-US" sz="2000" b="1" dirty="0">
                          <a:latin typeface="Calibri"/>
                        </a:rPr>
                        <a:t>Author</a:t>
                      </a:r>
                    </a:p>
                  </a:txBody>
                  <a:tcPr/>
                </a:tc>
                <a:tc>
                  <a:txBody>
                    <a:bodyPr/>
                    <a:lstStyle/>
                    <a:p>
                      <a:pPr lvl="0">
                        <a:buNone/>
                      </a:pPr>
                      <a:r>
                        <a:rPr lang="en-US" sz="2000" b="1" i="0" u="none" strike="noStrike" noProof="0" dirty="0" err="1">
                          <a:latin typeface="Calibri"/>
                        </a:rPr>
                        <a:t>displayName</a:t>
                      </a:r>
                      <a:r>
                        <a:rPr lang="en-US" sz="2000" b="1" i="0" u="none" strike="noStrike" noProof="0" dirty="0">
                          <a:latin typeface="Calibri"/>
                        </a:rPr>
                        <a:t>, </a:t>
                      </a:r>
                      <a:r>
                        <a:rPr lang="en-US" sz="2000" b="1" i="0" u="none" strike="noStrike" noProof="0" dirty="0" err="1">
                          <a:latin typeface="Calibri"/>
                        </a:rPr>
                        <a:t>orcid</a:t>
                      </a:r>
                      <a:r>
                        <a:rPr lang="en-US" sz="2000" b="1" i="0" u="none" strike="noStrike" noProof="0" dirty="0">
                          <a:latin typeface="Calibri"/>
                        </a:rPr>
                        <a:t> id, </a:t>
                      </a:r>
                      <a:r>
                        <a:rPr lang="en-US" sz="2000" b="1" i="0" u="none" strike="noStrike" noProof="0" dirty="0" err="1">
                          <a:latin typeface="Calibri"/>
                        </a:rPr>
                        <a:t>openAlex</a:t>
                      </a:r>
                      <a:r>
                        <a:rPr lang="en-US" sz="2000" b="1" i="0" u="none" strike="noStrike" noProof="0" dirty="0">
                          <a:latin typeface="Calibri"/>
                        </a:rPr>
                        <a:t> id,</a:t>
                      </a:r>
                      <a:endParaRPr lang="en-US" sz="2000" b="1" dirty="0">
                        <a:latin typeface="Calibri"/>
                      </a:endParaRPr>
                    </a:p>
                    <a:p>
                      <a:pPr lvl="0">
                        <a:buNone/>
                      </a:pPr>
                      <a:r>
                        <a:rPr lang="en-US" sz="2000" b="1" i="0" u="none" strike="noStrike" noProof="0" err="1">
                          <a:latin typeface="Calibri"/>
                        </a:rPr>
                        <a:t>worksCount</a:t>
                      </a:r>
                      <a:r>
                        <a:rPr lang="en-US" sz="2000" b="1" i="0" u="none" strike="noStrike" noProof="0" dirty="0">
                          <a:latin typeface="Calibri"/>
                        </a:rPr>
                        <a:t>, </a:t>
                      </a:r>
                      <a:r>
                        <a:rPr lang="en-US" sz="2000" b="1" i="0" u="none" strike="noStrike" noProof="0" err="1">
                          <a:latin typeface="Calibri"/>
                        </a:rPr>
                        <a:t>citedByCount</a:t>
                      </a:r>
                      <a:endParaRPr lang="en-US" sz="2000" b="1">
                        <a:latin typeface="Calibri"/>
                      </a:endParaRPr>
                    </a:p>
                  </a:txBody>
                  <a:tcPr/>
                </a:tc>
                <a:tc>
                  <a:txBody>
                    <a:bodyPr/>
                    <a:lstStyle/>
                    <a:p>
                      <a:pPr lvl="0">
                        <a:buNone/>
                      </a:pPr>
                      <a:r>
                        <a:rPr lang="en-US" sz="2000" b="1" i="0" u="none" strike="noStrike" noProof="0" dirty="0">
                          <a:latin typeface="Calibri"/>
                        </a:rPr>
                        <a:t>Represents a researcher or faculty member.</a:t>
                      </a:r>
                      <a:endParaRPr lang="en-US" sz="2000" b="1" dirty="0">
                        <a:latin typeface="Calibri"/>
                      </a:endParaRPr>
                    </a:p>
                  </a:txBody>
                  <a:tcPr/>
                </a:tc>
                <a:extLst>
                  <a:ext uri="{0D108BD9-81ED-4DB2-BD59-A6C34878D82A}">
                    <a16:rowId xmlns:a16="http://schemas.microsoft.com/office/drawing/2014/main" val="2184627536"/>
                  </a:ext>
                </a:extLst>
              </a:tr>
              <a:tr h="1200815">
                <a:tc>
                  <a:txBody>
                    <a:bodyPr/>
                    <a:lstStyle/>
                    <a:p>
                      <a:r>
                        <a:rPr lang="en-US" sz="2000" b="1" dirty="0">
                          <a:latin typeface="Calibri"/>
                        </a:rPr>
                        <a:t>Work</a:t>
                      </a:r>
                    </a:p>
                  </a:txBody>
                  <a:tcPr/>
                </a:tc>
                <a:tc>
                  <a:txBody>
                    <a:bodyPr/>
                    <a:lstStyle/>
                    <a:p>
                      <a:pPr lvl="0">
                        <a:buNone/>
                      </a:pPr>
                      <a:r>
                        <a:rPr lang="en-US" sz="2000" b="1" i="0" u="none" strike="noStrike" noProof="0" dirty="0" err="1">
                          <a:latin typeface="Calibri"/>
                        </a:rPr>
                        <a:t>OpenAlex</a:t>
                      </a:r>
                      <a:r>
                        <a:rPr lang="en-US" sz="2000" b="1" i="0" u="none" strike="noStrike" noProof="0" dirty="0">
                          <a:latin typeface="Calibri"/>
                        </a:rPr>
                        <a:t> id, </a:t>
                      </a:r>
                      <a:endParaRPr lang="en-US" sz="2000" b="1" dirty="0">
                        <a:latin typeface="Calibri"/>
                      </a:endParaRPr>
                    </a:p>
                    <a:p>
                      <a:pPr lvl="0">
                        <a:buNone/>
                      </a:pPr>
                      <a:r>
                        <a:rPr lang="en-US" sz="2000" b="1" i="0" u="none" strike="noStrike" noProof="0" dirty="0">
                          <a:latin typeface="Calibri"/>
                        </a:rPr>
                        <a:t>title, </a:t>
                      </a:r>
                      <a:r>
                        <a:rPr lang="en-US" sz="2000" b="1" i="0" u="none" strike="noStrike" noProof="0" dirty="0" err="1">
                          <a:latin typeface="Calibri"/>
                        </a:rPr>
                        <a:t>publicationYear</a:t>
                      </a:r>
                      <a:r>
                        <a:rPr lang="en-US" sz="2000" b="1" i="0" u="none" strike="noStrike" noProof="0" dirty="0">
                          <a:latin typeface="Calibri"/>
                        </a:rPr>
                        <a:t>, </a:t>
                      </a:r>
                      <a:endParaRPr lang="en-US" sz="2000" b="1" dirty="0">
                        <a:latin typeface="Calibri"/>
                      </a:endParaRPr>
                    </a:p>
                    <a:p>
                      <a:pPr lvl="0">
                        <a:buNone/>
                      </a:pPr>
                      <a:r>
                        <a:rPr lang="en-US" sz="2000" b="1" i="0" u="none" strike="noStrike" noProof="0" err="1">
                          <a:latin typeface="Calibri"/>
                        </a:rPr>
                        <a:t>doi</a:t>
                      </a:r>
                      <a:r>
                        <a:rPr lang="en-US" sz="2000" b="1" i="0" u="none" strike="noStrike" noProof="0" dirty="0">
                          <a:latin typeface="Calibri"/>
                        </a:rPr>
                        <a:t>, </a:t>
                      </a:r>
                      <a:r>
                        <a:rPr lang="en-US" sz="2000" b="1" i="0" u="none" strike="noStrike" noProof="0" err="1">
                          <a:latin typeface="Calibri"/>
                        </a:rPr>
                        <a:t>citedByCount</a:t>
                      </a:r>
                      <a:endParaRPr lang="en-US" sz="2000" b="1">
                        <a:latin typeface="Calibri"/>
                      </a:endParaRPr>
                    </a:p>
                  </a:txBody>
                  <a:tcPr/>
                </a:tc>
                <a:tc>
                  <a:txBody>
                    <a:bodyPr/>
                    <a:lstStyle/>
                    <a:p>
                      <a:pPr lvl="0">
                        <a:buNone/>
                      </a:pPr>
                      <a:r>
                        <a:rPr lang="en-US" sz="2000" b="1" i="0" u="none" strike="noStrike" noProof="0" dirty="0"/>
                        <a:t>Represents a published paper or research work authored by one or more authors.</a:t>
                      </a:r>
                      <a:endParaRPr lang="en-US" b="1" dirty="0"/>
                    </a:p>
                  </a:txBody>
                  <a:tcPr/>
                </a:tc>
                <a:extLst>
                  <a:ext uri="{0D108BD9-81ED-4DB2-BD59-A6C34878D82A}">
                    <a16:rowId xmlns:a16="http://schemas.microsoft.com/office/drawing/2014/main" val="3914396773"/>
                  </a:ext>
                </a:extLst>
              </a:tr>
            </a:tbl>
          </a:graphicData>
        </a:graphic>
      </p:graphicFrame>
      <p:sp>
        <p:nvSpPr>
          <p:cNvPr id="4" name="TextBox 3">
            <a:extLst>
              <a:ext uri="{FF2B5EF4-FFF2-40B4-BE49-F238E27FC236}">
                <a16:creationId xmlns:a16="http://schemas.microsoft.com/office/drawing/2014/main" id="{BF95A862-429A-6870-FF94-A57044451C31}"/>
              </a:ext>
            </a:extLst>
          </p:cNvPr>
          <p:cNvSpPr txBox="1"/>
          <p:nvPr/>
        </p:nvSpPr>
        <p:spPr>
          <a:xfrm>
            <a:off x="907626" y="6624319"/>
            <a:ext cx="1032256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solidFill>
                  <a:srgbClr val="FF0000"/>
                </a:solidFill>
                <a:ea typeface="Calibri"/>
                <a:cs typeface="Calibri"/>
              </a:rPr>
              <a:t>Relationship</a:t>
            </a:r>
            <a:r>
              <a:rPr lang="en-US" sz="2400" b="1" dirty="0">
                <a:ea typeface="Calibri"/>
                <a:cs typeface="Calibri"/>
              </a:rPr>
              <a:t>:  </a:t>
            </a:r>
            <a:r>
              <a:rPr lang="en-US" sz="2400" b="1" dirty="0">
                <a:ea typeface="+mn-lt"/>
                <a:cs typeface="+mn-lt"/>
              </a:rPr>
              <a:t>(:Author) -[:AUTHORED]-&gt; (:Work)</a:t>
            </a:r>
          </a:p>
        </p:txBody>
      </p:sp>
    </p:spTree>
    <p:extLst>
      <p:ext uri="{BB962C8B-B14F-4D97-AF65-F5344CB8AC3E}">
        <p14:creationId xmlns:p14="http://schemas.microsoft.com/office/powerpoint/2010/main" val="17029153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EDF92A-3E95-4410-AE62-A83CB072A4D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C3C48E1-4565-8009-48CF-DFB119BA5883}"/>
              </a:ext>
            </a:extLst>
          </p:cNvPr>
          <p:cNvSpPr/>
          <p:nvPr/>
        </p:nvSpPr>
        <p:spPr>
          <a:xfrm>
            <a:off x="2148343" y="1053784"/>
            <a:ext cx="9996368" cy="708779"/>
          </a:xfrm>
          <a:prstGeom prst="rect">
            <a:avLst/>
          </a:prstGeom>
          <a:noFill/>
          <a:ln/>
        </p:spPr>
        <p:txBody>
          <a:bodyPr wrap="none" lIns="0" tIns="0" rIns="0" bIns="0" rtlCol="0" anchor="t"/>
          <a:lstStyle/>
          <a:p>
            <a:pPr algn="ctr">
              <a:lnSpc>
                <a:spcPts val="5550"/>
              </a:lnSpc>
            </a:pPr>
            <a:endParaRPr lang="en-US" sz="4450" b="1">
              <a:solidFill>
                <a:srgbClr val="282824"/>
              </a:solidFill>
              <a:latin typeface="Lato Bold"/>
              <a:ea typeface="Lato Bold"/>
              <a:cs typeface="Lato Bold"/>
            </a:endParaRPr>
          </a:p>
        </p:txBody>
      </p:sp>
      <p:sp>
        <p:nvSpPr>
          <p:cNvPr id="6" name="Text 4">
            <a:extLst>
              <a:ext uri="{FF2B5EF4-FFF2-40B4-BE49-F238E27FC236}">
                <a16:creationId xmlns:a16="http://schemas.microsoft.com/office/drawing/2014/main" id="{788D5C6A-3563-5743-3FF2-AF9701091D07}"/>
              </a:ext>
            </a:extLst>
          </p:cNvPr>
          <p:cNvSpPr/>
          <p:nvPr/>
        </p:nvSpPr>
        <p:spPr>
          <a:xfrm>
            <a:off x="1020604" y="4705826"/>
            <a:ext cx="3742730" cy="1088708"/>
          </a:xfrm>
          <a:prstGeom prst="rect">
            <a:avLst/>
          </a:prstGeom>
          <a:noFill/>
          <a:ln/>
        </p:spPr>
        <p:txBody>
          <a:bodyPr wrap="square" lIns="0" tIns="0" rIns="0" bIns="0" rtlCol="0" anchor="t"/>
          <a:lstStyle/>
          <a:p>
            <a:endParaRPr lang="en-US" sz="2000">
              <a:ea typeface="Calibri"/>
              <a:cs typeface="Calibri"/>
            </a:endParaRPr>
          </a:p>
        </p:txBody>
      </p:sp>
      <p:sp>
        <p:nvSpPr>
          <p:cNvPr id="9" name="Text 7">
            <a:extLst>
              <a:ext uri="{FF2B5EF4-FFF2-40B4-BE49-F238E27FC236}">
                <a16:creationId xmlns:a16="http://schemas.microsoft.com/office/drawing/2014/main" id="{310315C4-6475-2F9C-FA80-9B2114AFCCE2}"/>
              </a:ext>
            </a:extLst>
          </p:cNvPr>
          <p:cNvSpPr/>
          <p:nvPr/>
        </p:nvSpPr>
        <p:spPr>
          <a:xfrm>
            <a:off x="5443776" y="4705826"/>
            <a:ext cx="3742730" cy="1088708"/>
          </a:xfrm>
          <a:prstGeom prst="rect">
            <a:avLst/>
          </a:prstGeom>
          <a:noFill/>
          <a:ln/>
        </p:spPr>
        <p:txBody>
          <a:bodyPr wrap="square" lIns="0" tIns="0" rIns="0" bIns="0" rtlCol="0" anchor="t"/>
          <a:lstStyle/>
          <a:p>
            <a:pPr marL="0" indent="0" algn="l">
              <a:lnSpc>
                <a:spcPts val="2850"/>
              </a:lnSpc>
              <a:buNone/>
            </a:pPr>
            <a:endParaRPr lang="en-US" sz="1750">
              <a:solidFill>
                <a:srgbClr val="4A4A45"/>
              </a:solidFill>
              <a:latin typeface="Lato"/>
              <a:ea typeface="Lato"/>
              <a:cs typeface="Lato"/>
            </a:endParaRPr>
          </a:p>
        </p:txBody>
      </p:sp>
      <p:sp>
        <p:nvSpPr>
          <p:cNvPr id="11" name="Text 9">
            <a:extLst>
              <a:ext uri="{FF2B5EF4-FFF2-40B4-BE49-F238E27FC236}">
                <a16:creationId xmlns:a16="http://schemas.microsoft.com/office/drawing/2014/main" id="{2ECC7D92-F48D-579B-E87D-97EF78F04C54}"/>
              </a:ext>
            </a:extLst>
          </p:cNvPr>
          <p:cNvSpPr/>
          <p:nvPr/>
        </p:nvSpPr>
        <p:spPr>
          <a:xfrm>
            <a:off x="9866948" y="4215408"/>
            <a:ext cx="2991445" cy="354330"/>
          </a:xfrm>
          <a:prstGeom prst="rect">
            <a:avLst/>
          </a:prstGeom>
          <a:noFill/>
          <a:ln/>
        </p:spPr>
        <p:txBody>
          <a:bodyPr wrap="none" lIns="0" tIns="0" rIns="0" bIns="0" rtlCol="0" anchor="t"/>
          <a:lstStyle/>
          <a:p>
            <a:pPr marL="0" indent="0" algn="l">
              <a:lnSpc>
                <a:spcPts val="2750"/>
              </a:lnSpc>
              <a:buNone/>
            </a:pPr>
            <a:endParaRPr lang="en-US" sz="2200" b="1">
              <a:solidFill>
                <a:srgbClr val="4A4A45"/>
              </a:solidFill>
              <a:latin typeface="Lato Bold"/>
              <a:ea typeface="Lato Bold"/>
              <a:cs typeface="Lato Bold"/>
            </a:endParaRPr>
          </a:p>
        </p:txBody>
      </p:sp>
      <p:sp>
        <p:nvSpPr>
          <p:cNvPr id="12" name="Text 10">
            <a:extLst>
              <a:ext uri="{FF2B5EF4-FFF2-40B4-BE49-F238E27FC236}">
                <a16:creationId xmlns:a16="http://schemas.microsoft.com/office/drawing/2014/main" id="{EBB3737F-42DA-AB45-22E2-1D7493C7F53A}"/>
              </a:ext>
            </a:extLst>
          </p:cNvPr>
          <p:cNvSpPr/>
          <p:nvPr/>
        </p:nvSpPr>
        <p:spPr>
          <a:xfrm>
            <a:off x="9866948" y="4705826"/>
            <a:ext cx="3742730" cy="1088708"/>
          </a:xfrm>
          <a:prstGeom prst="rect">
            <a:avLst/>
          </a:prstGeom>
          <a:noFill/>
          <a:ln/>
        </p:spPr>
        <p:txBody>
          <a:bodyPr wrap="square" lIns="0" tIns="0" rIns="0" bIns="0" rtlCol="0" anchor="t"/>
          <a:lstStyle/>
          <a:p>
            <a:pPr marL="0" indent="0" algn="l">
              <a:lnSpc>
                <a:spcPts val="2850"/>
              </a:lnSpc>
              <a:buNone/>
            </a:pPr>
            <a:endParaRPr lang="en-US" sz="1750">
              <a:solidFill>
                <a:srgbClr val="4A4A45"/>
              </a:solidFill>
              <a:latin typeface="Lato"/>
              <a:ea typeface="Lato"/>
              <a:cs typeface="Lato"/>
            </a:endParaRPr>
          </a:p>
        </p:txBody>
      </p:sp>
      <p:sp>
        <p:nvSpPr>
          <p:cNvPr id="14" name="Rectangle 13">
            <a:extLst>
              <a:ext uri="{FF2B5EF4-FFF2-40B4-BE49-F238E27FC236}">
                <a16:creationId xmlns:a16="http://schemas.microsoft.com/office/drawing/2014/main" id="{9604218C-49E4-A78D-01D5-E8094A395CC8}"/>
              </a:ext>
            </a:extLst>
          </p:cNvPr>
          <p:cNvSpPr/>
          <p:nvPr/>
        </p:nvSpPr>
        <p:spPr>
          <a:xfrm>
            <a:off x="11251477" y="7145944"/>
            <a:ext cx="3462689" cy="108586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diagram of a process&#10;&#10;AI-generated content may be incorrect.">
            <a:extLst>
              <a:ext uri="{FF2B5EF4-FFF2-40B4-BE49-F238E27FC236}">
                <a16:creationId xmlns:a16="http://schemas.microsoft.com/office/drawing/2014/main" id="{825684DE-BF6E-2ED4-5B16-745AC425A222}"/>
              </a:ext>
            </a:extLst>
          </p:cNvPr>
          <p:cNvPicPr>
            <a:picLocks noChangeAspect="1"/>
          </p:cNvPicPr>
          <p:nvPr/>
        </p:nvPicPr>
        <p:blipFill>
          <a:blip r:embed="rId3"/>
          <a:stretch>
            <a:fillRect/>
          </a:stretch>
        </p:blipFill>
        <p:spPr>
          <a:xfrm>
            <a:off x="392635" y="1005107"/>
            <a:ext cx="13842434" cy="7130702"/>
          </a:xfrm>
          <a:prstGeom prst="rect">
            <a:avLst/>
          </a:prstGeom>
        </p:spPr>
      </p:pic>
      <p:sp>
        <p:nvSpPr>
          <p:cNvPr id="15" name="Text 0">
            <a:extLst>
              <a:ext uri="{FF2B5EF4-FFF2-40B4-BE49-F238E27FC236}">
                <a16:creationId xmlns:a16="http://schemas.microsoft.com/office/drawing/2014/main" id="{12C16363-6995-6C41-C5C0-94AFA0B270D3}"/>
              </a:ext>
            </a:extLst>
          </p:cNvPr>
          <p:cNvSpPr/>
          <p:nvPr/>
        </p:nvSpPr>
        <p:spPr>
          <a:xfrm>
            <a:off x="4061305" y="135274"/>
            <a:ext cx="5127143" cy="516208"/>
          </a:xfrm>
          <a:prstGeom prst="rect">
            <a:avLst/>
          </a:prstGeom>
          <a:noFill/>
          <a:ln/>
        </p:spPr>
        <p:txBody>
          <a:bodyPr wrap="none" lIns="0" tIns="0" rIns="0" bIns="0" rtlCol="0" anchor="t"/>
          <a:lstStyle/>
          <a:p>
            <a:pPr algn="ctr">
              <a:lnSpc>
                <a:spcPts val="4300"/>
              </a:lnSpc>
            </a:pPr>
            <a:r>
              <a:rPr lang="en-US" sz="4450" b="1">
                <a:solidFill>
                  <a:srgbClr val="282824"/>
                </a:solidFill>
                <a:latin typeface="Lato Bold"/>
                <a:ea typeface="Lato Bold"/>
                <a:cs typeface="Lato Bold"/>
              </a:rPr>
              <a:t>Implementation Workflow </a:t>
            </a:r>
          </a:p>
        </p:txBody>
      </p:sp>
      <p:cxnSp>
        <p:nvCxnSpPr>
          <p:cNvPr id="4" name="Straight Arrow Connector 3">
            <a:extLst>
              <a:ext uri="{FF2B5EF4-FFF2-40B4-BE49-F238E27FC236}">
                <a16:creationId xmlns:a16="http://schemas.microsoft.com/office/drawing/2014/main" id="{4536C4C2-08FD-EEE1-01A2-6EE1378F4A92}"/>
              </a:ext>
            </a:extLst>
          </p:cNvPr>
          <p:cNvCxnSpPr/>
          <p:nvPr/>
        </p:nvCxnSpPr>
        <p:spPr>
          <a:xfrm>
            <a:off x="6471138" y="4979962"/>
            <a:ext cx="230710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8CB37FF6-09D0-9639-7FEA-67F1108C8BF8}"/>
              </a:ext>
            </a:extLst>
          </p:cNvPr>
          <p:cNvCxnSpPr/>
          <p:nvPr/>
        </p:nvCxnSpPr>
        <p:spPr>
          <a:xfrm flipV="1">
            <a:off x="6471136" y="5261317"/>
            <a:ext cx="2300069" cy="7033"/>
          </a:xfrm>
          <a:prstGeom prst="straightConnector1">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08850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477A9-5790-01D4-07E3-9E8695B722DA}"/>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1D8BFFA9-B801-3370-CF77-0BEAAFC14B70}"/>
              </a:ext>
            </a:extLst>
          </p:cNvPr>
          <p:cNvSpPr/>
          <p:nvPr/>
        </p:nvSpPr>
        <p:spPr>
          <a:xfrm>
            <a:off x="936462" y="1952270"/>
            <a:ext cx="12873431" cy="664398"/>
          </a:xfrm>
          <a:prstGeom prst="roundRect">
            <a:avLst>
              <a:gd name="adj" fmla="val 26781"/>
            </a:avLst>
          </a:prstGeom>
          <a:solidFill>
            <a:srgbClr val="E5DFD2"/>
          </a:solidFill>
          <a:ln/>
        </p:spPr>
      </p:sp>
      <p:sp>
        <p:nvSpPr>
          <p:cNvPr id="5" name="Text 3">
            <a:extLst>
              <a:ext uri="{FF2B5EF4-FFF2-40B4-BE49-F238E27FC236}">
                <a16:creationId xmlns:a16="http://schemas.microsoft.com/office/drawing/2014/main" id="{77550860-D21E-4C7F-4B24-C3A7D246E3F2}"/>
              </a:ext>
            </a:extLst>
          </p:cNvPr>
          <p:cNvSpPr/>
          <p:nvPr/>
        </p:nvSpPr>
        <p:spPr>
          <a:xfrm>
            <a:off x="1312434" y="2055867"/>
            <a:ext cx="7311106" cy="224628"/>
          </a:xfrm>
          <a:prstGeom prst="rect">
            <a:avLst/>
          </a:prstGeom>
          <a:noFill/>
          <a:ln/>
        </p:spPr>
        <p:txBody>
          <a:bodyPr wrap="none" lIns="0" tIns="0" rIns="0" bIns="0" rtlCol="0" anchor="t"/>
          <a:lstStyle/>
          <a:p>
            <a:pPr>
              <a:lnSpc>
                <a:spcPts val="2750"/>
              </a:lnSpc>
            </a:pPr>
            <a:r>
              <a:rPr lang="en-US" sz="2000" b="1">
                <a:solidFill>
                  <a:srgbClr val="4A4A45"/>
                </a:solidFill>
                <a:ea typeface="+mn-lt"/>
                <a:cs typeface="+mn-lt"/>
              </a:rPr>
              <a:t> Data Scraping: Scrape metadata from open research sources </a:t>
            </a:r>
            <a:endParaRPr lang="en-US" sz="2000" b="1">
              <a:solidFill>
                <a:srgbClr val="4A4A45"/>
              </a:solidFill>
              <a:ea typeface="Calibri"/>
              <a:cs typeface="Calibri"/>
            </a:endParaRPr>
          </a:p>
        </p:txBody>
      </p:sp>
      <p:sp>
        <p:nvSpPr>
          <p:cNvPr id="14" name="Rectangle 13">
            <a:extLst>
              <a:ext uri="{FF2B5EF4-FFF2-40B4-BE49-F238E27FC236}">
                <a16:creationId xmlns:a16="http://schemas.microsoft.com/office/drawing/2014/main" id="{48651159-A69C-AB8E-BB8A-C00E401051E4}"/>
              </a:ext>
            </a:extLst>
          </p:cNvPr>
          <p:cNvSpPr/>
          <p:nvPr/>
        </p:nvSpPr>
        <p:spPr>
          <a:xfrm>
            <a:off x="11251477" y="7145944"/>
            <a:ext cx="3462689" cy="108586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 0">
            <a:extLst>
              <a:ext uri="{FF2B5EF4-FFF2-40B4-BE49-F238E27FC236}">
                <a16:creationId xmlns:a16="http://schemas.microsoft.com/office/drawing/2014/main" id="{93AC6BAA-E8A8-3B6C-4662-23B9A996A6BC}"/>
              </a:ext>
            </a:extLst>
          </p:cNvPr>
          <p:cNvSpPr/>
          <p:nvPr/>
        </p:nvSpPr>
        <p:spPr>
          <a:xfrm>
            <a:off x="1882454" y="917596"/>
            <a:ext cx="9996368" cy="708779"/>
          </a:xfrm>
          <a:prstGeom prst="rect">
            <a:avLst/>
          </a:prstGeom>
          <a:noFill/>
          <a:ln/>
        </p:spPr>
        <p:txBody>
          <a:bodyPr wrap="none" lIns="0" tIns="0" rIns="0" bIns="0" rtlCol="0" anchor="t"/>
          <a:lstStyle/>
          <a:p>
            <a:pPr algn="ctr">
              <a:lnSpc>
                <a:spcPts val="5550"/>
              </a:lnSpc>
            </a:pPr>
            <a:r>
              <a:rPr lang="en-US" sz="4450" b="1">
                <a:solidFill>
                  <a:srgbClr val="282824"/>
                </a:solidFill>
                <a:latin typeface="Lato Bold"/>
                <a:ea typeface="Lato Bold"/>
                <a:cs typeface="Lato Bold"/>
              </a:rPr>
              <a:t>Current Status</a:t>
            </a:r>
          </a:p>
        </p:txBody>
      </p:sp>
      <p:sp>
        <p:nvSpPr>
          <p:cNvPr id="20" name="Shape 2">
            <a:extLst>
              <a:ext uri="{FF2B5EF4-FFF2-40B4-BE49-F238E27FC236}">
                <a16:creationId xmlns:a16="http://schemas.microsoft.com/office/drawing/2014/main" id="{D9F17409-297E-EC18-38EC-6BCF84ED58FC}"/>
              </a:ext>
            </a:extLst>
          </p:cNvPr>
          <p:cNvSpPr/>
          <p:nvPr/>
        </p:nvSpPr>
        <p:spPr>
          <a:xfrm>
            <a:off x="936462" y="2743452"/>
            <a:ext cx="12873431" cy="664398"/>
          </a:xfrm>
          <a:prstGeom prst="roundRect">
            <a:avLst>
              <a:gd name="adj" fmla="val 26781"/>
            </a:avLst>
          </a:prstGeom>
          <a:solidFill>
            <a:srgbClr val="E5DFD2"/>
          </a:solidFill>
          <a:ln/>
        </p:spPr>
      </p:sp>
      <p:sp>
        <p:nvSpPr>
          <p:cNvPr id="21" name="Text 3">
            <a:extLst>
              <a:ext uri="{FF2B5EF4-FFF2-40B4-BE49-F238E27FC236}">
                <a16:creationId xmlns:a16="http://schemas.microsoft.com/office/drawing/2014/main" id="{6E9B6AD6-2C6E-6F82-E5F4-40A0784C59A9}"/>
              </a:ext>
            </a:extLst>
          </p:cNvPr>
          <p:cNvSpPr/>
          <p:nvPr/>
        </p:nvSpPr>
        <p:spPr>
          <a:xfrm>
            <a:off x="1312434" y="2937841"/>
            <a:ext cx="9574407" cy="270024"/>
          </a:xfrm>
          <a:prstGeom prst="rect">
            <a:avLst/>
          </a:prstGeom>
          <a:noFill/>
          <a:ln/>
        </p:spPr>
        <p:txBody>
          <a:bodyPr wrap="none" lIns="0" tIns="0" rIns="0" bIns="0" rtlCol="0" anchor="t"/>
          <a:lstStyle/>
          <a:p>
            <a:r>
              <a:rPr lang="en-US" sz="2000" b="1">
                <a:solidFill>
                  <a:srgbClr val="4A4A45"/>
                </a:solidFill>
                <a:latin typeface="Calibri"/>
                <a:ea typeface="+mn-lt"/>
                <a:cs typeface="+mn-lt"/>
              </a:rPr>
              <a:t>Graph Construction: Author -&gt; </a:t>
            </a:r>
            <a:r>
              <a:rPr lang="en-US" sz="2000" b="1">
                <a:solidFill>
                  <a:schemeClr val="tx1">
                    <a:lumMod val="76000"/>
                    <a:lumOff val="24000"/>
                  </a:schemeClr>
                </a:solidFill>
                <a:latin typeface="Calibri"/>
                <a:ea typeface="+mn-lt"/>
                <a:cs typeface="+mn-lt"/>
              </a:rPr>
              <a:t>Paper (no co-author relationship(2 hops))</a:t>
            </a:r>
            <a:endParaRPr lang="en-US" sz="2000">
              <a:solidFill>
                <a:schemeClr val="tx1">
                  <a:lumMod val="76000"/>
                  <a:lumOff val="24000"/>
                </a:schemeClr>
              </a:solidFill>
              <a:ea typeface="+mn-lt"/>
              <a:cs typeface="+mn-lt"/>
            </a:endParaRPr>
          </a:p>
          <a:p>
            <a:pPr>
              <a:lnSpc>
                <a:spcPts val="2750"/>
              </a:lnSpc>
            </a:pPr>
            <a:endParaRPr lang="en-US" sz="2000" b="1">
              <a:solidFill>
                <a:schemeClr val="tx1">
                  <a:lumMod val="65000"/>
                  <a:lumOff val="35000"/>
                </a:schemeClr>
              </a:solidFill>
              <a:ea typeface="Calibri"/>
              <a:cs typeface="Calibri"/>
            </a:endParaRPr>
          </a:p>
        </p:txBody>
      </p:sp>
      <p:sp>
        <p:nvSpPr>
          <p:cNvPr id="22" name="Shape 2">
            <a:extLst>
              <a:ext uri="{FF2B5EF4-FFF2-40B4-BE49-F238E27FC236}">
                <a16:creationId xmlns:a16="http://schemas.microsoft.com/office/drawing/2014/main" id="{A6CD4AE2-2F5D-E563-9D37-31F9F2DAB325}"/>
              </a:ext>
            </a:extLst>
          </p:cNvPr>
          <p:cNvSpPr/>
          <p:nvPr/>
        </p:nvSpPr>
        <p:spPr>
          <a:xfrm>
            <a:off x="936462" y="3554090"/>
            <a:ext cx="12873431" cy="664398"/>
          </a:xfrm>
          <a:prstGeom prst="roundRect">
            <a:avLst>
              <a:gd name="adj" fmla="val 26781"/>
            </a:avLst>
          </a:prstGeom>
          <a:solidFill>
            <a:srgbClr val="E5DFD2"/>
          </a:solidFill>
          <a:ln/>
        </p:spPr>
      </p:sp>
      <p:sp>
        <p:nvSpPr>
          <p:cNvPr id="23" name="Shape 2">
            <a:extLst>
              <a:ext uri="{FF2B5EF4-FFF2-40B4-BE49-F238E27FC236}">
                <a16:creationId xmlns:a16="http://schemas.microsoft.com/office/drawing/2014/main" id="{BCF1FDF1-5F86-6534-E9E0-7FD1DBFC2693}"/>
              </a:ext>
            </a:extLst>
          </p:cNvPr>
          <p:cNvSpPr/>
          <p:nvPr/>
        </p:nvSpPr>
        <p:spPr>
          <a:xfrm>
            <a:off x="936461" y="4325818"/>
            <a:ext cx="12873431" cy="664398"/>
          </a:xfrm>
          <a:prstGeom prst="roundRect">
            <a:avLst>
              <a:gd name="adj" fmla="val 26781"/>
            </a:avLst>
          </a:prstGeom>
          <a:solidFill>
            <a:srgbClr val="E5DFD2"/>
          </a:solidFill>
          <a:ln/>
        </p:spPr>
      </p:sp>
      <p:sp>
        <p:nvSpPr>
          <p:cNvPr id="24" name="Text 3">
            <a:extLst>
              <a:ext uri="{FF2B5EF4-FFF2-40B4-BE49-F238E27FC236}">
                <a16:creationId xmlns:a16="http://schemas.microsoft.com/office/drawing/2014/main" id="{7818A1CF-D995-C3F6-DEC2-E85C148ADCAA}"/>
              </a:ext>
            </a:extLst>
          </p:cNvPr>
          <p:cNvSpPr/>
          <p:nvPr/>
        </p:nvSpPr>
        <p:spPr>
          <a:xfrm>
            <a:off x="1312434" y="3553926"/>
            <a:ext cx="7311106" cy="224628"/>
          </a:xfrm>
          <a:prstGeom prst="rect">
            <a:avLst/>
          </a:prstGeom>
          <a:noFill/>
          <a:ln/>
        </p:spPr>
        <p:txBody>
          <a:bodyPr wrap="none" lIns="0" tIns="0" rIns="0" bIns="0" rtlCol="0" anchor="t"/>
          <a:lstStyle/>
          <a:p>
            <a:pPr>
              <a:lnSpc>
                <a:spcPts val="2750"/>
              </a:lnSpc>
            </a:pPr>
            <a:r>
              <a:rPr lang="en-US" sz="2000" b="1">
                <a:solidFill>
                  <a:srgbClr val="4A4A45"/>
                </a:solidFill>
                <a:ea typeface="+mn-lt"/>
                <a:cs typeface="+mn-lt"/>
              </a:rPr>
              <a:t> </a:t>
            </a:r>
            <a:endParaRPr lang="en-US" sz="2000" b="1">
              <a:solidFill>
                <a:srgbClr val="4A4A45"/>
              </a:solidFill>
              <a:ea typeface="Calibri"/>
              <a:cs typeface="Calibri"/>
            </a:endParaRPr>
          </a:p>
        </p:txBody>
      </p:sp>
      <p:sp>
        <p:nvSpPr>
          <p:cNvPr id="28" name="Text 3">
            <a:extLst>
              <a:ext uri="{FF2B5EF4-FFF2-40B4-BE49-F238E27FC236}">
                <a16:creationId xmlns:a16="http://schemas.microsoft.com/office/drawing/2014/main" id="{6381D31E-8AC7-9B2D-E036-03DCEBE8F40B}"/>
              </a:ext>
            </a:extLst>
          </p:cNvPr>
          <p:cNvSpPr/>
          <p:nvPr/>
        </p:nvSpPr>
        <p:spPr>
          <a:xfrm>
            <a:off x="1312433" y="4442386"/>
            <a:ext cx="9353914" cy="211658"/>
          </a:xfrm>
          <a:prstGeom prst="rect">
            <a:avLst/>
          </a:prstGeom>
          <a:noFill/>
          <a:ln/>
        </p:spPr>
        <p:txBody>
          <a:bodyPr wrap="none" lIns="0" tIns="0" rIns="0" bIns="0" rtlCol="0" anchor="t"/>
          <a:lstStyle/>
          <a:p>
            <a:pPr>
              <a:lnSpc>
                <a:spcPts val="2750"/>
              </a:lnSpc>
            </a:pPr>
            <a:r>
              <a:rPr lang="en-US" sz="2000" b="1">
                <a:solidFill>
                  <a:srgbClr val="4A4A45"/>
                </a:solidFill>
                <a:ea typeface="+mn-lt"/>
                <a:cs typeface="+mn-lt"/>
              </a:rPr>
              <a:t>Visualization: Search and explore by filters</a:t>
            </a:r>
            <a:r>
              <a:rPr lang="en-US" sz="2000">
                <a:solidFill>
                  <a:srgbClr val="4A4A45"/>
                </a:solidFill>
                <a:ea typeface="+mn-lt"/>
                <a:cs typeface="+mn-lt"/>
              </a:rPr>
              <a:t> .</a:t>
            </a:r>
            <a:r>
              <a:rPr lang="en-US" sz="2000" b="1">
                <a:solidFill>
                  <a:srgbClr val="4A4A45"/>
                </a:solidFill>
                <a:ea typeface="+mn-lt"/>
                <a:cs typeface="+mn-lt"/>
              </a:rPr>
              <a:t> </a:t>
            </a:r>
            <a:endParaRPr lang="en-US" sz="2000" b="1">
              <a:solidFill>
                <a:srgbClr val="4A4A45"/>
              </a:solidFill>
              <a:ea typeface="Calibri"/>
              <a:cs typeface="Calibri"/>
            </a:endParaRPr>
          </a:p>
        </p:txBody>
      </p:sp>
      <p:sp>
        <p:nvSpPr>
          <p:cNvPr id="29" name="Shape 2">
            <a:extLst>
              <a:ext uri="{FF2B5EF4-FFF2-40B4-BE49-F238E27FC236}">
                <a16:creationId xmlns:a16="http://schemas.microsoft.com/office/drawing/2014/main" id="{293029B7-5C22-B5E8-58BF-7FB81D1F2AD3}"/>
              </a:ext>
            </a:extLst>
          </p:cNvPr>
          <p:cNvSpPr/>
          <p:nvPr/>
        </p:nvSpPr>
        <p:spPr>
          <a:xfrm>
            <a:off x="936461" y="5175366"/>
            <a:ext cx="12873431" cy="664398"/>
          </a:xfrm>
          <a:prstGeom prst="roundRect">
            <a:avLst>
              <a:gd name="adj" fmla="val 26781"/>
            </a:avLst>
          </a:prstGeom>
          <a:solidFill>
            <a:srgbClr val="E5DFD2"/>
          </a:solidFill>
          <a:ln/>
        </p:spPr>
      </p:sp>
      <p:sp>
        <p:nvSpPr>
          <p:cNvPr id="30" name="Text 3">
            <a:extLst>
              <a:ext uri="{FF2B5EF4-FFF2-40B4-BE49-F238E27FC236}">
                <a16:creationId xmlns:a16="http://schemas.microsoft.com/office/drawing/2014/main" id="{36658153-FCFF-2D86-7219-DD2EF5D59571}"/>
              </a:ext>
            </a:extLst>
          </p:cNvPr>
          <p:cNvSpPr/>
          <p:nvPr/>
        </p:nvSpPr>
        <p:spPr>
          <a:xfrm>
            <a:off x="1312433" y="5278964"/>
            <a:ext cx="7311106" cy="224628"/>
          </a:xfrm>
          <a:prstGeom prst="rect">
            <a:avLst/>
          </a:prstGeom>
          <a:noFill/>
          <a:ln/>
        </p:spPr>
        <p:txBody>
          <a:bodyPr wrap="none" lIns="0" tIns="0" rIns="0" bIns="0" rtlCol="0" anchor="t"/>
          <a:lstStyle/>
          <a:p>
            <a:pPr>
              <a:lnSpc>
                <a:spcPts val="2750"/>
              </a:lnSpc>
            </a:pPr>
            <a:r>
              <a:rPr lang="en-US" sz="2000" b="1">
                <a:solidFill>
                  <a:srgbClr val="4A4A45"/>
                </a:solidFill>
                <a:ea typeface="Calibri"/>
                <a:cs typeface="Calibri"/>
              </a:rPr>
              <a:t>Paper Summarization: LLM based summary of paper.</a:t>
            </a:r>
          </a:p>
        </p:txBody>
      </p:sp>
      <p:sp>
        <p:nvSpPr>
          <p:cNvPr id="31" name="Shape 2">
            <a:extLst>
              <a:ext uri="{FF2B5EF4-FFF2-40B4-BE49-F238E27FC236}">
                <a16:creationId xmlns:a16="http://schemas.microsoft.com/office/drawing/2014/main" id="{2B117030-BA0B-CCA6-81BF-65770A075D10}"/>
              </a:ext>
            </a:extLst>
          </p:cNvPr>
          <p:cNvSpPr/>
          <p:nvPr/>
        </p:nvSpPr>
        <p:spPr>
          <a:xfrm>
            <a:off x="936462" y="6096252"/>
            <a:ext cx="12873431" cy="664398"/>
          </a:xfrm>
          <a:prstGeom prst="roundRect">
            <a:avLst>
              <a:gd name="adj" fmla="val 26781"/>
            </a:avLst>
          </a:prstGeom>
          <a:solidFill>
            <a:srgbClr val="E5DFD2"/>
          </a:solidFill>
          <a:ln/>
        </p:spPr>
      </p:sp>
      <p:sp>
        <p:nvSpPr>
          <p:cNvPr id="32" name="Text 3">
            <a:extLst>
              <a:ext uri="{FF2B5EF4-FFF2-40B4-BE49-F238E27FC236}">
                <a16:creationId xmlns:a16="http://schemas.microsoft.com/office/drawing/2014/main" id="{6E429677-EEF6-D28B-65AA-F846442335F6}"/>
              </a:ext>
            </a:extLst>
          </p:cNvPr>
          <p:cNvSpPr/>
          <p:nvPr/>
        </p:nvSpPr>
        <p:spPr>
          <a:xfrm>
            <a:off x="1312433" y="3670657"/>
            <a:ext cx="7311106" cy="224628"/>
          </a:xfrm>
          <a:prstGeom prst="rect">
            <a:avLst/>
          </a:prstGeom>
          <a:noFill/>
          <a:ln/>
        </p:spPr>
        <p:txBody>
          <a:bodyPr wrap="none" lIns="0" tIns="0" rIns="0" bIns="0" rtlCol="0" anchor="t"/>
          <a:lstStyle/>
          <a:p>
            <a:pPr>
              <a:lnSpc>
                <a:spcPts val="2750"/>
              </a:lnSpc>
            </a:pPr>
            <a:r>
              <a:rPr lang="en-US" sz="2000" b="1">
                <a:solidFill>
                  <a:srgbClr val="4A4A45"/>
                </a:solidFill>
                <a:ea typeface="Calibri"/>
                <a:cs typeface="Calibri"/>
              </a:rPr>
              <a:t>Frontend: Search professor by name.</a:t>
            </a:r>
          </a:p>
        </p:txBody>
      </p:sp>
      <p:sp>
        <p:nvSpPr>
          <p:cNvPr id="33" name="Text 3">
            <a:extLst>
              <a:ext uri="{FF2B5EF4-FFF2-40B4-BE49-F238E27FC236}">
                <a16:creationId xmlns:a16="http://schemas.microsoft.com/office/drawing/2014/main" id="{12FDA37E-958D-4C1C-AED5-4EB050326E3C}"/>
              </a:ext>
            </a:extLst>
          </p:cNvPr>
          <p:cNvSpPr/>
          <p:nvPr/>
        </p:nvSpPr>
        <p:spPr>
          <a:xfrm>
            <a:off x="1312432" y="6199848"/>
            <a:ext cx="7311106" cy="224628"/>
          </a:xfrm>
          <a:prstGeom prst="rect">
            <a:avLst/>
          </a:prstGeom>
          <a:noFill/>
          <a:ln/>
        </p:spPr>
        <p:txBody>
          <a:bodyPr wrap="none" lIns="0" tIns="0" rIns="0" bIns="0" rtlCol="0" anchor="t"/>
          <a:lstStyle/>
          <a:p>
            <a:pPr>
              <a:lnSpc>
                <a:spcPts val="2750"/>
              </a:lnSpc>
            </a:pPr>
            <a:r>
              <a:rPr lang="en-US" sz="2000" b="1">
                <a:solidFill>
                  <a:srgbClr val="4A4A45"/>
                </a:solidFill>
                <a:ea typeface="Calibri"/>
                <a:cs typeface="Calibri"/>
              </a:rPr>
              <a:t>Faculty Summarization: LLM based summary of faculty profile.</a:t>
            </a:r>
            <a:endParaRPr lang="en-US"/>
          </a:p>
        </p:txBody>
      </p:sp>
      <p:pic>
        <p:nvPicPr>
          <p:cNvPr id="2" name="Graphic 1" descr="Checkmark with solid fill">
            <a:extLst>
              <a:ext uri="{FF2B5EF4-FFF2-40B4-BE49-F238E27FC236}">
                <a16:creationId xmlns:a16="http://schemas.microsoft.com/office/drawing/2014/main" id="{4C8CEB68-6515-B27C-E88E-46A74B40A4B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8553" y="1575581"/>
            <a:ext cx="682284" cy="703385"/>
          </a:xfrm>
          <a:prstGeom prst="rect">
            <a:avLst/>
          </a:prstGeom>
        </p:spPr>
      </p:pic>
      <p:pic>
        <p:nvPicPr>
          <p:cNvPr id="6" name="Graphic 5" descr="Harvey Balls 50% with solid fill">
            <a:extLst>
              <a:ext uri="{FF2B5EF4-FFF2-40B4-BE49-F238E27FC236}">
                <a16:creationId xmlns:a16="http://schemas.microsoft.com/office/drawing/2014/main" id="{5DD4357E-7DA4-3E28-DDB2-BB5A56196FD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18979" y="4114799"/>
            <a:ext cx="647114" cy="696351"/>
          </a:xfrm>
          <a:prstGeom prst="rect">
            <a:avLst/>
          </a:prstGeom>
        </p:spPr>
      </p:pic>
      <p:pic>
        <p:nvPicPr>
          <p:cNvPr id="8" name="Graphic 7" descr="Harvey Balls 50% with solid fill">
            <a:extLst>
              <a:ext uri="{FF2B5EF4-FFF2-40B4-BE49-F238E27FC236}">
                <a16:creationId xmlns:a16="http://schemas.microsoft.com/office/drawing/2014/main" id="{C83B7A7D-8347-43B5-312D-AE294A8B276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4910" y="2511081"/>
            <a:ext cx="647114" cy="696351"/>
          </a:xfrm>
          <a:prstGeom prst="rect">
            <a:avLst/>
          </a:prstGeom>
        </p:spPr>
      </p:pic>
      <p:pic>
        <p:nvPicPr>
          <p:cNvPr id="9" name="Graphic 8" descr="Checkmark with solid fill">
            <a:extLst>
              <a:ext uri="{FF2B5EF4-FFF2-40B4-BE49-F238E27FC236}">
                <a16:creationId xmlns:a16="http://schemas.microsoft.com/office/drawing/2014/main" id="{2C4F1EC7-3208-5408-B7E9-8DB54C292DA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3044" y="5845125"/>
            <a:ext cx="682284" cy="703385"/>
          </a:xfrm>
          <a:prstGeom prst="rect">
            <a:avLst/>
          </a:prstGeom>
        </p:spPr>
      </p:pic>
      <p:pic>
        <p:nvPicPr>
          <p:cNvPr id="11" name="Graphic 10" descr="Checkmark with solid fill">
            <a:extLst>
              <a:ext uri="{FF2B5EF4-FFF2-40B4-BE49-F238E27FC236}">
                <a16:creationId xmlns:a16="http://schemas.microsoft.com/office/drawing/2014/main" id="{27BFE729-8FC8-7FE6-ACD1-0966E24D6FF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83808" y="3312940"/>
            <a:ext cx="682284" cy="703385"/>
          </a:xfrm>
          <a:prstGeom prst="rect">
            <a:avLst/>
          </a:prstGeom>
        </p:spPr>
      </p:pic>
      <p:sp>
        <p:nvSpPr>
          <p:cNvPr id="12" name="Shape 2">
            <a:extLst>
              <a:ext uri="{FF2B5EF4-FFF2-40B4-BE49-F238E27FC236}">
                <a16:creationId xmlns:a16="http://schemas.microsoft.com/office/drawing/2014/main" id="{4E954282-C3DE-2C8C-C3BB-F6D160B8E6A8}"/>
              </a:ext>
            </a:extLst>
          </p:cNvPr>
          <p:cNvSpPr/>
          <p:nvPr/>
        </p:nvSpPr>
        <p:spPr>
          <a:xfrm>
            <a:off x="936462" y="6919861"/>
            <a:ext cx="12873431" cy="664398"/>
          </a:xfrm>
          <a:prstGeom prst="roundRect">
            <a:avLst>
              <a:gd name="adj" fmla="val 26781"/>
            </a:avLst>
          </a:prstGeom>
          <a:solidFill>
            <a:srgbClr val="E5DFD2"/>
          </a:solidFill>
          <a:ln/>
        </p:spPr>
      </p:sp>
      <p:sp>
        <p:nvSpPr>
          <p:cNvPr id="15" name="Text 3">
            <a:extLst>
              <a:ext uri="{FF2B5EF4-FFF2-40B4-BE49-F238E27FC236}">
                <a16:creationId xmlns:a16="http://schemas.microsoft.com/office/drawing/2014/main" id="{96EBE271-A337-2A97-9301-036556F779C0}"/>
              </a:ext>
            </a:extLst>
          </p:cNvPr>
          <p:cNvSpPr/>
          <p:nvPr/>
        </p:nvSpPr>
        <p:spPr>
          <a:xfrm>
            <a:off x="1299462" y="7023457"/>
            <a:ext cx="7311106" cy="224628"/>
          </a:xfrm>
          <a:prstGeom prst="rect">
            <a:avLst/>
          </a:prstGeom>
          <a:noFill/>
          <a:ln/>
        </p:spPr>
        <p:txBody>
          <a:bodyPr wrap="none" lIns="0" tIns="0" rIns="0" bIns="0" rtlCol="0" anchor="t"/>
          <a:lstStyle/>
          <a:p>
            <a:pPr>
              <a:lnSpc>
                <a:spcPts val="2750"/>
              </a:lnSpc>
            </a:pPr>
            <a:r>
              <a:rPr lang="en-US" sz="2000" b="1">
                <a:solidFill>
                  <a:srgbClr val="4A4A45"/>
                </a:solidFill>
                <a:ea typeface="Calibri"/>
                <a:cs typeface="Calibri"/>
              </a:rPr>
              <a:t>Create Docker container for microservices.</a:t>
            </a:r>
          </a:p>
        </p:txBody>
      </p:sp>
      <p:pic>
        <p:nvPicPr>
          <p:cNvPr id="16" name="Graphic 15" descr="Checkmark with solid fill">
            <a:extLst>
              <a:ext uri="{FF2B5EF4-FFF2-40B4-BE49-F238E27FC236}">
                <a16:creationId xmlns:a16="http://schemas.microsoft.com/office/drawing/2014/main" id="{DE65A1B0-B45B-9D3E-90C2-CBE2C22847A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3043" y="6668733"/>
            <a:ext cx="682284" cy="703385"/>
          </a:xfrm>
          <a:prstGeom prst="rect">
            <a:avLst/>
          </a:prstGeom>
        </p:spPr>
      </p:pic>
      <p:pic>
        <p:nvPicPr>
          <p:cNvPr id="10" name="Graphic 9" descr="Harvey Balls 25% with solid fill">
            <a:extLst>
              <a:ext uri="{FF2B5EF4-FFF2-40B4-BE49-F238E27FC236}">
                <a16:creationId xmlns:a16="http://schemas.microsoft.com/office/drawing/2014/main" id="{E299CF99-BFDA-69F9-54CF-727DC35356F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86902" y="4974076"/>
            <a:ext cx="687422" cy="667967"/>
          </a:xfrm>
          <a:prstGeom prst="rect">
            <a:avLst/>
          </a:prstGeom>
        </p:spPr>
      </p:pic>
    </p:spTree>
    <p:extLst>
      <p:ext uri="{BB962C8B-B14F-4D97-AF65-F5344CB8AC3E}">
        <p14:creationId xmlns:p14="http://schemas.microsoft.com/office/powerpoint/2010/main" val="4933884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5A4D0-AE38-3F50-3C66-C39553042ED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938E298-F707-7BC2-BC08-7A58EDAD6D43}"/>
              </a:ext>
            </a:extLst>
          </p:cNvPr>
          <p:cNvSpPr/>
          <p:nvPr/>
        </p:nvSpPr>
        <p:spPr>
          <a:xfrm>
            <a:off x="3807023" y="2177653"/>
            <a:ext cx="7016234" cy="708779"/>
          </a:xfrm>
          <a:prstGeom prst="rect">
            <a:avLst/>
          </a:prstGeom>
          <a:noFill/>
          <a:ln/>
        </p:spPr>
        <p:txBody>
          <a:bodyPr wrap="none" lIns="0" tIns="0" rIns="0" bIns="0" rtlCol="0" anchor="t"/>
          <a:lstStyle/>
          <a:p>
            <a:pPr algn="ctr">
              <a:lnSpc>
                <a:spcPts val="5550"/>
              </a:lnSpc>
            </a:pPr>
            <a:r>
              <a:rPr lang="en-US" sz="4450" b="1">
                <a:solidFill>
                  <a:srgbClr val="282824"/>
                </a:solidFill>
                <a:latin typeface="Lato Bold"/>
                <a:ea typeface="Lato Bold"/>
                <a:cs typeface="Lato Bold"/>
              </a:rPr>
              <a:t> Challenges faced</a:t>
            </a:r>
            <a:endParaRPr lang="en-US" sz="4450">
              <a:latin typeface="Lato Bold"/>
              <a:ea typeface="Lato Bold"/>
              <a:cs typeface="Lato Bold"/>
            </a:endParaRPr>
          </a:p>
        </p:txBody>
      </p:sp>
      <p:sp>
        <p:nvSpPr>
          <p:cNvPr id="3" name="Text 1">
            <a:extLst>
              <a:ext uri="{FF2B5EF4-FFF2-40B4-BE49-F238E27FC236}">
                <a16:creationId xmlns:a16="http://schemas.microsoft.com/office/drawing/2014/main" id="{ADEEEEA7-E22E-0E59-D003-9A8B884EF363}"/>
              </a:ext>
            </a:extLst>
          </p:cNvPr>
          <p:cNvSpPr/>
          <p:nvPr/>
        </p:nvSpPr>
        <p:spPr>
          <a:xfrm>
            <a:off x="793790" y="3340060"/>
            <a:ext cx="13042821" cy="362903"/>
          </a:xfrm>
          <a:prstGeom prst="rect">
            <a:avLst/>
          </a:prstGeom>
          <a:noFill/>
          <a:ln/>
        </p:spPr>
        <p:txBody>
          <a:bodyPr wrap="none" lIns="0" tIns="0" rIns="0" bIns="0" rtlCol="0" anchor="t"/>
          <a:lstStyle/>
          <a:p>
            <a:pPr marL="0" indent="0" algn="l">
              <a:lnSpc>
                <a:spcPts val="2850"/>
              </a:lnSpc>
              <a:buNone/>
            </a:pPr>
            <a:endParaRPr lang="en-US" sz="1750"/>
          </a:p>
        </p:txBody>
      </p:sp>
      <p:sp>
        <p:nvSpPr>
          <p:cNvPr id="4" name="Shape 2">
            <a:extLst>
              <a:ext uri="{FF2B5EF4-FFF2-40B4-BE49-F238E27FC236}">
                <a16:creationId xmlns:a16="http://schemas.microsoft.com/office/drawing/2014/main" id="{262DA5CC-8954-04EB-2A9D-3278BA9950C5}"/>
              </a:ext>
            </a:extLst>
          </p:cNvPr>
          <p:cNvSpPr/>
          <p:nvPr/>
        </p:nvSpPr>
        <p:spPr>
          <a:xfrm>
            <a:off x="818174" y="3958114"/>
            <a:ext cx="4171974" cy="3520178"/>
          </a:xfrm>
          <a:prstGeom prst="roundRect">
            <a:avLst>
              <a:gd name="adj" fmla="val 6988"/>
            </a:avLst>
          </a:prstGeom>
          <a:solidFill>
            <a:srgbClr val="EFECE6"/>
          </a:solidFill>
          <a:ln w="30480">
            <a:solidFill>
              <a:srgbClr val="CBC5B8"/>
            </a:solidFill>
            <a:prstDash val="solid"/>
          </a:ln>
        </p:spPr>
      </p:sp>
      <p:sp>
        <p:nvSpPr>
          <p:cNvPr id="5" name="Shape 3">
            <a:extLst>
              <a:ext uri="{FF2B5EF4-FFF2-40B4-BE49-F238E27FC236}">
                <a16:creationId xmlns:a16="http://schemas.microsoft.com/office/drawing/2014/main" id="{D4F375C0-6A6C-80DF-6C22-8A86D61EE02E}"/>
              </a:ext>
            </a:extLst>
          </p:cNvPr>
          <p:cNvSpPr/>
          <p:nvPr/>
        </p:nvSpPr>
        <p:spPr>
          <a:xfrm>
            <a:off x="763310" y="3958114"/>
            <a:ext cx="121920" cy="2093714"/>
          </a:xfrm>
          <a:prstGeom prst="roundRect">
            <a:avLst>
              <a:gd name="adj" fmla="val 27907"/>
            </a:avLst>
          </a:prstGeom>
          <a:solidFill>
            <a:srgbClr val="282824"/>
          </a:solidFill>
          <a:ln/>
        </p:spPr>
      </p:sp>
      <p:sp>
        <p:nvSpPr>
          <p:cNvPr id="6" name="Text 4">
            <a:extLst>
              <a:ext uri="{FF2B5EF4-FFF2-40B4-BE49-F238E27FC236}">
                <a16:creationId xmlns:a16="http://schemas.microsoft.com/office/drawing/2014/main" id="{C44E1987-1F52-B8CF-EA4C-2AA012E5FC00}"/>
              </a:ext>
            </a:extLst>
          </p:cNvPr>
          <p:cNvSpPr/>
          <p:nvPr/>
        </p:nvSpPr>
        <p:spPr>
          <a:xfrm>
            <a:off x="1142524" y="4215408"/>
            <a:ext cx="3395067" cy="354330"/>
          </a:xfrm>
          <a:prstGeom prst="rect">
            <a:avLst/>
          </a:prstGeom>
          <a:noFill/>
          <a:ln/>
        </p:spPr>
        <p:txBody>
          <a:bodyPr wrap="none" lIns="0" tIns="0" rIns="0" bIns="0" rtlCol="0" anchor="t"/>
          <a:lstStyle/>
          <a:p>
            <a:pPr>
              <a:lnSpc>
                <a:spcPts val="2750"/>
              </a:lnSpc>
            </a:pPr>
            <a:r>
              <a:rPr lang="en-US" sz="2200" b="1">
                <a:solidFill>
                  <a:srgbClr val="4A4A45"/>
                </a:solidFill>
                <a:latin typeface="Lato Bold"/>
                <a:ea typeface="Lato Bold"/>
                <a:cs typeface="Lato Bold"/>
              </a:rPr>
              <a:t>Data Scraping</a:t>
            </a:r>
            <a:endParaRPr lang="en-US" sz="2200"/>
          </a:p>
        </p:txBody>
      </p:sp>
      <p:sp>
        <p:nvSpPr>
          <p:cNvPr id="7" name="Text 5">
            <a:extLst>
              <a:ext uri="{FF2B5EF4-FFF2-40B4-BE49-F238E27FC236}">
                <a16:creationId xmlns:a16="http://schemas.microsoft.com/office/drawing/2014/main" id="{E897DD00-B8AA-9E46-2512-C10863ABEF8F}"/>
              </a:ext>
            </a:extLst>
          </p:cNvPr>
          <p:cNvSpPr/>
          <p:nvPr/>
        </p:nvSpPr>
        <p:spPr>
          <a:xfrm>
            <a:off x="1142055" y="4394930"/>
            <a:ext cx="3395258" cy="1406638"/>
          </a:xfrm>
          <a:prstGeom prst="rect">
            <a:avLst/>
          </a:prstGeom>
          <a:noFill/>
          <a:ln/>
        </p:spPr>
        <p:txBody>
          <a:bodyPr wrap="square" lIns="0" tIns="0" rIns="0" bIns="0" rtlCol="0" anchor="t"/>
          <a:lstStyle/>
          <a:p>
            <a:pPr marL="285750" indent="-285750">
              <a:lnSpc>
                <a:spcPts val="2850"/>
              </a:lnSpc>
              <a:buFont typeface="Arial"/>
              <a:buChar char="•"/>
            </a:pPr>
            <a:endParaRPr lang="en-US" sz="1750">
              <a:latin typeface="Lato"/>
              <a:ea typeface="Lato"/>
              <a:cs typeface="Lato"/>
            </a:endParaRPr>
          </a:p>
          <a:p>
            <a:pPr marL="285750" indent="-285750">
              <a:lnSpc>
                <a:spcPts val="2850"/>
              </a:lnSpc>
              <a:buFont typeface="Arial"/>
              <a:buChar char="•"/>
            </a:pPr>
            <a:r>
              <a:rPr lang="en-US" sz="1750">
                <a:solidFill>
                  <a:srgbClr val="4A4A45"/>
                </a:solidFill>
                <a:latin typeface="Lato"/>
                <a:ea typeface="Lato"/>
                <a:cs typeface="Lato"/>
              </a:rPr>
              <a:t>Storage size of large data dumps from sources(</a:t>
            </a:r>
            <a:br>
              <a:rPr lang="en-US"/>
            </a:br>
            <a:r>
              <a:rPr lang="en-US">
                <a:solidFill>
                  <a:srgbClr val="4A4A45"/>
                </a:solidFill>
                <a:latin typeface="Lato"/>
                <a:ea typeface="Lato"/>
                <a:cs typeface="Lato"/>
              </a:rPr>
              <a:t>DBLP, </a:t>
            </a:r>
            <a:r>
              <a:rPr lang="en-US" err="1">
                <a:solidFill>
                  <a:srgbClr val="4A4A45"/>
                </a:solidFill>
                <a:latin typeface="Lato"/>
                <a:ea typeface="Lato"/>
                <a:cs typeface="Lato"/>
              </a:rPr>
              <a:t>Orcid</a:t>
            </a:r>
            <a:r>
              <a:rPr lang="en-US">
                <a:solidFill>
                  <a:srgbClr val="4A4A45"/>
                </a:solidFill>
                <a:latin typeface="Lato"/>
                <a:ea typeface="Lato"/>
                <a:cs typeface="Lato"/>
              </a:rPr>
              <a:t>, etc.</a:t>
            </a:r>
            <a:r>
              <a:rPr lang="en-US" sz="1750">
                <a:solidFill>
                  <a:srgbClr val="4A4A45"/>
                </a:solidFill>
                <a:latin typeface="Lato"/>
                <a:ea typeface="Lato"/>
                <a:cs typeface="Lato"/>
              </a:rPr>
              <a:t>) </a:t>
            </a:r>
          </a:p>
          <a:p>
            <a:pPr marL="285750" indent="-285750">
              <a:lnSpc>
                <a:spcPts val="2850"/>
              </a:lnSpc>
              <a:buFont typeface="Arial"/>
              <a:buChar char="•"/>
            </a:pPr>
            <a:r>
              <a:rPr lang="en-US" sz="1750">
                <a:solidFill>
                  <a:srgbClr val="4A4A45"/>
                </a:solidFill>
                <a:latin typeface="Lato"/>
                <a:ea typeface="Lato"/>
                <a:cs typeface="Lato"/>
              </a:rPr>
              <a:t>Complexity in aggregation (Schema mismatch)</a:t>
            </a:r>
          </a:p>
          <a:p>
            <a:pPr marL="285750" indent="-285750">
              <a:lnSpc>
                <a:spcPts val="2850"/>
              </a:lnSpc>
              <a:buFont typeface="Arial"/>
              <a:buChar char="•"/>
            </a:pPr>
            <a:r>
              <a:rPr lang="en-US" sz="1750">
                <a:solidFill>
                  <a:srgbClr val="4A4A45"/>
                </a:solidFill>
                <a:latin typeface="Lato"/>
                <a:ea typeface="Lato"/>
                <a:cs typeface="Lato"/>
              </a:rPr>
              <a:t>Redundant data</a:t>
            </a:r>
          </a:p>
        </p:txBody>
      </p:sp>
      <p:sp>
        <p:nvSpPr>
          <p:cNvPr id="8" name="Shape 6">
            <a:extLst>
              <a:ext uri="{FF2B5EF4-FFF2-40B4-BE49-F238E27FC236}">
                <a16:creationId xmlns:a16="http://schemas.microsoft.com/office/drawing/2014/main" id="{3986374F-6683-AB65-8876-30C51B340D77}"/>
              </a:ext>
            </a:extLst>
          </p:cNvPr>
          <p:cNvSpPr/>
          <p:nvPr/>
        </p:nvSpPr>
        <p:spPr>
          <a:xfrm>
            <a:off x="5203992" y="3958114"/>
            <a:ext cx="4209328" cy="3513952"/>
          </a:xfrm>
          <a:prstGeom prst="roundRect">
            <a:avLst>
              <a:gd name="adj" fmla="val 6988"/>
            </a:avLst>
          </a:prstGeom>
          <a:solidFill>
            <a:srgbClr val="EFECE6"/>
          </a:solidFill>
          <a:ln w="30480">
            <a:solidFill>
              <a:srgbClr val="CBC5B8"/>
            </a:solidFill>
            <a:prstDash val="solid"/>
          </a:ln>
        </p:spPr>
      </p:sp>
      <p:sp>
        <p:nvSpPr>
          <p:cNvPr id="9" name="Shape 7">
            <a:extLst>
              <a:ext uri="{FF2B5EF4-FFF2-40B4-BE49-F238E27FC236}">
                <a16:creationId xmlns:a16="http://schemas.microsoft.com/office/drawing/2014/main" id="{567E183C-89CE-B17D-284B-3E4440D3BDC5}"/>
              </a:ext>
            </a:extLst>
          </p:cNvPr>
          <p:cNvSpPr/>
          <p:nvPr/>
        </p:nvSpPr>
        <p:spPr>
          <a:xfrm>
            <a:off x="5186482" y="3958114"/>
            <a:ext cx="121920" cy="2093714"/>
          </a:xfrm>
          <a:prstGeom prst="roundRect">
            <a:avLst>
              <a:gd name="adj" fmla="val 27907"/>
            </a:avLst>
          </a:prstGeom>
          <a:solidFill>
            <a:srgbClr val="282824"/>
          </a:solidFill>
          <a:ln/>
        </p:spPr>
      </p:sp>
      <p:sp>
        <p:nvSpPr>
          <p:cNvPr id="10" name="Text 8">
            <a:extLst>
              <a:ext uri="{FF2B5EF4-FFF2-40B4-BE49-F238E27FC236}">
                <a16:creationId xmlns:a16="http://schemas.microsoft.com/office/drawing/2014/main" id="{B46DF4DC-B05E-348D-C8A1-667B4170E723}"/>
              </a:ext>
            </a:extLst>
          </p:cNvPr>
          <p:cNvSpPr/>
          <p:nvPr/>
        </p:nvSpPr>
        <p:spPr>
          <a:xfrm>
            <a:off x="5565696" y="4215408"/>
            <a:ext cx="3011091" cy="354330"/>
          </a:xfrm>
          <a:prstGeom prst="rect">
            <a:avLst/>
          </a:prstGeom>
          <a:noFill/>
          <a:ln/>
        </p:spPr>
        <p:txBody>
          <a:bodyPr wrap="none" lIns="0" tIns="0" rIns="0" bIns="0" rtlCol="0" anchor="t"/>
          <a:lstStyle/>
          <a:p>
            <a:pPr>
              <a:lnSpc>
                <a:spcPts val="2750"/>
              </a:lnSpc>
            </a:pPr>
            <a:r>
              <a:rPr lang="en-US" sz="2200" b="1">
                <a:solidFill>
                  <a:srgbClr val="4A4A45"/>
                </a:solidFill>
                <a:latin typeface="Lato Bold"/>
                <a:ea typeface="Lato Bold"/>
                <a:cs typeface="Lato Bold"/>
              </a:rPr>
              <a:t>Graph Display</a:t>
            </a:r>
            <a:endParaRPr lang="en-US" sz="2200"/>
          </a:p>
        </p:txBody>
      </p:sp>
      <p:sp>
        <p:nvSpPr>
          <p:cNvPr id="11" name="Text 9">
            <a:extLst>
              <a:ext uri="{FF2B5EF4-FFF2-40B4-BE49-F238E27FC236}">
                <a16:creationId xmlns:a16="http://schemas.microsoft.com/office/drawing/2014/main" id="{F0444279-E676-7917-962F-F6EC526391E8}"/>
              </a:ext>
            </a:extLst>
          </p:cNvPr>
          <p:cNvSpPr/>
          <p:nvPr/>
        </p:nvSpPr>
        <p:spPr>
          <a:xfrm>
            <a:off x="5466125" y="4718796"/>
            <a:ext cx="3702871" cy="1088708"/>
          </a:xfrm>
          <a:prstGeom prst="rect">
            <a:avLst/>
          </a:prstGeom>
          <a:noFill/>
          <a:ln/>
        </p:spPr>
        <p:txBody>
          <a:bodyPr wrap="square" lIns="0" tIns="0" rIns="0" bIns="0" rtlCol="0" anchor="t"/>
          <a:lstStyle/>
          <a:p>
            <a:pPr marL="285750" indent="-285750">
              <a:lnSpc>
                <a:spcPts val="2850"/>
              </a:lnSpc>
              <a:buFont typeface="Arial"/>
              <a:buChar char="•"/>
            </a:pPr>
            <a:r>
              <a:rPr lang="en-US" sz="1750">
                <a:latin typeface="Lato"/>
                <a:ea typeface="Lato"/>
                <a:cs typeface="Lato"/>
              </a:rPr>
              <a:t>Problem with flattening graph JSON response.</a:t>
            </a:r>
          </a:p>
          <a:p>
            <a:pPr marL="285750" indent="-285750">
              <a:lnSpc>
                <a:spcPts val="2850"/>
              </a:lnSpc>
              <a:buFont typeface="Arial"/>
              <a:buChar char="•"/>
            </a:pPr>
            <a:r>
              <a:rPr lang="en-US" sz="1750">
                <a:solidFill>
                  <a:srgbClr val="000000"/>
                </a:solidFill>
                <a:latin typeface="Lato"/>
                <a:ea typeface="Lato"/>
                <a:cs typeface="Lato"/>
              </a:rPr>
              <a:t>Getting recursive graph instead of 2 hop.</a:t>
            </a:r>
          </a:p>
          <a:p>
            <a:pPr marL="285750" indent="-285750">
              <a:lnSpc>
                <a:spcPts val="2850"/>
              </a:lnSpc>
              <a:buFont typeface="Arial"/>
              <a:buChar char="•"/>
            </a:pPr>
            <a:endParaRPr lang="en-US" sz="1750">
              <a:solidFill>
                <a:srgbClr val="4A4A45"/>
              </a:solidFill>
              <a:latin typeface="Lato"/>
              <a:ea typeface="Lato"/>
              <a:cs typeface="Lato"/>
            </a:endParaRPr>
          </a:p>
        </p:txBody>
      </p:sp>
      <p:sp>
        <p:nvSpPr>
          <p:cNvPr id="12" name="Shape 10">
            <a:extLst>
              <a:ext uri="{FF2B5EF4-FFF2-40B4-BE49-F238E27FC236}">
                <a16:creationId xmlns:a16="http://schemas.microsoft.com/office/drawing/2014/main" id="{3026CA8E-85E7-8A02-0CFA-A1AAE9294E26}"/>
              </a:ext>
            </a:extLst>
          </p:cNvPr>
          <p:cNvSpPr/>
          <p:nvPr/>
        </p:nvSpPr>
        <p:spPr>
          <a:xfrm>
            <a:off x="9627163" y="3958114"/>
            <a:ext cx="4209328" cy="3494496"/>
          </a:xfrm>
          <a:prstGeom prst="roundRect">
            <a:avLst>
              <a:gd name="adj" fmla="val 6988"/>
            </a:avLst>
          </a:prstGeom>
          <a:solidFill>
            <a:srgbClr val="EFECE6"/>
          </a:solidFill>
          <a:ln w="30480">
            <a:solidFill>
              <a:srgbClr val="CBC5B8"/>
            </a:solidFill>
            <a:prstDash val="solid"/>
          </a:ln>
        </p:spPr>
      </p:sp>
      <p:sp>
        <p:nvSpPr>
          <p:cNvPr id="13" name="Shape 11">
            <a:extLst>
              <a:ext uri="{FF2B5EF4-FFF2-40B4-BE49-F238E27FC236}">
                <a16:creationId xmlns:a16="http://schemas.microsoft.com/office/drawing/2014/main" id="{E70257DB-A99B-3D7C-2BA1-9EF40A548130}"/>
              </a:ext>
            </a:extLst>
          </p:cNvPr>
          <p:cNvSpPr/>
          <p:nvPr/>
        </p:nvSpPr>
        <p:spPr>
          <a:xfrm>
            <a:off x="9609653" y="3958114"/>
            <a:ext cx="121920" cy="2093714"/>
          </a:xfrm>
          <a:prstGeom prst="roundRect">
            <a:avLst>
              <a:gd name="adj" fmla="val 27907"/>
            </a:avLst>
          </a:prstGeom>
          <a:solidFill>
            <a:srgbClr val="282824"/>
          </a:solidFill>
          <a:ln/>
        </p:spPr>
      </p:sp>
      <p:sp>
        <p:nvSpPr>
          <p:cNvPr id="14" name="Text 12">
            <a:extLst>
              <a:ext uri="{FF2B5EF4-FFF2-40B4-BE49-F238E27FC236}">
                <a16:creationId xmlns:a16="http://schemas.microsoft.com/office/drawing/2014/main" id="{0B3E260E-4421-3612-208C-8F97D407EF79}"/>
              </a:ext>
            </a:extLst>
          </p:cNvPr>
          <p:cNvSpPr/>
          <p:nvPr/>
        </p:nvSpPr>
        <p:spPr>
          <a:xfrm>
            <a:off x="9988868" y="4215408"/>
            <a:ext cx="3013591" cy="354330"/>
          </a:xfrm>
          <a:prstGeom prst="rect">
            <a:avLst/>
          </a:prstGeom>
          <a:noFill/>
          <a:ln/>
        </p:spPr>
        <p:txBody>
          <a:bodyPr wrap="none" lIns="0" tIns="0" rIns="0" bIns="0" rtlCol="0" anchor="t"/>
          <a:lstStyle/>
          <a:p>
            <a:pPr>
              <a:lnSpc>
                <a:spcPts val="2750"/>
              </a:lnSpc>
            </a:pPr>
            <a:r>
              <a:rPr lang="en-US" sz="2200" b="1">
                <a:solidFill>
                  <a:srgbClr val="4A4A45"/>
                </a:solidFill>
                <a:latin typeface="Lato Bold"/>
                <a:ea typeface="Lato Bold"/>
                <a:cs typeface="Lato Bold"/>
              </a:rPr>
              <a:t>Summary </a:t>
            </a:r>
          </a:p>
        </p:txBody>
      </p:sp>
      <p:sp>
        <p:nvSpPr>
          <p:cNvPr id="15" name="Text 13">
            <a:extLst>
              <a:ext uri="{FF2B5EF4-FFF2-40B4-BE49-F238E27FC236}">
                <a16:creationId xmlns:a16="http://schemas.microsoft.com/office/drawing/2014/main" id="{ED373BDC-DA26-AD65-CF90-02D380C1D40F}"/>
              </a:ext>
            </a:extLst>
          </p:cNvPr>
          <p:cNvSpPr/>
          <p:nvPr/>
        </p:nvSpPr>
        <p:spPr>
          <a:xfrm>
            <a:off x="9988868" y="4705826"/>
            <a:ext cx="3693846" cy="725805"/>
          </a:xfrm>
          <a:prstGeom prst="rect">
            <a:avLst/>
          </a:prstGeom>
          <a:noFill/>
          <a:ln/>
        </p:spPr>
        <p:txBody>
          <a:bodyPr wrap="square" lIns="0" tIns="0" rIns="0" bIns="0" rtlCol="0" anchor="t"/>
          <a:lstStyle/>
          <a:p>
            <a:pPr marL="285750" indent="-285750">
              <a:lnSpc>
                <a:spcPts val="2850"/>
              </a:lnSpc>
              <a:buFont typeface="Arial,Sans-Serif"/>
              <a:buChar char="•"/>
            </a:pPr>
            <a:endParaRPr lang="en-US" sz="1750">
              <a:solidFill>
                <a:srgbClr val="000000"/>
              </a:solidFill>
              <a:latin typeface="Lato"/>
              <a:ea typeface="Lato"/>
              <a:cs typeface="Lato"/>
            </a:endParaRPr>
          </a:p>
          <a:p>
            <a:pPr>
              <a:lnSpc>
                <a:spcPts val="2850"/>
              </a:lnSpc>
            </a:pPr>
            <a:endParaRPr lang="en-US">
              <a:solidFill>
                <a:srgbClr val="000000"/>
              </a:solidFill>
              <a:latin typeface="Calibri"/>
              <a:ea typeface="Calibri"/>
              <a:cs typeface="Calibri"/>
            </a:endParaRPr>
          </a:p>
          <a:p>
            <a:pPr marL="285750" indent="-285750" algn="l">
              <a:lnSpc>
                <a:spcPts val="2850"/>
              </a:lnSpc>
              <a:buFont typeface="Arial,Sans-Serif"/>
              <a:buChar char="•"/>
            </a:pPr>
            <a:endParaRPr lang="en-US">
              <a:solidFill>
                <a:srgbClr val="000000"/>
              </a:solidFill>
              <a:latin typeface="Lato"/>
              <a:ea typeface="Lato"/>
              <a:cs typeface="Lato"/>
            </a:endParaRPr>
          </a:p>
          <a:p>
            <a:pPr marL="285750" indent="-285750">
              <a:lnSpc>
                <a:spcPts val="2850"/>
              </a:lnSpc>
              <a:buFont typeface="Arial,Sans-Serif"/>
              <a:buChar char="•"/>
            </a:pPr>
            <a:endParaRPr lang="en-US">
              <a:solidFill>
                <a:srgbClr val="000000"/>
              </a:solidFill>
              <a:latin typeface="Lato"/>
              <a:ea typeface="Lato"/>
              <a:cs typeface="Lato"/>
            </a:endParaRPr>
          </a:p>
          <a:p>
            <a:pPr>
              <a:lnSpc>
                <a:spcPts val="2850"/>
              </a:lnSpc>
            </a:pPr>
            <a:endParaRPr lang="en-US" sz="1750">
              <a:solidFill>
                <a:srgbClr val="4A4A45"/>
              </a:solidFill>
              <a:latin typeface="Lato"/>
              <a:ea typeface="Lato"/>
              <a:cs typeface="Lato"/>
            </a:endParaRPr>
          </a:p>
        </p:txBody>
      </p:sp>
      <p:sp>
        <p:nvSpPr>
          <p:cNvPr id="17" name="Rectangle 16">
            <a:extLst>
              <a:ext uri="{FF2B5EF4-FFF2-40B4-BE49-F238E27FC236}">
                <a16:creationId xmlns:a16="http://schemas.microsoft.com/office/drawing/2014/main" id="{934579A2-9A2A-77A8-10E9-A850D84820B6}"/>
              </a:ext>
            </a:extLst>
          </p:cNvPr>
          <p:cNvSpPr/>
          <p:nvPr/>
        </p:nvSpPr>
        <p:spPr>
          <a:xfrm>
            <a:off x="11251477" y="7145944"/>
            <a:ext cx="3462689" cy="108586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A9561738-94B8-D2A5-70AD-8702BFE4FF7E}"/>
              </a:ext>
            </a:extLst>
          </p:cNvPr>
          <p:cNvSpPr txBox="1"/>
          <p:nvPr/>
        </p:nvSpPr>
        <p:spPr>
          <a:xfrm>
            <a:off x="9851366" y="4718649"/>
            <a:ext cx="7315200" cy="25468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Sans-Serif"/>
              <a:buChar char="•"/>
            </a:pPr>
            <a:r>
              <a:rPr lang="en-US" sz="1750">
                <a:latin typeface="Lato"/>
                <a:cs typeface="Arial"/>
              </a:rPr>
              <a:t>Model sometimes hallucinate with </a:t>
            </a:r>
            <a:endParaRPr lang="en-US">
              <a:latin typeface="Calibri" panose="020F0502020204030204"/>
              <a:ea typeface="Calibri" panose="020F0502020204030204"/>
              <a:cs typeface="Calibri" panose="020F0502020204030204"/>
            </a:endParaRPr>
          </a:p>
          <a:p>
            <a:r>
              <a:rPr lang="en-US" sz="1750">
                <a:latin typeface="Lato"/>
                <a:cs typeface="Arial"/>
              </a:rPr>
              <a:t>author summary.​</a:t>
            </a:r>
          </a:p>
          <a:p>
            <a:endParaRPr lang="en-US" sz="1750">
              <a:latin typeface="Lato"/>
              <a:ea typeface="Lato"/>
              <a:cs typeface="Arial"/>
            </a:endParaRPr>
          </a:p>
          <a:p>
            <a:pPr marL="285750" indent="-285750">
              <a:buFont typeface="Arial,Sans-Serif"/>
              <a:buChar char="•"/>
            </a:pPr>
            <a:r>
              <a:rPr lang="en-US">
                <a:latin typeface="Lato"/>
                <a:ea typeface="Lato"/>
                <a:cs typeface="Lato"/>
              </a:rPr>
              <a:t>Even though Author affiliation</a:t>
            </a:r>
          </a:p>
          <a:p>
            <a:r>
              <a:rPr lang="en-US">
                <a:latin typeface="Lato"/>
                <a:ea typeface="Lato"/>
                <a:cs typeface="Lato"/>
              </a:rPr>
              <a:t> information is present model </a:t>
            </a:r>
          </a:p>
          <a:p>
            <a:r>
              <a:rPr lang="en-US">
                <a:latin typeface="Lato"/>
                <a:ea typeface="Lato"/>
                <a:cs typeface="Lato"/>
              </a:rPr>
              <a:t>sometimes miss that.</a:t>
            </a:r>
            <a:endParaRPr lang="en-US"/>
          </a:p>
          <a:p>
            <a:endParaRPr lang="en-US">
              <a:latin typeface="Lato"/>
              <a:ea typeface="Lato"/>
              <a:cs typeface="Lato"/>
            </a:endParaRPr>
          </a:p>
          <a:p>
            <a:endParaRPr lang="en-US" sz="1750">
              <a:latin typeface="Lato"/>
              <a:ea typeface="Lato"/>
              <a:cs typeface="Arial"/>
            </a:endParaRPr>
          </a:p>
          <a:p>
            <a:endParaRPr lang="en-US" sz="1750">
              <a:latin typeface="Lato"/>
              <a:ea typeface="Lato"/>
              <a:cs typeface="Arial"/>
            </a:endParaRPr>
          </a:p>
        </p:txBody>
      </p:sp>
    </p:spTree>
    <p:extLst>
      <p:ext uri="{BB962C8B-B14F-4D97-AF65-F5344CB8AC3E}">
        <p14:creationId xmlns:p14="http://schemas.microsoft.com/office/powerpoint/2010/main" val="20780574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A2B71-BCC1-BCE5-08EA-0EF8DE91BF3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EE73BD9-C348-4628-E7C2-EE296843F402}"/>
              </a:ext>
            </a:extLst>
          </p:cNvPr>
          <p:cNvSpPr/>
          <p:nvPr/>
        </p:nvSpPr>
        <p:spPr>
          <a:xfrm>
            <a:off x="2148343" y="1053784"/>
            <a:ext cx="9996368" cy="708779"/>
          </a:xfrm>
          <a:prstGeom prst="rect">
            <a:avLst/>
          </a:prstGeom>
          <a:noFill/>
          <a:ln/>
        </p:spPr>
        <p:txBody>
          <a:bodyPr wrap="none" lIns="0" tIns="0" rIns="0" bIns="0" rtlCol="0" anchor="t"/>
          <a:lstStyle/>
          <a:p>
            <a:pPr algn="ctr">
              <a:lnSpc>
                <a:spcPts val="5550"/>
              </a:lnSpc>
            </a:pPr>
            <a:r>
              <a:rPr lang="en-US" sz="4450" b="1">
                <a:solidFill>
                  <a:srgbClr val="282824"/>
                </a:solidFill>
                <a:latin typeface="Lato Bold"/>
                <a:ea typeface="Lato Bold"/>
                <a:cs typeface="Lato Bold"/>
              </a:rPr>
              <a:t>Future Timeline</a:t>
            </a:r>
          </a:p>
        </p:txBody>
      </p:sp>
      <p:sp>
        <p:nvSpPr>
          <p:cNvPr id="9" name="Text 7">
            <a:extLst>
              <a:ext uri="{FF2B5EF4-FFF2-40B4-BE49-F238E27FC236}">
                <a16:creationId xmlns:a16="http://schemas.microsoft.com/office/drawing/2014/main" id="{700FB882-0686-4CA5-918A-ABEC2E22E3B6}"/>
              </a:ext>
            </a:extLst>
          </p:cNvPr>
          <p:cNvSpPr/>
          <p:nvPr/>
        </p:nvSpPr>
        <p:spPr>
          <a:xfrm>
            <a:off x="5443776" y="4705826"/>
            <a:ext cx="3742730" cy="1088708"/>
          </a:xfrm>
          <a:prstGeom prst="rect">
            <a:avLst/>
          </a:prstGeom>
          <a:noFill/>
          <a:ln/>
        </p:spPr>
        <p:txBody>
          <a:bodyPr wrap="square" lIns="0" tIns="0" rIns="0" bIns="0" rtlCol="0" anchor="t"/>
          <a:lstStyle/>
          <a:p>
            <a:pPr marL="0" indent="0" algn="l">
              <a:lnSpc>
                <a:spcPts val="2850"/>
              </a:lnSpc>
              <a:buNone/>
            </a:pPr>
            <a:endParaRPr lang="en-US" sz="1750">
              <a:solidFill>
                <a:srgbClr val="4A4A45"/>
              </a:solidFill>
              <a:latin typeface="Lato"/>
              <a:ea typeface="Lato"/>
              <a:cs typeface="Lato"/>
            </a:endParaRPr>
          </a:p>
        </p:txBody>
      </p:sp>
      <p:sp>
        <p:nvSpPr>
          <p:cNvPr id="11" name="Text 9">
            <a:extLst>
              <a:ext uri="{FF2B5EF4-FFF2-40B4-BE49-F238E27FC236}">
                <a16:creationId xmlns:a16="http://schemas.microsoft.com/office/drawing/2014/main" id="{54BE0DD1-B89C-7DF4-A720-1AEFD2D6AB58}"/>
              </a:ext>
            </a:extLst>
          </p:cNvPr>
          <p:cNvSpPr/>
          <p:nvPr/>
        </p:nvSpPr>
        <p:spPr>
          <a:xfrm>
            <a:off x="9866948" y="4215408"/>
            <a:ext cx="2991445" cy="354330"/>
          </a:xfrm>
          <a:prstGeom prst="rect">
            <a:avLst/>
          </a:prstGeom>
          <a:noFill/>
          <a:ln/>
        </p:spPr>
        <p:txBody>
          <a:bodyPr wrap="none" lIns="0" tIns="0" rIns="0" bIns="0" rtlCol="0" anchor="t"/>
          <a:lstStyle/>
          <a:p>
            <a:pPr marL="0" indent="0" algn="l">
              <a:lnSpc>
                <a:spcPts val="2750"/>
              </a:lnSpc>
              <a:buNone/>
            </a:pPr>
            <a:endParaRPr lang="en-US" sz="2200" b="1">
              <a:solidFill>
                <a:srgbClr val="4A4A45"/>
              </a:solidFill>
              <a:latin typeface="Lato Bold"/>
              <a:ea typeface="Lato Bold"/>
              <a:cs typeface="Lato Bold"/>
            </a:endParaRPr>
          </a:p>
        </p:txBody>
      </p:sp>
      <p:sp>
        <p:nvSpPr>
          <p:cNvPr id="12" name="Text 10">
            <a:extLst>
              <a:ext uri="{FF2B5EF4-FFF2-40B4-BE49-F238E27FC236}">
                <a16:creationId xmlns:a16="http://schemas.microsoft.com/office/drawing/2014/main" id="{982D0159-E7CC-C666-AFB1-1B30762F970C}"/>
              </a:ext>
            </a:extLst>
          </p:cNvPr>
          <p:cNvSpPr/>
          <p:nvPr/>
        </p:nvSpPr>
        <p:spPr>
          <a:xfrm>
            <a:off x="9866948" y="4705826"/>
            <a:ext cx="3742730" cy="1088708"/>
          </a:xfrm>
          <a:prstGeom prst="rect">
            <a:avLst/>
          </a:prstGeom>
          <a:noFill/>
          <a:ln/>
        </p:spPr>
        <p:txBody>
          <a:bodyPr wrap="square" lIns="0" tIns="0" rIns="0" bIns="0" rtlCol="0" anchor="t"/>
          <a:lstStyle/>
          <a:p>
            <a:pPr marL="0" indent="0" algn="l">
              <a:lnSpc>
                <a:spcPts val="2850"/>
              </a:lnSpc>
              <a:buNone/>
            </a:pPr>
            <a:endParaRPr lang="en-US" sz="1750">
              <a:solidFill>
                <a:srgbClr val="4A4A45"/>
              </a:solidFill>
              <a:latin typeface="Lato"/>
              <a:ea typeface="Lato"/>
              <a:cs typeface="Lato"/>
            </a:endParaRPr>
          </a:p>
        </p:txBody>
      </p:sp>
      <p:sp>
        <p:nvSpPr>
          <p:cNvPr id="14" name="Rectangle 13">
            <a:extLst>
              <a:ext uri="{FF2B5EF4-FFF2-40B4-BE49-F238E27FC236}">
                <a16:creationId xmlns:a16="http://schemas.microsoft.com/office/drawing/2014/main" id="{58146CB7-73C0-BC55-FDD2-CDBA2D8BED82}"/>
              </a:ext>
            </a:extLst>
          </p:cNvPr>
          <p:cNvSpPr/>
          <p:nvPr/>
        </p:nvSpPr>
        <p:spPr>
          <a:xfrm>
            <a:off x="11251477" y="7145944"/>
            <a:ext cx="3462689" cy="108586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Diagram 2">
            <a:extLst>
              <a:ext uri="{FF2B5EF4-FFF2-40B4-BE49-F238E27FC236}">
                <a16:creationId xmlns:a16="http://schemas.microsoft.com/office/drawing/2014/main" id="{703E90A1-CC5E-65E9-2F11-7CB55A234D43}"/>
              </a:ext>
            </a:extLst>
          </p:cNvPr>
          <p:cNvGraphicFramePr/>
          <p:nvPr>
            <p:extLst>
              <p:ext uri="{D42A27DB-BD31-4B8C-83A1-F6EECF244321}">
                <p14:modId xmlns:p14="http://schemas.microsoft.com/office/powerpoint/2010/main" val="2635200600"/>
              </p:ext>
            </p:extLst>
          </p:nvPr>
        </p:nvGraphicFramePr>
        <p:xfrm>
          <a:off x="450166" y="2743200"/>
          <a:ext cx="6260122" cy="43328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955" name="Diagram 954">
            <a:extLst>
              <a:ext uri="{FF2B5EF4-FFF2-40B4-BE49-F238E27FC236}">
                <a16:creationId xmlns:a16="http://schemas.microsoft.com/office/drawing/2014/main" id="{119AE8CC-B124-842C-5A82-0FF08DEEAC22}"/>
              </a:ext>
            </a:extLst>
          </p:cNvPr>
          <p:cNvGraphicFramePr/>
          <p:nvPr>
            <p:extLst>
              <p:ext uri="{D42A27DB-BD31-4B8C-83A1-F6EECF244321}">
                <p14:modId xmlns:p14="http://schemas.microsoft.com/office/powerpoint/2010/main" val="3673072159"/>
              </p:ext>
            </p:extLst>
          </p:nvPr>
        </p:nvGraphicFramePr>
        <p:xfrm>
          <a:off x="7308164" y="2743200"/>
          <a:ext cx="5577840" cy="4290646"/>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cxnSp>
        <p:nvCxnSpPr>
          <p:cNvPr id="1796" name="Straight Arrow Connector 1795">
            <a:extLst>
              <a:ext uri="{FF2B5EF4-FFF2-40B4-BE49-F238E27FC236}">
                <a16:creationId xmlns:a16="http://schemas.microsoft.com/office/drawing/2014/main" id="{5259A213-12A1-40C6-E8D3-15C46229431C}"/>
              </a:ext>
            </a:extLst>
          </p:cNvPr>
          <p:cNvCxnSpPr/>
          <p:nvPr/>
        </p:nvCxnSpPr>
        <p:spPr>
          <a:xfrm flipV="1">
            <a:off x="611944" y="4888524"/>
            <a:ext cx="12238890" cy="56269"/>
          </a:xfrm>
          <a:prstGeom prst="straightConnector1">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8809372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D97FD8-111B-7D40-E40D-FD3CB991E87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9834FE5-6DAE-E712-C819-04475143DCEA}"/>
              </a:ext>
            </a:extLst>
          </p:cNvPr>
          <p:cNvSpPr/>
          <p:nvPr/>
        </p:nvSpPr>
        <p:spPr>
          <a:xfrm>
            <a:off x="3807023" y="2177653"/>
            <a:ext cx="7016234" cy="708779"/>
          </a:xfrm>
          <a:prstGeom prst="rect">
            <a:avLst/>
          </a:prstGeom>
          <a:noFill/>
          <a:ln/>
        </p:spPr>
        <p:txBody>
          <a:bodyPr wrap="none" lIns="0" tIns="0" rIns="0" bIns="0" rtlCol="0" anchor="t"/>
          <a:lstStyle/>
          <a:p>
            <a:pPr algn="ctr">
              <a:lnSpc>
                <a:spcPts val="5550"/>
              </a:lnSpc>
            </a:pPr>
            <a:r>
              <a:rPr lang="en-US" sz="4450" b="1">
                <a:solidFill>
                  <a:srgbClr val="282824"/>
                </a:solidFill>
                <a:latin typeface="Lato Bold"/>
                <a:ea typeface="Lato Bold"/>
                <a:cs typeface="Lato Bold"/>
              </a:rPr>
              <a:t> LLMs used </a:t>
            </a:r>
            <a:endParaRPr lang="en-US" sz="4450">
              <a:latin typeface="Lato Bold"/>
              <a:ea typeface="Lato Bold"/>
              <a:cs typeface="Lato Bold"/>
            </a:endParaRPr>
          </a:p>
        </p:txBody>
      </p:sp>
      <p:sp>
        <p:nvSpPr>
          <p:cNvPr id="3" name="Text 1">
            <a:extLst>
              <a:ext uri="{FF2B5EF4-FFF2-40B4-BE49-F238E27FC236}">
                <a16:creationId xmlns:a16="http://schemas.microsoft.com/office/drawing/2014/main" id="{34C8C0A5-87CE-7CA6-877A-6E400D3DA9DB}"/>
              </a:ext>
            </a:extLst>
          </p:cNvPr>
          <p:cNvSpPr/>
          <p:nvPr/>
        </p:nvSpPr>
        <p:spPr>
          <a:xfrm>
            <a:off x="793790" y="3340060"/>
            <a:ext cx="13042821" cy="362903"/>
          </a:xfrm>
          <a:prstGeom prst="rect">
            <a:avLst/>
          </a:prstGeom>
          <a:noFill/>
          <a:ln/>
        </p:spPr>
        <p:txBody>
          <a:bodyPr wrap="none" lIns="0" tIns="0" rIns="0" bIns="0" rtlCol="0" anchor="t"/>
          <a:lstStyle/>
          <a:p>
            <a:pPr marL="0" indent="0" algn="l">
              <a:lnSpc>
                <a:spcPts val="2850"/>
              </a:lnSpc>
              <a:buNone/>
            </a:pPr>
            <a:endParaRPr lang="en-US" sz="1750"/>
          </a:p>
        </p:txBody>
      </p:sp>
      <p:sp>
        <p:nvSpPr>
          <p:cNvPr id="4" name="Shape 2">
            <a:extLst>
              <a:ext uri="{FF2B5EF4-FFF2-40B4-BE49-F238E27FC236}">
                <a16:creationId xmlns:a16="http://schemas.microsoft.com/office/drawing/2014/main" id="{5B39D1D8-1CEE-5202-8749-BFEB7B0F98B8}"/>
              </a:ext>
            </a:extLst>
          </p:cNvPr>
          <p:cNvSpPr/>
          <p:nvPr/>
        </p:nvSpPr>
        <p:spPr>
          <a:xfrm>
            <a:off x="793790" y="3958114"/>
            <a:ext cx="4196358" cy="2093714"/>
          </a:xfrm>
          <a:prstGeom prst="roundRect">
            <a:avLst>
              <a:gd name="adj" fmla="val 6988"/>
            </a:avLst>
          </a:prstGeom>
          <a:solidFill>
            <a:srgbClr val="EFECE6"/>
          </a:solidFill>
          <a:ln w="30480">
            <a:solidFill>
              <a:srgbClr val="CBC5B8"/>
            </a:solidFill>
            <a:prstDash val="solid"/>
          </a:ln>
        </p:spPr>
      </p:sp>
      <p:sp>
        <p:nvSpPr>
          <p:cNvPr id="5" name="Shape 3">
            <a:extLst>
              <a:ext uri="{FF2B5EF4-FFF2-40B4-BE49-F238E27FC236}">
                <a16:creationId xmlns:a16="http://schemas.microsoft.com/office/drawing/2014/main" id="{B33FADC1-4A74-CA55-67E1-A1AB6585392C}"/>
              </a:ext>
            </a:extLst>
          </p:cNvPr>
          <p:cNvSpPr/>
          <p:nvPr/>
        </p:nvSpPr>
        <p:spPr>
          <a:xfrm>
            <a:off x="763310" y="3958114"/>
            <a:ext cx="121920" cy="2093714"/>
          </a:xfrm>
          <a:prstGeom prst="roundRect">
            <a:avLst>
              <a:gd name="adj" fmla="val 27907"/>
            </a:avLst>
          </a:prstGeom>
          <a:solidFill>
            <a:srgbClr val="282824"/>
          </a:solidFill>
          <a:ln/>
        </p:spPr>
      </p:sp>
      <p:sp>
        <p:nvSpPr>
          <p:cNvPr id="6" name="Text 4">
            <a:extLst>
              <a:ext uri="{FF2B5EF4-FFF2-40B4-BE49-F238E27FC236}">
                <a16:creationId xmlns:a16="http://schemas.microsoft.com/office/drawing/2014/main" id="{65AA4C35-D8DD-355E-56B0-D04B47D2EE6D}"/>
              </a:ext>
            </a:extLst>
          </p:cNvPr>
          <p:cNvSpPr/>
          <p:nvPr/>
        </p:nvSpPr>
        <p:spPr>
          <a:xfrm>
            <a:off x="1142524" y="4215408"/>
            <a:ext cx="3395067" cy="354330"/>
          </a:xfrm>
          <a:prstGeom prst="rect">
            <a:avLst/>
          </a:prstGeom>
          <a:noFill/>
          <a:ln/>
        </p:spPr>
        <p:txBody>
          <a:bodyPr wrap="none" lIns="0" tIns="0" rIns="0" bIns="0" rtlCol="0" anchor="t"/>
          <a:lstStyle/>
          <a:p>
            <a:pPr>
              <a:lnSpc>
                <a:spcPts val="2750"/>
              </a:lnSpc>
            </a:pPr>
            <a:r>
              <a:rPr lang="en-US" sz="2200" b="1">
                <a:solidFill>
                  <a:srgbClr val="4A4A45"/>
                </a:solidFill>
                <a:latin typeface="Lato Bold"/>
                <a:ea typeface="Lato Bold"/>
                <a:cs typeface="Lato Bold"/>
              </a:rPr>
              <a:t>GPT 5 </a:t>
            </a:r>
            <a:endParaRPr lang="en-US" sz="2200"/>
          </a:p>
        </p:txBody>
      </p:sp>
      <p:sp>
        <p:nvSpPr>
          <p:cNvPr id="7" name="Text 5">
            <a:extLst>
              <a:ext uri="{FF2B5EF4-FFF2-40B4-BE49-F238E27FC236}">
                <a16:creationId xmlns:a16="http://schemas.microsoft.com/office/drawing/2014/main" id="{ED213D97-5063-3F80-64C6-C2D93C50F584}"/>
              </a:ext>
            </a:extLst>
          </p:cNvPr>
          <p:cNvSpPr/>
          <p:nvPr/>
        </p:nvSpPr>
        <p:spPr>
          <a:xfrm>
            <a:off x="1142524" y="4705826"/>
            <a:ext cx="3590330" cy="1088708"/>
          </a:xfrm>
          <a:prstGeom prst="rect">
            <a:avLst/>
          </a:prstGeom>
          <a:noFill/>
          <a:ln/>
        </p:spPr>
        <p:txBody>
          <a:bodyPr wrap="square" lIns="0" tIns="0" rIns="0" bIns="0" rtlCol="0" anchor="t"/>
          <a:lstStyle/>
          <a:p>
            <a:pPr marL="285750" indent="-285750">
              <a:lnSpc>
                <a:spcPts val="2850"/>
              </a:lnSpc>
              <a:buFont typeface="Arial"/>
              <a:buChar char="•"/>
            </a:pPr>
            <a:r>
              <a:rPr lang="en-US" sz="1750">
                <a:latin typeface="Lato"/>
                <a:ea typeface="Lato"/>
                <a:cs typeface="Lato"/>
              </a:rPr>
              <a:t>Context window is limited</a:t>
            </a:r>
            <a:endParaRPr lang="en-US">
              <a:latin typeface="Calibri" panose="020F0502020204030204"/>
              <a:ea typeface="Calibri" panose="020F0502020204030204"/>
              <a:cs typeface="Calibri" panose="020F0502020204030204"/>
            </a:endParaRPr>
          </a:p>
          <a:p>
            <a:pPr marL="285750" indent="-285750">
              <a:lnSpc>
                <a:spcPts val="2850"/>
              </a:lnSpc>
              <a:buFont typeface="Arial"/>
              <a:buChar char="•"/>
            </a:pPr>
            <a:r>
              <a:rPr lang="en-US" sz="1750">
                <a:latin typeface="Lato"/>
                <a:ea typeface="Lato"/>
                <a:cs typeface="Lato"/>
              </a:rPr>
              <a:t>Good for code chunk generation and provide ideas.</a:t>
            </a:r>
            <a:endParaRPr lang="en-US">
              <a:latin typeface="Calibri" panose="020F0502020204030204"/>
              <a:ea typeface="Calibri" panose="020F0502020204030204"/>
              <a:cs typeface="Calibri" panose="020F0502020204030204"/>
            </a:endParaRPr>
          </a:p>
          <a:p>
            <a:pPr>
              <a:lnSpc>
                <a:spcPts val="2850"/>
              </a:lnSpc>
            </a:pPr>
            <a:endParaRPr lang="en-US" sz="1750">
              <a:solidFill>
                <a:srgbClr val="4A4A45"/>
              </a:solidFill>
              <a:latin typeface="Lato"/>
              <a:ea typeface="Lato"/>
              <a:cs typeface="Lato"/>
            </a:endParaRPr>
          </a:p>
        </p:txBody>
      </p:sp>
      <p:sp>
        <p:nvSpPr>
          <p:cNvPr id="8" name="Shape 6">
            <a:extLst>
              <a:ext uri="{FF2B5EF4-FFF2-40B4-BE49-F238E27FC236}">
                <a16:creationId xmlns:a16="http://schemas.microsoft.com/office/drawing/2014/main" id="{822203FA-A10B-B589-F7FD-FDE32A8A413E}"/>
              </a:ext>
            </a:extLst>
          </p:cNvPr>
          <p:cNvSpPr/>
          <p:nvPr/>
        </p:nvSpPr>
        <p:spPr>
          <a:xfrm>
            <a:off x="5216962" y="3958114"/>
            <a:ext cx="4196358" cy="2093714"/>
          </a:xfrm>
          <a:prstGeom prst="roundRect">
            <a:avLst>
              <a:gd name="adj" fmla="val 6988"/>
            </a:avLst>
          </a:prstGeom>
          <a:solidFill>
            <a:srgbClr val="EFECE6"/>
          </a:solidFill>
          <a:ln w="30480">
            <a:solidFill>
              <a:srgbClr val="CBC5B8"/>
            </a:solidFill>
            <a:prstDash val="solid"/>
          </a:ln>
        </p:spPr>
      </p:sp>
      <p:sp>
        <p:nvSpPr>
          <p:cNvPr id="9" name="Shape 7">
            <a:extLst>
              <a:ext uri="{FF2B5EF4-FFF2-40B4-BE49-F238E27FC236}">
                <a16:creationId xmlns:a16="http://schemas.microsoft.com/office/drawing/2014/main" id="{8A3FF904-3907-BD6D-EAD7-BE04E2E14375}"/>
              </a:ext>
            </a:extLst>
          </p:cNvPr>
          <p:cNvSpPr/>
          <p:nvPr/>
        </p:nvSpPr>
        <p:spPr>
          <a:xfrm>
            <a:off x="5186482" y="3958114"/>
            <a:ext cx="121920" cy="2093714"/>
          </a:xfrm>
          <a:prstGeom prst="roundRect">
            <a:avLst>
              <a:gd name="adj" fmla="val 27907"/>
            </a:avLst>
          </a:prstGeom>
          <a:solidFill>
            <a:srgbClr val="282824"/>
          </a:solidFill>
          <a:ln/>
        </p:spPr>
      </p:sp>
      <p:sp>
        <p:nvSpPr>
          <p:cNvPr id="10" name="Text 8">
            <a:extLst>
              <a:ext uri="{FF2B5EF4-FFF2-40B4-BE49-F238E27FC236}">
                <a16:creationId xmlns:a16="http://schemas.microsoft.com/office/drawing/2014/main" id="{86DA6B5D-89E9-AA78-B104-1F724CDF6AC6}"/>
              </a:ext>
            </a:extLst>
          </p:cNvPr>
          <p:cNvSpPr/>
          <p:nvPr/>
        </p:nvSpPr>
        <p:spPr>
          <a:xfrm>
            <a:off x="5565696" y="4215408"/>
            <a:ext cx="3011091" cy="354330"/>
          </a:xfrm>
          <a:prstGeom prst="rect">
            <a:avLst/>
          </a:prstGeom>
          <a:noFill/>
          <a:ln/>
        </p:spPr>
        <p:txBody>
          <a:bodyPr wrap="none" lIns="0" tIns="0" rIns="0" bIns="0" rtlCol="0" anchor="t"/>
          <a:lstStyle/>
          <a:p>
            <a:pPr>
              <a:lnSpc>
                <a:spcPts val="2750"/>
              </a:lnSpc>
            </a:pPr>
            <a:r>
              <a:rPr lang="en-US" sz="2200" b="1">
                <a:solidFill>
                  <a:srgbClr val="4A4A45"/>
                </a:solidFill>
                <a:latin typeface="Lato Bold"/>
                <a:ea typeface="Lato Bold"/>
                <a:cs typeface="Lato Bold"/>
              </a:rPr>
              <a:t>Gemini 2.5</a:t>
            </a:r>
            <a:endParaRPr lang="en-US" sz="2200"/>
          </a:p>
        </p:txBody>
      </p:sp>
      <p:sp>
        <p:nvSpPr>
          <p:cNvPr id="11" name="Text 9">
            <a:extLst>
              <a:ext uri="{FF2B5EF4-FFF2-40B4-BE49-F238E27FC236}">
                <a16:creationId xmlns:a16="http://schemas.microsoft.com/office/drawing/2014/main" id="{4021B50E-269D-4140-5008-3B9959760B10}"/>
              </a:ext>
            </a:extLst>
          </p:cNvPr>
          <p:cNvSpPr/>
          <p:nvPr/>
        </p:nvSpPr>
        <p:spPr>
          <a:xfrm>
            <a:off x="5453155" y="4705826"/>
            <a:ext cx="3702871" cy="1088708"/>
          </a:xfrm>
          <a:prstGeom prst="rect">
            <a:avLst/>
          </a:prstGeom>
          <a:noFill/>
          <a:ln/>
        </p:spPr>
        <p:txBody>
          <a:bodyPr wrap="square" lIns="0" tIns="0" rIns="0" bIns="0" rtlCol="0" anchor="t"/>
          <a:lstStyle/>
          <a:p>
            <a:pPr marL="285750" indent="-285750">
              <a:lnSpc>
                <a:spcPts val="2850"/>
              </a:lnSpc>
              <a:buFont typeface="Arial"/>
              <a:buChar char="•"/>
            </a:pPr>
            <a:r>
              <a:rPr lang="en-US" sz="1750">
                <a:latin typeface="Lato"/>
                <a:ea typeface="Lato"/>
                <a:cs typeface="Lato"/>
              </a:rPr>
              <a:t>Fails to capture complete context</a:t>
            </a:r>
          </a:p>
          <a:p>
            <a:pPr marL="285750" indent="-285750">
              <a:lnSpc>
                <a:spcPts val="2850"/>
              </a:lnSpc>
              <a:buFont typeface="Arial"/>
              <a:buChar char="•"/>
            </a:pPr>
            <a:r>
              <a:rPr lang="en-US">
                <a:ea typeface="+mn-lt"/>
                <a:cs typeface="+mn-lt"/>
              </a:rPr>
              <a:t>Overly generic &amp; redundant response</a:t>
            </a:r>
            <a:endParaRPr lang="en-US"/>
          </a:p>
          <a:p>
            <a:pPr marL="285750" indent="-285750">
              <a:lnSpc>
                <a:spcPts val="2850"/>
              </a:lnSpc>
              <a:buFont typeface="Arial"/>
              <a:buChar char="•"/>
            </a:pPr>
            <a:endParaRPr lang="en-US" sz="1750">
              <a:solidFill>
                <a:srgbClr val="4A4A45"/>
              </a:solidFill>
              <a:latin typeface="Lato"/>
              <a:ea typeface="Lato"/>
              <a:cs typeface="Lato"/>
            </a:endParaRPr>
          </a:p>
        </p:txBody>
      </p:sp>
      <p:sp>
        <p:nvSpPr>
          <p:cNvPr id="12" name="Shape 10">
            <a:extLst>
              <a:ext uri="{FF2B5EF4-FFF2-40B4-BE49-F238E27FC236}">
                <a16:creationId xmlns:a16="http://schemas.microsoft.com/office/drawing/2014/main" id="{57B21C7D-E669-66D9-D7F6-2BB829F81FA0}"/>
              </a:ext>
            </a:extLst>
          </p:cNvPr>
          <p:cNvSpPr/>
          <p:nvPr/>
        </p:nvSpPr>
        <p:spPr>
          <a:xfrm>
            <a:off x="9640133" y="3958114"/>
            <a:ext cx="4196358" cy="2093714"/>
          </a:xfrm>
          <a:prstGeom prst="roundRect">
            <a:avLst>
              <a:gd name="adj" fmla="val 6988"/>
            </a:avLst>
          </a:prstGeom>
          <a:solidFill>
            <a:srgbClr val="EFECE6"/>
          </a:solidFill>
          <a:ln w="30480">
            <a:solidFill>
              <a:srgbClr val="CBC5B8"/>
            </a:solidFill>
            <a:prstDash val="solid"/>
          </a:ln>
        </p:spPr>
      </p:sp>
      <p:sp>
        <p:nvSpPr>
          <p:cNvPr id="13" name="Shape 11">
            <a:extLst>
              <a:ext uri="{FF2B5EF4-FFF2-40B4-BE49-F238E27FC236}">
                <a16:creationId xmlns:a16="http://schemas.microsoft.com/office/drawing/2014/main" id="{5701F6C5-3347-BB40-787F-7AF18878EB4C}"/>
              </a:ext>
            </a:extLst>
          </p:cNvPr>
          <p:cNvSpPr/>
          <p:nvPr/>
        </p:nvSpPr>
        <p:spPr>
          <a:xfrm>
            <a:off x="9609653" y="3958114"/>
            <a:ext cx="121920" cy="2093714"/>
          </a:xfrm>
          <a:prstGeom prst="roundRect">
            <a:avLst>
              <a:gd name="adj" fmla="val 27907"/>
            </a:avLst>
          </a:prstGeom>
          <a:solidFill>
            <a:srgbClr val="282824"/>
          </a:solidFill>
          <a:ln/>
        </p:spPr>
      </p:sp>
      <p:sp>
        <p:nvSpPr>
          <p:cNvPr id="14" name="Text 12">
            <a:extLst>
              <a:ext uri="{FF2B5EF4-FFF2-40B4-BE49-F238E27FC236}">
                <a16:creationId xmlns:a16="http://schemas.microsoft.com/office/drawing/2014/main" id="{01FB6D81-BF7E-2F38-25FD-F2793E75CA44}"/>
              </a:ext>
            </a:extLst>
          </p:cNvPr>
          <p:cNvSpPr/>
          <p:nvPr/>
        </p:nvSpPr>
        <p:spPr>
          <a:xfrm>
            <a:off x="9971615" y="4111891"/>
            <a:ext cx="3013591" cy="354330"/>
          </a:xfrm>
          <a:prstGeom prst="rect">
            <a:avLst/>
          </a:prstGeom>
          <a:noFill/>
          <a:ln/>
        </p:spPr>
        <p:txBody>
          <a:bodyPr wrap="none" lIns="0" tIns="0" rIns="0" bIns="0" rtlCol="0" anchor="t"/>
          <a:lstStyle/>
          <a:p>
            <a:pPr marL="0" indent="0" algn="l">
              <a:lnSpc>
                <a:spcPts val="2750"/>
              </a:lnSpc>
              <a:buNone/>
            </a:pPr>
            <a:r>
              <a:rPr lang="en-US" sz="2200" b="1">
                <a:solidFill>
                  <a:srgbClr val="4A4A45"/>
                </a:solidFill>
                <a:latin typeface="Lato Bold"/>
                <a:ea typeface="Lato Bold"/>
                <a:cs typeface="Lato Bold"/>
              </a:rPr>
              <a:t>Claude</a:t>
            </a:r>
          </a:p>
        </p:txBody>
      </p:sp>
      <p:sp>
        <p:nvSpPr>
          <p:cNvPr id="15" name="Text 13">
            <a:extLst>
              <a:ext uri="{FF2B5EF4-FFF2-40B4-BE49-F238E27FC236}">
                <a16:creationId xmlns:a16="http://schemas.microsoft.com/office/drawing/2014/main" id="{2FBFAE7B-A541-78A3-FF7C-5DDF02E1E409}"/>
              </a:ext>
            </a:extLst>
          </p:cNvPr>
          <p:cNvSpPr/>
          <p:nvPr/>
        </p:nvSpPr>
        <p:spPr>
          <a:xfrm>
            <a:off x="9988868" y="4567803"/>
            <a:ext cx="3693846" cy="725805"/>
          </a:xfrm>
          <a:prstGeom prst="rect">
            <a:avLst/>
          </a:prstGeom>
          <a:noFill/>
          <a:ln/>
        </p:spPr>
        <p:txBody>
          <a:bodyPr wrap="square" lIns="0" tIns="0" rIns="0" bIns="0" rtlCol="0" anchor="t"/>
          <a:lstStyle/>
          <a:p>
            <a:pPr marL="285750" indent="-285750">
              <a:lnSpc>
                <a:spcPts val="2850"/>
              </a:lnSpc>
              <a:buFont typeface="Arial,Sans-Serif"/>
              <a:buChar char="•"/>
            </a:pPr>
            <a:r>
              <a:rPr lang="en-US" sz="1750">
                <a:solidFill>
                  <a:srgbClr val="000000"/>
                </a:solidFill>
                <a:latin typeface="Lato"/>
                <a:ea typeface="Lato"/>
                <a:cs typeface="Lato"/>
              </a:rPr>
              <a:t>Good for code debugging ( Claude Sonnet 4.5)</a:t>
            </a:r>
          </a:p>
          <a:p>
            <a:pPr marL="285750" indent="-285750">
              <a:lnSpc>
                <a:spcPts val="2850"/>
              </a:lnSpc>
              <a:buFont typeface="Arial,Sans-Serif"/>
              <a:buChar char="•"/>
            </a:pPr>
            <a:r>
              <a:rPr lang="en-US">
                <a:solidFill>
                  <a:srgbClr val="000000"/>
                </a:solidFill>
                <a:latin typeface="Calibri"/>
                <a:ea typeface="Calibri"/>
                <a:cs typeface="Calibri"/>
              </a:rPr>
              <a:t>Performance degrades as context length increases</a:t>
            </a:r>
          </a:p>
          <a:p>
            <a:pPr marL="285750" indent="-285750" algn="l">
              <a:lnSpc>
                <a:spcPts val="2850"/>
              </a:lnSpc>
              <a:buFont typeface="Arial,Sans-Serif"/>
              <a:buChar char="•"/>
            </a:pPr>
            <a:endParaRPr lang="en-US">
              <a:solidFill>
                <a:srgbClr val="000000"/>
              </a:solidFill>
              <a:latin typeface="Lato"/>
              <a:ea typeface="Lato"/>
              <a:cs typeface="Lato"/>
            </a:endParaRPr>
          </a:p>
          <a:p>
            <a:pPr marL="285750" indent="-285750">
              <a:lnSpc>
                <a:spcPts val="2850"/>
              </a:lnSpc>
              <a:buFont typeface="Arial,Sans-Serif"/>
              <a:buChar char="•"/>
            </a:pPr>
            <a:endParaRPr lang="en-US">
              <a:solidFill>
                <a:srgbClr val="000000"/>
              </a:solidFill>
              <a:latin typeface="Lato"/>
              <a:ea typeface="Lato"/>
              <a:cs typeface="Lato"/>
            </a:endParaRPr>
          </a:p>
          <a:p>
            <a:pPr>
              <a:lnSpc>
                <a:spcPts val="2850"/>
              </a:lnSpc>
            </a:pPr>
            <a:endParaRPr lang="en-US" sz="1750">
              <a:solidFill>
                <a:srgbClr val="4A4A45"/>
              </a:solidFill>
              <a:latin typeface="Lato"/>
              <a:ea typeface="Lato"/>
              <a:cs typeface="Lato"/>
            </a:endParaRPr>
          </a:p>
        </p:txBody>
      </p:sp>
      <p:sp>
        <p:nvSpPr>
          <p:cNvPr id="17" name="Rectangle 16">
            <a:extLst>
              <a:ext uri="{FF2B5EF4-FFF2-40B4-BE49-F238E27FC236}">
                <a16:creationId xmlns:a16="http://schemas.microsoft.com/office/drawing/2014/main" id="{28795E7C-A791-FED8-29BC-F6B5E3D0AB7E}"/>
              </a:ext>
            </a:extLst>
          </p:cNvPr>
          <p:cNvSpPr/>
          <p:nvPr/>
        </p:nvSpPr>
        <p:spPr>
          <a:xfrm>
            <a:off x="11251477" y="7145944"/>
            <a:ext cx="3462689" cy="108586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80762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ACF67-F056-642F-B9C7-6501C3D406D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27780AA-3115-40B8-4326-79D7D62B47EF}"/>
              </a:ext>
            </a:extLst>
          </p:cNvPr>
          <p:cNvSpPr/>
          <p:nvPr/>
        </p:nvSpPr>
        <p:spPr>
          <a:xfrm>
            <a:off x="793790" y="2643307"/>
            <a:ext cx="13042821" cy="2126456"/>
          </a:xfrm>
          <a:prstGeom prst="rect">
            <a:avLst/>
          </a:prstGeom>
          <a:noFill/>
          <a:ln/>
        </p:spPr>
        <p:txBody>
          <a:bodyPr wrap="none" lIns="0" tIns="0" rIns="0" bIns="0" rtlCol="0" anchor="t"/>
          <a:lstStyle/>
          <a:p>
            <a:pPr marL="0" indent="0" algn="ctr">
              <a:lnSpc>
                <a:spcPts val="16700"/>
              </a:lnSpc>
              <a:buNone/>
            </a:pPr>
            <a:r>
              <a:rPr lang="en-US" sz="13350" b="1">
                <a:solidFill>
                  <a:srgbClr val="282824"/>
                </a:solidFill>
                <a:latin typeface="Lato Bold" pitchFamily="34" charset="0"/>
                <a:ea typeface="Lato Bold" pitchFamily="34" charset="-122"/>
                <a:cs typeface="Lato Bold" pitchFamily="34" charset="-120"/>
              </a:rPr>
              <a:t>Thank You!</a:t>
            </a:r>
            <a:endParaRPr lang="en-US" sz="13350"/>
          </a:p>
        </p:txBody>
      </p:sp>
      <p:sp>
        <p:nvSpPr>
          <p:cNvPr id="3" name="Text 1">
            <a:extLst>
              <a:ext uri="{FF2B5EF4-FFF2-40B4-BE49-F238E27FC236}">
                <a16:creationId xmlns:a16="http://schemas.microsoft.com/office/drawing/2014/main" id="{F6E54C52-22B6-EE30-00A4-0897CD504945}"/>
              </a:ext>
            </a:extLst>
          </p:cNvPr>
          <p:cNvSpPr/>
          <p:nvPr/>
        </p:nvSpPr>
        <p:spPr>
          <a:xfrm>
            <a:off x="793790" y="5223391"/>
            <a:ext cx="13042821" cy="362903"/>
          </a:xfrm>
          <a:prstGeom prst="rect">
            <a:avLst/>
          </a:prstGeom>
          <a:noFill/>
          <a:ln/>
        </p:spPr>
        <p:txBody>
          <a:bodyPr wrap="none" lIns="0" tIns="0" rIns="0" bIns="0" rtlCol="0" anchor="t"/>
          <a:lstStyle/>
          <a:p>
            <a:pPr marL="0" indent="0" algn="ctr">
              <a:lnSpc>
                <a:spcPts val="2850"/>
              </a:lnSpc>
              <a:buNone/>
            </a:pPr>
            <a:endParaRPr lang="en-US" sz="1750"/>
          </a:p>
        </p:txBody>
      </p:sp>
      <p:sp>
        <p:nvSpPr>
          <p:cNvPr id="5" name="Rectangle 4">
            <a:extLst>
              <a:ext uri="{FF2B5EF4-FFF2-40B4-BE49-F238E27FC236}">
                <a16:creationId xmlns:a16="http://schemas.microsoft.com/office/drawing/2014/main" id="{4ADB69CC-F54D-0661-2CEA-62119D07E27A}"/>
              </a:ext>
            </a:extLst>
          </p:cNvPr>
          <p:cNvSpPr/>
          <p:nvPr/>
        </p:nvSpPr>
        <p:spPr>
          <a:xfrm>
            <a:off x="11251477" y="7145944"/>
            <a:ext cx="3462689" cy="108586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440069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24</Slides>
  <Notes>23</Notes>
  <HiddenSlides>0</HiddenSlide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revision>36</cp:revision>
  <dcterms:created xsi:type="dcterms:W3CDTF">2025-09-12T14:34:32Z</dcterms:created>
  <dcterms:modified xsi:type="dcterms:W3CDTF">2025-10-10T08:55:50Z</dcterms:modified>
</cp:coreProperties>
</file>